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7188"/>
            <a:ext cx="9144000" cy="3464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7188"/>
            <a:ext cx="85725" cy="346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57188"/>
            <a:ext cx="9144000" cy="346472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 ключевых направления аналитики для лидера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060847"/>
            <a:ext cx="4071938" cy="1969889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060847"/>
            <a:ext cx="4071938" cy="3393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060847"/>
            <a:ext cx="4071938" cy="3393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НАБЛЮДАТЬ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5781" y="150733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Статус и регулярная отчетность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5781" y="1821656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535781" y="1764506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выполнения целей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35781" y="2058795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535781" y="2001645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Отклонения от плана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5781" y="2295934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535781" y="2238784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Факторный анализ причин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5781" y="2533073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535781" y="2475923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Сценарная аналитика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43438" y="1060847"/>
            <a:ext cx="4071938" cy="1969889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3438" y="1060847"/>
            <a:ext cx="4071938" cy="3393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4643438" y="1060847"/>
            <a:ext cx="4071938" cy="3393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УПРАВЛЯТЬ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0594" y="150733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Анализ и принятие решений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0594" y="1821656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4750594" y="1764506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Видеть причины отклонений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0594" y="2058795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2"/>
          <p:cNvSpPr/>
          <p:nvPr/>
        </p:nvSpPr>
        <p:spPr>
          <a:xfrm>
            <a:off x="4750594" y="2001645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Связи между показателями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0594" y="2295934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4750594" y="2238784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Дерево метрик и онтология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0594" y="2533073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6"/>
          <p:cNvSpPr/>
          <p:nvPr/>
        </p:nvSpPr>
        <p:spPr>
          <a:xfrm>
            <a:off x="4750594" y="2475923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Рекомендации: что делать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28625" y="3173611"/>
            <a:ext cx="4071938" cy="1969889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8625" y="3173611"/>
            <a:ext cx="4071938" cy="339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428625" y="3173611"/>
            <a:ext cx="4071938" cy="3393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УДИВИТЬСЯ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5781" y="362009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Проактивные инсайты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5781" y="3934420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535781" y="3877270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Аномалии и нетипичные паттерны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35781" y="4171559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4"/>
          <p:cNvSpPr/>
          <p:nvPr/>
        </p:nvSpPr>
        <p:spPr>
          <a:xfrm>
            <a:off x="535781" y="4114409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микросегментов клиентов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35781" y="4408698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6"/>
          <p:cNvSpPr/>
          <p:nvPr/>
        </p:nvSpPr>
        <p:spPr>
          <a:xfrm>
            <a:off x="535781" y="4351548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Срезы, которые сам не запросил бы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35781" y="4645837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8"/>
          <p:cNvSpPr/>
          <p:nvPr/>
        </p:nvSpPr>
        <p:spPr>
          <a:xfrm>
            <a:off x="535781" y="4588687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Проактивные сигналы системы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643438" y="3173611"/>
            <a:ext cx="4071938" cy="1969889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643438" y="3173611"/>
            <a:ext cx="4071938" cy="3393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4" name="Text 41"/>
          <p:cNvSpPr/>
          <p:nvPr/>
        </p:nvSpPr>
        <p:spPr>
          <a:xfrm>
            <a:off x="4643438" y="3173611"/>
            <a:ext cx="4071938" cy="3393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СПРОСИТЬ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750594" y="362009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Оперативные ad-hoc ответы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0594" y="3934420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4"/>
          <p:cNvSpPr/>
          <p:nvPr/>
        </p:nvSpPr>
        <p:spPr>
          <a:xfrm>
            <a:off x="4750594" y="3877270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MAU, прайм и быстрые метрики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750594" y="4171559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6"/>
          <p:cNvSpPr/>
          <p:nvPr/>
        </p:nvSpPr>
        <p:spPr>
          <a:xfrm>
            <a:off x="4750594" y="4114409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Произвольный вопрос к данным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750594" y="4408698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8"/>
          <p:cNvSpPr/>
          <p:nvPr/>
        </p:nvSpPr>
        <p:spPr>
          <a:xfrm>
            <a:off x="4750594" y="4351548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срез без подготовки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750594" y="4645837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0"/>
          <p:cNvSpPr/>
          <p:nvPr/>
        </p:nvSpPr>
        <p:spPr>
          <a:xfrm>
            <a:off x="4750594" y="4588687"/>
            <a:ext cx="3857625" cy="17998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Чат с аналитической системой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5750"/>
            <a:ext cx="71438" cy="29289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85750"/>
            <a:ext cx="9144000" cy="292894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Детальный анализ текущих разрывов и узких мест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35769" y="800100"/>
            <a:ext cx="1240836" cy="40719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4"/>
          <p:cNvSpPr/>
          <p:nvPr/>
        </p:nvSpPr>
        <p:spPr>
          <a:xfrm>
            <a:off x="435769" y="800100"/>
            <a:ext cx="1240836" cy="407194"/>
          </a:xfrm>
          <a:prstGeom prst="rect">
            <a:avLst/>
          </a:prstGeom>
          <a:noFill/>
          <a:ln/>
        </p:spPr>
        <p:txBody>
          <a:bodyPr wrap="non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НАПРАВЛЕНИЕ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676605" y="800100"/>
            <a:ext cx="1654448" cy="40719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9" name="Text 6"/>
          <p:cNvSpPr/>
          <p:nvPr/>
        </p:nvSpPr>
        <p:spPr>
          <a:xfrm>
            <a:off x="1676605" y="800100"/>
            <a:ext cx="1654448" cy="407194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ХОЧЕТ ДИРЕКТОР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331052" y="800100"/>
            <a:ext cx="1654448" cy="40719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1" name="Text 8"/>
          <p:cNvSpPr/>
          <p:nvPr/>
        </p:nvSpPr>
        <p:spPr>
          <a:xfrm>
            <a:off x="3331052" y="800100"/>
            <a:ext cx="1654448" cy="407194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ДЕЛАЕТ АНАЛИТИК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985500" y="800100"/>
            <a:ext cx="1654448" cy="40719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3" name="Text 10"/>
          <p:cNvSpPr/>
          <p:nvPr/>
        </p:nvSpPr>
        <p:spPr>
          <a:xfrm>
            <a:off x="4985500" y="800100"/>
            <a:ext cx="1654448" cy="407194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НУЖНО СИСТЕМЕ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639948" y="800100"/>
            <a:ext cx="2068283" cy="40719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2"/>
          <p:cNvSpPr/>
          <p:nvPr/>
        </p:nvSpPr>
        <p:spPr>
          <a:xfrm>
            <a:off x="6639948" y="800100"/>
            <a:ext cx="2068283" cy="407194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ОГРАНИЧЕНИЕ И СТАТУС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50069" y="1350169"/>
            <a:ext cx="6449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Наблюдать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676605" y="1207294"/>
            <a:ext cx="1654448" cy="580765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Уверенность, что цифра верна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31052" y="1207294"/>
            <a:ext cx="1654448" cy="580765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данные вручную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85500" y="1207294"/>
            <a:ext cx="1654448" cy="580765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 данных, data lineage, мониторинг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32842" y="1335881"/>
            <a:ext cx="166108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Нет автоматизированных решений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435769" y="1788058"/>
            <a:ext cx="8272463" cy="58433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2" name="Text 19"/>
          <p:cNvSpPr/>
          <p:nvPr/>
        </p:nvSpPr>
        <p:spPr>
          <a:xfrm>
            <a:off x="550069" y="1934505"/>
            <a:ext cx="6034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Управлять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676605" y="1788058"/>
            <a:ext cx="1654448" cy="584336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Видеть причины отклонений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331052" y="1788058"/>
            <a:ext cx="1654448" cy="584336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Строит факторный анализ вручную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985500" y="1788058"/>
            <a:ext cx="1654448" cy="584336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Дерево метрик, онтология связей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932842" y="1920218"/>
            <a:ext cx="166108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Частично — ручная администрация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50069" y="2518842"/>
            <a:ext cx="6037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Удивиться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676605" y="2372395"/>
            <a:ext cx="1654448" cy="584336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Получать сигналы проактивно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31052" y="2372395"/>
            <a:ext cx="1654448" cy="584336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Пишет сценарии инсайтов вручную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85500" y="2372395"/>
            <a:ext cx="1654448" cy="584336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Семантический слой, правила алертов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932842" y="2504554"/>
            <a:ext cx="1472617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Нет — инструмент нерабочий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35769" y="2956731"/>
            <a:ext cx="8272463" cy="5879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3" name="Text 30"/>
          <p:cNvSpPr/>
          <p:nvPr/>
        </p:nvSpPr>
        <p:spPr>
          <a:xfrm>
            <a:off x="550069" y="3103178"/>
            <a:ext cx="5497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Спросить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676605" y="2956731"/>
            <a:ext cx="1654448" cy="58790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ответ на любой вопрос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331052" y="2956731"/>
            <a:ext cx="1654448" cy="58790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Делает ad-hoc срезы вручную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985500" y="2956731"/>
            <a:ext cx="1654448" cy="58790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Чат-бот, доступ к БД, описание данных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932842" y="3088891"/>
            <a:ext cx="639254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Нет решения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4313"/>
            <a:ext cx="91440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14313"/>
            <a:ext cx="71438" cy="26431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14313"/>
            <a:ext cx="9144000" cy="264319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Сценарии реализации по всем направлениям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621506"/>
            <a:ext cx="2781319" cy="4086225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5750" y="621506"/>
            <a:ext cx="2762231" cy="52506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132284"/>
            <a:ext cx="2762231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6"/>
          <p:cNvSpPr/>
          <p:nvPr/>
        </p:nvSpPr>
        <p:spPr>
          <a:xfrm>
            <a:off x="392906" y="728663"/>
            <a:ext cx="254791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ИЗОЛИРОВАННЫЕ РЕШЕНИЯ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2906" y="914400"/>
            <a:ext cx="25479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Разрозненные инструменты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92906" y="1310878"/>
            <a:ext cx="2547919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РЕАЛИЗАЦИЯ: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92906" y="1439466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Наблюдать: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Текущая BI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92906" y="1579438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Управлять: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Excel / Ручной анализ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92906" y="1719411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Удивиться: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Отдельные алерты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92906" y="1859384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Спросить: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Внешний чат-бот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92906" y="2042220"/>
            <a:ext cx="2547919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ПЛЮСЫ: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92906" y="1439466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92906" y="1579438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392906" y="1719411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92906" y="1859384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92906" y="2170807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стоимость входа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92906" y="2310780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Быстрое внедрение отдельных фич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392906" y="2493615"/>
            <a:ext cx="2547919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МИНУСЫ: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392906" y="2170807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92906" y="2310780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392906" y="2622203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Разрозненность данных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392906" y="2762176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Высокая ручная нагрузка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92906" y="2902148"/>
            <a:ext cx="2547919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Отсутствие единой онтологии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3155138" y="621506"/>
            <a:ext cx="2790806" cy="4086225"/>
          </a:xfrm>
          <a:prstGeom prst="rect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2906" y="2622203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392906" y="2762176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92906" y="2902148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3164681" y="621506"/>
            <a:ext cx="2771775" cy="52506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1"/>
          <p:cNvSpPr/>
          <p:nvPr/>
        </p:nvSpPr>
        <p:spPr>
          <a:xfrm>
            <a:off x="3164681" y="1132284"/>
            <a:ext cx="2771775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2"/>
          <p:cNvSpPr/>
          <p:nvPr/>
        </p:nvSpPr>
        <p:spPr>
          <a:xfrm>
            <a:off x="3271838" y="728663"/>
            <a:ext cx="25574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BI-ЦЕНТРИЧНАЯ ИНТЕГРАЦИЯ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271838" y="914400"/>
            <a:ext cx="255746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Все функции в текущей BI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3271838" y="1310878"/>
            <a:ext cx="255746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РЕАЛИЗАЦИЯ: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3271838" y="1439466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Наблюдать: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Базовый визуал BI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271838" y="1579438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Управлять: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Модули внутри BI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3271838" y="1719411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Удивиться: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Нативные алерты BI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3271838" y="1859384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Спросить: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Чат-интерфейс BI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271838" y="2042220"/>
            <a:ext cx="255746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ПЛЮСЫ:</a:t>
            </a: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3271838" y="1439466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3271838" y="1579438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3271838" y="1719411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3271838" y="1859384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3271838" y="2170807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Единая точка входа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3271838" y="2310780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Использование текущих лицензий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3271838" y="2493615"/>
            <a:ext cx="255746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МИНУСЫ:</a:t>
            </a:r>
            <a:endParaRPr lang="en-US" sz="550" dirty="0"/>
          </a:p>
        </p:txBody>
      </p:sp>
      <p:sp>
        <p:nvSpPr>
          <p:cNvPr id="50" name="Text 47"/>
          <p:cNvSpPr/>
          <p:nvPr/>
        </p:nvSpPr>
        <p:spPr>
          <a:xfrm>
            <a:off x="3271838" y="2170807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3271838" y="2310780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3271838" y="2622203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Архитектурные ограничения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3271838" y="2762176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Низкая скорость работы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3271838" y="2902148"/>
            <a:ext cx="2557463" cy="111398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Сложность внедрения AI</a:t>
            </a:r>
            <a:endParaRPr lang="en-US" sz="650" dirty="0"/>
          </a:p>
        </p:txBody>
      </p:sp>
      <p:sp>
        <p:nvSpPr>
          <p:cNvPr id="55" name="Shape 52"/>
          <p:cNvSpPr/>
          <p:nvPr/>
        </p:nvSpPr>
        <p:spPr>
          <a:xfrm>
            <a:off x="6015466" y="580644"/>
            <a:ext cx="2870930" cy="4167949"/>
          </a:xfrm>
          <a:prstGeom prst="rect">
            <a:avLst/>
          </a:prstGeom>
          <a:solidFill>
            <a:srgbClr val="FFFFFF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71838" y="2622203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3271838" y="2762176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3271838" y="2902148"/>
            <a:ext cx="3253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59" name="Shape 56"/>
          <p:cNvSpPr/>
          <p:nvPr/>
        </p:nvSpPr>
        <p:spPr>
          <a:xfrm>
            <a:off x="6044327" y="580644"/>
            <a:ext cx="2841783" cy="53556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0" name="Shape 57"/>
          <p:cNvSpPr/>
          <p:nvPr/>
        </p:nvSpPr>
        <p:spPr>
          <a:xfrm>
            <a:off x="6044327" y="1101923"/>
            <a:ext cx="2841783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8"/>
          <p:cNvSpPr/>
          <p:nvPr/>
        </p:nvSpPr>
        <p:spPr>
          <a:xfrm>
            <a:off x="6153626" y="689943"/>
            <a:ext cx="2623185" cy="15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ЕДИНОЕ ОКНО (РЕКОМЕНДУЕМ)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153626" y="879396"/>
            <a:ext cx="2623185" cy="112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AI-агент поверх текущей базы</a:t>
            </a:r>
            <a:endParaRPr lang="en-US" sz="650" dirty="0"/>
          </a:p>
        </p:txBody>
      </p:sp>
      <p:sp>
        <p:nvSpPr>
          <p:cNvPr id="63" name="Text 60"/>
          <p:cNvSpPr/>
          <p:nvPr/>
        </p:nvSpPr>
        <p:spPr>
          <a:xfrm>
            <a:off x="6153626" y="1283803"/>
            <a:ext cx="2623185" cy="94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РЕАЛИЗАЦИЯ:</a:t>
            </a:r>
            <a:endParaRPr lang="en-US" sz="550" dirty="0"/>
          </a:p>
        </p:txBody>
      </p:sp>
      <p:sp>
        <p:nvSpPr>
          <p:cNvPr id="64" name="Text 61"/>
          <p:cNvSpPr/>
          <p:nvPr/>
        </p:nvSpPr>
        <p:spPr>
          <a:xfrm>
            <a:off x="6153626" y="1414963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Наблюдать: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Текущая BI (визуал)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6153626" y="1557735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Управлять: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Портал с онтологией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6153626" y="1700507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Удивиться: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AI-агенты для инсайтов</a:t>
            </a:r>
            <a:endParaRPr lang="en-US" sz="650" dirty="0"/>
          </a:p>
        </p:txBody>
      </p:sp>
      <p:sp>
        <p:nvSpPr>
          <p:cNvPr id="67" name="Text 64"/>
          <p:cNvSpPr/>
          <p:nvPr/>
        </p:nvSpPr>
        <p:spPr>
          <a:xfrm>
            <a:off x="6153626" y="1843279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Спросить:</a:t>
            </a: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Семантический чат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6153626" y="2029772"/>
            <a:ext cx="2623185" cy="94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ПЛЮСЫ:</a:t>
            </a:r>
            <a:endParaRPr lang="en-US" sz="550" dirty="0"/>
          </a:p>
        </p:txBody>
      </p:sp>
      <p:sp>
        <p:nvSpPr>
          <p:cNvPr id="69" name="Text 66"/>
          <p:cNvSpPr/>
          <p:nvPr/>
        </p:nvSpPr>
        <p:spPr>
          <a:xfrm>
            <a:off x="6153626" y="1414963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6153626" y="1557735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71" name="Text 68"/>
          <p:cNvSpPr/>
          <p:nvPr/>
        </p:nvSpPr>
        <p:spPr>
          <a:xfrm>
            <a:off x="6153626" y="1700507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72" name="Text 69"/>
          <p:cNvSpPr/>
          <p:nvPr/>
        </p:nvSpPr>
        <p:spPr>
          <a:xfrm>
            <a:off x="6153626" y="1843279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50" dirty="0"/>
          </a:p>
        </p:txBody>
      </p:sp>
      <p:sp>
        <p:nvSpPr>
          <p:cNvPr id="73" name="Text 70"/>
          <p:cNvSpPr/>
          <p:nvPr/>
        </p:nvSpPr>
        <p:spPr>
          <a:xfrm>
            <a:off x="6153626" y="2160931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Максимальная скорость и UX</a:t>
            </a:r>
            <a:endParaRPr lang="en-US" sz="650" dirty="0"/>
          </a:p>
        </p:txBody>
      </p:sp>
      <p:sp>
        <p:nvSpPr>
          <p:cNvPr id="74" name="Text 71"/>
          <p:cNvSpPr/>
          <p:nvPr/>
        </p:nvSpPr>
        <p:spPr>
          <a:xfrm>
            <a:off x="6153626" y="2303703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Современный AI-функционал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6153626" y="2446475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Масштабируемость решения</a:t>
            </a:r>
            <a:endParaRPr lang="en-US" sz="650" dirty="0"/>
          </a:p>
        </p:txBody>
      </p:sp>
      <p:sp>
        <p:nvSpPr>
          <p:cNvPr id="76" name="Text 73"/>
          <p:cNvSpPr/>
          <p:nvPr/>
        </p:nvSpPr>
        <p:spPr>
          <a:xfrm>
            <a:off x="6153626" y="2632967"/>
            <a:ext cx="2623185" cy="94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МИНУСЫ:</a:t>
            </a:r>
            <a:endParaRPr lang="en-US" sz="550" dirty="0"/>
          </a:p>
        </p:txBody>
      </p:sp>
      <p:sp>
        <p:nvSpPr>
          <p:cNvPr id="77" name="Text 74"/>
          <p:cNvSpPr/>
          <p:nvPr/>
        </p:nvSpPr>
        <p:spPr>
          <a:xfrm>
            <a:off x="6153626" y="2160931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6153626" y="2303703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6153626" y="2446475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6153626" y="2764127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Инвестиции в платформу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6153626" y="2906899"/>
            <a:ext cx="2623185" cy="1136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Необходимость обучения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0" y="4779169"/>
            <a:ext cx="9144000" cy="364331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83" name="Text 80"/>
          <p:cNvSpPr/>
          <p:nvPr/>
        </p:nvSpPr>
        <p:spPr>
          <a:xfrm>
            <a:off x="6153626" y="2764127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84" name="Text 81"/>
          <p:cNvSpPr/>
          <p:nvPr/>
        </p:nvSpPr>
        <p:spPr>
          <a:xfrm>
            <a:off x="6153626" y="2906899"/>
            <a:ext cx="33189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50" dirty="0"/>
          </a:p>
        </p:txBody>
      </p:sp>
      <p:sp>
        <p:nvSpPr>
          <p:cNvPr id="85" name="Text 82"/>
          <p:cNvSpPr/>
          <p:nvPr/>
        </p:nvSpPr>
        <p:spPr>
          <a:xfrm>
            <a:off x="0" y="4886325"/>
            <a:ext cx="91440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Рекомендация: Сценарий 3 — гибрид дает результат быстро и не требует политических решений.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2026-08-12T08:48:59Z</dcterms:created>
  <dcterms:modified xsi:type="dcterms:W3CDTF">2026-08-12T08:48:59Z</dcterms:modified>
</cp:coreProperties>
</file>