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балансировать между верхним уровнем и погружением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384048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38912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1B5E99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438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Топ-менеджер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438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 агрегат · Принимает стратегическое решение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438912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1D7A4E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438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−1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438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 свой периметр · Принимает тактическое решение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841248"/>
            <a:ext cx="2011680" cy="1426464"/>
          </a:xfrm>
          <a:prstGeom prst="roundRect">
            <a:avLst>
              <a:gd name="adj" fmla="val 3846"/>
            </a:avLst>
          </a:prstGeom>
          <a:solidFill>
            <a:srgbClr val="E3EEF8"/>
          </a:solidFill>
          <a:ln w="10160">
            <a:solidFill>
              <a:srgbClr val="1B5E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961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1133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5–7 ключевых метрик банка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Светофор: зелёно / красно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Сигнал об аномалии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1956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Выполнение стратегических целей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841248"/>
            <a:ext cx="2057400" cy="1426464"/>
          </a:xfrm>
          <a:prstGeom prst="roundRect">
            <a:avLst>
              <a:gd name="adj" fmla="val 3846"/>
            </a:avLst>
          </a:prstGeom>
          <a:solidFill>
            <a:srgbClr val="DBEAF7"/>
          </a:solidFill>
          <a:ln w="10160">
            <a:solidFill>
              <a:srgbClr val="1B5E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8961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погружается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41448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Клик на аномалию → краткое объяснение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41448" y="14081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уровень вниз — по желанию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41448" y="16824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должен настраивать фильтры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841248"/>
            <a:ext cx="2011680" cy="1426464"/>
          </a:xfrm>
          <a:prstGeom prst="roundRect">
            <a:avLst>
              <a:gd name="adj" fmla="val 3846"/>
            </a:avLst>
          </a:prstGeom>
          <a:solidFill>
            <a:srgbClr val="E3F2E8"/>
          </a:solidFill>
          <a:ln w="10160">
            <a:solidFill>
              <a:srgbClr val="1D7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961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1133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Свой блок в разрезе юнитов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Факт vs план по каждому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Где отстаём, кто причина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1956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Свой вклад в общий результат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841248"/>
            <a:ext cx="2057400" cy="1426464"/>
          </a:xfrm>
          <a:prstGeom prst="roundRect">
            <a:avLst>
              <a:gd name="adj" fmla="val 3846"/>
            </a:avLst>
          </a:prstGeom>
          <a:solidFill>
            <a:srgbClr val="DCF0E4"/>
          </a:solidFill>
          <a:ln w="10160">
            <a:solidFill>
              <a:srgbClr val="1D7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8961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погружается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7728" y="1133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Фильтр по юниту / продукту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67728" y="14081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Drill-down до канала или сегмента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7728" y="16824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Сравнение с прошлым периодом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62272" y="438912"/>
            <a:ext cx="0" cy="182880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2359152"/>
            <a:ext cx="868680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414016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бизнесу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2651760"/>
            <a:ext cx="2103120" cy="224942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1B5E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2651760"/>
            <a:ext cx="2103120" cy="274320"/>
          </a:xfrm>
          <a:prstGeom prst="roundRect">
            <a:avLst>
              <a:gd name="adj" fmla="val 23333"/>
            </a:avLst>
          </a:prstGeom>
          <a:solidFill>
            <a:srgbClr val="1B5E99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2816352"/>
            <a:ext cx="2103120" cy="109728"/>
          </a:xfrm>
          <a:prstGeom prst="rect">
            <a:avLst/>
          </a:prstGeom>
          <a:solidFill>
            <a:srgbClr val="1B5E99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267004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на своём уровне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" y="299923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не тонет в деталях.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не ждёт аналитика.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950208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4005072"/>
            <a:ext cx="182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" y="4005072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совещаний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«объясни цифры»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95728" y="2651760"/>
            <a:ext cx="2103120" cy="224942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B97A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95728" y="2651760"/>
            <a:ext cx="2103120" cy="274320"/>
          </a:xfrm>
          <a:prstGeom prst="roundRect">
            <a:avLst>
              <a:gd name="adj" fmla="val 23333"/>
            </a:avLst>
          </a:prstGeom>
          <a:solidFill>
            <a:srgbClr val="B97A0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95728" y="2816352"/>
            <a:ext cx="2103120" cy="109728"/>
          </a:xfrm>
          <a:prstGeom prst="rect">
            <a:avLst/>
          </a:prstGeom>
          <a:solidFill>
            <a:srgbClr val="B97A00"/>
          </a:solidFill>
          <a:ln/>
        </p:spPr>
      </p:sp>
      <p:sp>
        <p:nvSpPr>
          <p:cNvPr id="47" name="Text 45"/>
          <p:cNvSpPr/>
          <p:nvPr/>
        </p:nvSpPr>
        <p:spPr>
          <a:xfrm>
            <a:off x="2487168" y="267004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не маскируется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505456" y="299923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конверсия 4,2% — OK.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в одном канале 1,8% — горит.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87168" y="3950208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3744" y="4005072"/>
            <a:ext cx="182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706624" y="4005072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обнаружение =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дешёвое исправление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62856" y="2651760"/>
            <a:ext cx="2103120" cy="224942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1D7A4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62856" y="2651760"/>
            <a:ext cx="2103120" cy="274320"/>
          </a:xfrm>
          <a:prstGeom prst="roundRect">
            <a:avLst>
              <a:gd name="adj" fmla="val 23333"/>
            </a:avLst>
          </a:prstGeom>
          <a:solidFill>
            <a:srgbClr val="1D7A4E"/>
          </a:solidFill>
          <a:ln/>
        </p:spPr>
      </p:sp>
      <p:sp>
        <p:nvSpPr>
          <p:cNvPr id="54" name="Shape 52"/>
          <p:cNvSpPr/>
          <p:nvPr/>
        </p:nvSpPr>
        <p:spPr>
          <a:xfrm>
            <a:off x="4562856" y="2816352"/>
            <a:ext cx="2103120" cy="109728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55" name="Text 53"/>
          <p:cNvSpPr/>
          <p:nvPr/>
        </p:nvSpPr>
        <p:spPr>
          <a:xfrm>
            <a:off x="4654296" y="267004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Независимость от аналитика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672584" y="299923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вопрос → 2 дня → срез.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drill-down: ответ за 2 минуты.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54296" y="3950208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0872" y="4005072"/>
            <a:ext cx="182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73752" y="4005072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Аналитики делают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ценную работу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29984" y="2651760"/>
            <a:ext cx="2103120" cy="224942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5C3A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29984" y="2651760"/>
            <a:ext cx="2103120" cy="274320"/>
          </a:xfrm>
          <a:prstGeom prst="roundRect">
            <a:avLst>
              <a:gd name="adj" fmla="val 23333"/>
            </a:avLst>
          </a:prstGeom>
          <a:solidFill>
            <a:srgbClr val="5C3A8A"/>
          </a:solidFill>
          <a:ln/>
        </p:spPr>
      </p:sp>
      <p:sp>
        <p:nvSpPr>
          <p:cNvPr id="62" name="Shape 60"/>
          <p:cNvSpPr/>
          <p:nvPr/>
        </p:nvSpPr>
        <p:spPr>
          <a:xfrm>
            <a:off x="6729984" y="2816352"/>
            <a:ext cx="2103120" cy="109728"/>
          </a:xfrm>
          <a:prstGeom prst="rect">
            <a:avLst/>
          </a:prstGeom>
          <a:solidFill>
            <a:srgbClr val="5C3A8A"/>
          </a:solidFill>
          <a:ln/>
        </p:spPr>
      </p:sp>
      <p:sp>
        <p:nvSpPr>
          <p:cNvPr id="63" name="Text 61"/>
          <p:cNvSpPr/>
          <p:nvPr/>
        </p:nvSpPr>
        <p:spPr>
          <a:xfrm>
            <a:off x="6821424" y="267004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— язык общения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839712" y="299923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смотрят на одно с разной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глубиной. Спор о цифрах исчезает.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21424" y="3950208"/>
            <a:ext cx="1920240" cy="694944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4005072"/>
            <a:ext cx="182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040880" y="4005072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на основе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данных, не интуиции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2026-08-10T10:04:17Z</dcterms:created>
  <dcterms:modified xsi:type="dcterms:W3CDTF">2026-08-10T10:04:18Z</dcterms:modified>
</cp:coreProperties>
</file>