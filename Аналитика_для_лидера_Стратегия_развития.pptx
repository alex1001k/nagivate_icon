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2643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28625"/>
            <a:ext cx="57150" cy="264319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428625"/>
            <a:ext cx="9144000" cy="264319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Что нужно лидеру от аналитики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21569"/>
            <a:ext cx="2619356" cy="3175397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121569"/>
            <a:ext cx="2609869" cy="446484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121569"/>
            <a:ext cx="2609869" cy="44648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ЗНАТЬ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2938" y="1782366"/>
            <a:ext cx="21812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Структурированная отчётность которую он уже имеет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42938" y="2303859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642938" y="2246709"/>
            <a:ext cx="2181244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 выполнения целей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42938" y="2550988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642938" y="2493838"/>
            <a:ext cx="2181244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Отклонения от плана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42938" y="2798118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642938" y="2740968"/>
            <a:ext cx="2181244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Факторный анализ причин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2938" y="3045247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642938" y="2988097"/>
            <a:ext cx="2181244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Сценарная аналитика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252806" y="1121569"/>
            <a:ext cx="2624156" cy="3175397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57550" y="1121569"/>
            <a:ext cx="2614613" cy="4464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3257550" y="1121569"/>
            <a:ext cx="2614613" cy="44648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УДИВИТЬСЯ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471863" y="1782366"/>
            <a:ext cx="21859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Инсайты которые он не ожидал увидеть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3471863" y="2303859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3471863" y="2246709"/>
            <a:ext cx="2185988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Аномалии и нетипичные паттерны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471863" y="2550988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2"/>
          <p:cNvSpPr/>
          <p:nvPr/>
        </p:nvSpPr>
        <p:spPr>
          <a:xfrm>
            <a:off x="3471863" y="2493838"/>
            <a:ext cx="2185988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микросегментов клиентов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471863" y="2798118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4"/>
          <p:cNvSpPr/>
          <p:nvPr/>
        </p:nvSpPr>
        <p:spPr>
          <a:xfrm>
            <a:off x="3471863" y="2740968"/>
            <a:ext cx="2185988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Срезы которые сам не запросил бы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471863" y="3045247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6"/>
          <p:cNvSpPr/>
          <p:nvPr/>
        </p:nvSpPr>
        <p:spPr>
          <a:xfrm>
            <a:off x="3471863" y="2988097"/>
            <a:ext cx="2185988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Проактивные сигналы от системы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086475" y="1121569"/>
            <a:ext cx="2628900" cy="3175397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95963" y="1121569"/>
            <a:ext cx="2619356" cy="4464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9"/>
          <p:cNvSpPr/>
          <p:nvPr/>
        </p:nvSpPr>
        <p:spPr>
          <a:xfrm>
            <a:off x="6095963" y="1121569"/>
            <a:ext cx="2619356" cy="44648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СПРОСИТЬ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310275" y="1782366"/>
            <a:ext cx="21907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37415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Разовые вопросы на которые нужен ответ здесь и сейчас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310275" y="2303859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2"/>
          <p:cNvSpPr/>
          <p:nvPr/>
        </p:nvSpPr>
        <p:spPr>
          <a:xfrm>
            <a:off x="6310275" y="2246709"/>
            <a:ext cx="2190731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MAU, прайм и другие оперативные метрики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310275" y="2550988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4"/>
          <p:cNvSpPr/>
          <p:nvPr/>
        </p:nvSpPr>
        <p:spPr>
          <a:xfrm>
            <a:off x="6310275" y="2493838"/>
            <a:ext cx="2190731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Произвольный вопрос к данным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6310275" y="2798118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6"/>
          <p:cNvSpPr/>
          <p:nvPr/>
        </p:nvSpPr>
        <p:spPr>
          <a:xfrm>
            <a:off x="6310275" y="2740968"/>
            <a:ext cx="2190731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срез без подготовки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6310275" y="3045247"/>
            <a:ext cx="42863" cy="4286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8"/>
          <p:cNvSpPr/>
          <p:nvPr/>
        </p:nvSpPr>
        <p:spPr>
          <a:xfrm>
            <a:off x="6310275" y="2988097"/>
            <a:ext cx="2190731" cy="13997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Чат с аналитической системой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2321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85750"/>
            <a:ext cx="57150" cy="2321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285750"/>
            <a:ext cx="9144000" cy="232172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Как это устроено сейчас и где узкие места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32197" y="807244"/>
            <a:ext cx="1490309" cy="360759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7" name="Text 4"/>
          <p:cNvSpPr/>
          <p:nvPr/>
        </p:nvSpPr>
        <p:spPr>
          <a:xfrm>
            <a:off x="432197" y="807244"/>
            <a:ext cx="1490309" cy="360759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ХОЧЕТ ДИРЕКТОР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1922506" y="807244"/>
            <a:ext cx="1490309" cy="360759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9" name="Text 6"/>
          <p:cNvSpPr/>
          <p:nvPr/>
        </p:nvSpPr>
        <p:spPr>
          <a:xfrm>
            <a:off x="1922506" y="807244"/>
            <a:ext cx="1490309" cy="360759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ДЕЛАЕТ АНАЛИТИК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412815" y="807244"/>
            <a:ext cx="1821489" cy="360759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1" name="Text 8"/>
          <p:cNvSpPr/>
          <p:nvPr/>
        </p:nvSpPr>
        <p:spPr>
          <a:xfrm>
            <a:off x="3412815" y="807244"/>
            <a:ext cx="1821489" cy="360759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НУЖНО СИСТЕМЕ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5234304" y="807244"/>
            <a:ext cx="1821489" cy="360759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3" name="Text 10"/>
          <p:cNvSpPr/>
          <p:nvPr/>
        </p:nvSpPr>
        <p:spPr>
          <a:xfrm>
            <a:off x="5234304" y="807244"/>
            <a:ext cx="1821489" cy="360759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ОГРАНИЧЕНИЕ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7055793" y="807244"/>
            <a:ext cx="1656011" cy="360759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5" name="Text 12"/>
          <p:cNvSpPr/>
          <p:nvPr/>
        </p:nvSpPr>
        <p:spPr>
          <a:xfrm>
            <a:off x="7055793" y="807244"/>
            <a:ext cx="1656011" cy="360759"/>
          </a:xfrm>
          <a:prstGeom prst="rect">
            <a:avLst/>
          </a:prstGeom>
          <a:noFill/>
          <a:ln/>
        </p:spPr>
        <p:txBody>
          <a:bodyPr wrap="square" lIns="127508" tIns="153035" rIns="127508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СТАТУС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32197" y="1168003"/>
            <a:ext cx="1490309" cy="57786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Видеть причины отклонений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1922506" y="1168003"/>
            <a:ext cx="1490309" cy="57786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Строит факторный анализ вручную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412815" y="1168003"/>
            <a:ext cx="1821489" cy="57786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Связи между показателями, дерево метрик, онтология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234304" y="1168003"/>
            <a:ext cx="1821489" cy="57786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Вручную долго. Онтологии нет. Связи между метриками не описаны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7305824" y="1275159"/>
            <a:ext cx="129525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37415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Частично — модуль отклонений есть, но ручная администрация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432197" y="1745866"/>
            <a:ext cx="8279606" cy="48142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2" name="Text 19"/>
          <p:cNvSpPr/>
          <p:nvPr/>
        </p:nvSpPr>
        <p:spPr>
          <a:xfrm>
            <a:off x="432197" y="1745866"/>
            <a:ext cx="149030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Получать сигналы и инсайты проактивно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922506" y="1745866"/>
            <a:ext cx="149030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Настраивает алерты, пишет сценарии инсайтов вручную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3412815" y="1745866"/>
            <a:ext cx="182148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Семантический слой, единые правила алертов и инсайтов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5234304" y="1745866"/>
            <a:ext cx="182148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единых правил. Алерты и инсайты ручные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7305824" y="1856594"/>
            <a:ext cx="129525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37415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Нет — оповещение есть, но инструмент нерабочий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32197" y="2227287"/>
            <a:ext cx="1490309" cy="6114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Единое окно доступа ко всему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1922506" y="2227287"/>
            <a:ext cx="1490309" cy="6114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Собирает дашборды, настраивает стартовые экраны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412815" y="2227287"/>
            <a:ext cx="1821489" cy="6114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Единая платформа с AI-функциональностью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5234304" y="2227287"/>
            <a:ext cx="1821489" cy="6114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Текущее решение не соответствует требованиям. HTML не в проме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305824" y="2338015"/>
            <a:ext cx="129525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37415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Нет — неудобно, медленно, не все возможности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432197" y="2838692"/>
            <a:ext cx="8279606" cy="611405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3" name="Text 30"/>
          <p:cNvSpPr/>
          <p:nvPr/>
        </p:nvSpPr>
        <p:spPr>
          <a:xfrm>
            <a:off x="432197" y="2838692"/>
            <a:ext cx="1490309" cy="6114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Уверенность что цифра верна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1922506" y="2838692"/>
            <a:ext cx="1490309" cy="6114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Проверяет данные вручную, настраивает ручной ККД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3412815" y="2838692"/>
            <a:ext cx="1821489" cy="6114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Каталог данных, data lineage, автоматический мониторинг качества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5234304" y="2838692"/>
            <a:ext cx="1821489" cy="6114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автоматизированных решений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305824" y="2949420"/>
            <a:ext cx="15046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37415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Нет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432197" y="3450096"/>
            <a:ext cx="149030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ответ на любой вопрос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922506" y="3450096"/>
            <a:ext cx="149030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Делает ad-hoc анализ, готовит срез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3412815" y="3450096"/>
            <a:ext cx="182148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Чат-бот с доступом к БД, описание данных, семантический слой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5234304" y="3450096"/>
            <a:ext cx="182148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решения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7305824" y="3560825"/>
            <a:ext cx="15046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37415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Нет</a:t>
            </a:r>
            <a:endParaRPr lang="en-US" sz="600" dirty="0"/>
          </a:p>
        </p:txBody>
      </p:sp>
      <p:sp>
        <p:nvSpPr>
          <p:cNvPr id="43" name="Shape 40"/>
          <p:cNvSpPr/>
          <p:nvPr/>
        </p:nvSpPr>
        <p:spPr>
          <a:xfrm>
            <a:off x="432197" y="3931518"/>
            <a:ext cx="8279606" cy="48142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4" name="Text 41"/>
          <p:cNvSpPr/>
          <p:nvPr/>
        </p:nvSpPr>
        <p:spPr>
          <a:xfrm>
            <a:off x="432197" y="3931518"/>
            <a:ext cx="149030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Рекомендации и предложения что делать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1922506" y="3931518"/>
            <a:ext cx="149030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Формулирует выводы самостоятельно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3412815" y="3931518"/>
            <a:ext cx="182148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Автообнаружение паттернов, связи метрик, онтология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5234304" y="3931518"/>
            <a:ext cx="1821489" cy="4814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Онтологии нет. Причинно-следственные связи не описаны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7305824" y="4042246"/>
            <a:ext cx="15046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37415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Нет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2321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85750"/>
            <a:ext cx="57150" cy="2321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285750"/>
            <a:ext cx="9144000" cy="232172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Сценарии развития и рекомендации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28625" y="732234"/>
            <a:ext cx="2662219" cy="3779044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732234"/>
            <a:ext cx="2652731" cy="5607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285875"/>
            <a:ext cx="2652731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6"/>
          <p:cNvSpPr/>
          <p:nvPr/>
        </p:nvSpPr>
        <p:spPr>
          <a:xfrm>
            <a:off x="535781" y="875109"/>
            <a:ext cx="243841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ТЕКУЩАЯ BI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35781" y="1042988"/>
            <a:ext cx="243841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Точечные доработки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35781" y="1535906"/>
            <a:ext cx="2438419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2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ЧТО ДЕЛАЕМ: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535781" y="1675209"/>
            <a:ext cx="2438419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Заказываем доработки в системе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35781" y="1843757"/>
            <a:ext cx="2438419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Расширяем модули аналитики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35781" y="2012305"/>
            <a:ext cx="2438419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Улучшаем отдельные отчёты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35781" y="2230859"/>
            <a:ext cx="2438419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2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МИНУСЫ: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535781" y="1675209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535781" y="1843757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35781" y="2012305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35781" y="2370162"/>
            <a:ext cx="2438419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Технические ограничения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35781" y="2538710"/>
            <a:ext cx="2438419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Низкая скорость изменений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35781" y="2707258"/>
            <a:ext cx="2438419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Отсутствие AI-слоя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35781" y="2875806"/>
            <a:ext cx="2438419" cy="20716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Горизонт: 1–3 месяца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3197418" y="694444"/>
            <a:ext cx="2734932" cy="385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5781" y="2370162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535781" y="2538710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35781" y="2707258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3207097" y="694444"/>
            <a:ext cx="2715463" cy="572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5"/>
          <p:cNvSpPr/>
          <p:nvPr/>
        </p:nvSpPr>
        <p:spPr>
          <a:xfrm>
            <a:off x="3207097" y="1259300"/>
            <a:ext cx="2715463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6"/>
          <p:cNvSpPr/>
          <p:nvPr/>
        </p:nvSpPr>
        <p:spPr>
          <a:xfrm>
            <a:off x="3316396" y="840176"/>
            <a:ext cx="2496864" cy="134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ГИБРИД (РЕКОМЕНДУЕМ)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316396" y="1011412"/>
            <a:ext cx="2496864" cy="102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AI-слой поверх текущей базы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3316396" y="1514189"/>
            <a:ext cx="2496864" cy="83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5966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ЧТО ДЕЛАЕМ:</a:t>
            </a:r>
            <a:endParaRPr lang="en-US" sz="500" dirty="0"/>
          </a:p>
        </p:txBody>
      </p:sp>
      <p:sp>
        <p:nvSpPr>
          <p:cNvPr id="32" name="Text 29"/>
          <p:cNvSpPr/>
          <p:nvPr/>
        </p:nvSpPr>
        <p:spPr>
          <a:xfrm>
            <a:off x="3316396" y="1656278"/>
            <a:ext cx="2496864" cy="11362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HTML-дашборды и AI-агенты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3316396" y="1828197"/>
            <a:ext cx="2496864" cy="11362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Единый каталог данных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3316396" y="2000116"/>
            <a:ext cx="2496864" cy="11362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Семантический слой метрик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3316396" y="2172035"/>
            <a:ext cx="2496864" cy="11362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Онтология связей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3316396" y="2343954"/>
            <a:ext cx="2496864" cy="11362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AI-инсайты и рекомендации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3316396" y="2566879"/>
            <a:ext cx="2496864" cy="83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5966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КЛЮЧЕВОЙ ПЛЮС:</a:t>
            </a:r>
            <a:endParaRPr lang="en-US" sz="500" dirty="0"/>
          </a:p>
        </p:txBody>
      </p:sp>
      <p:sp>
        <p:nvSpPr>
          <p:cNvPr id="38" name="Text 35"/>
          <p:cNvSpPr/>
          <p:nvPr/>
        </p:nvSpPr>
        <p:spPr>
          <a:xfrm>
            <a:off x="3316396" y="1656278"/>
            <a:ext cx="30570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3316396" y="1828197"/>
            <a:ext cx="30570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3316396" y="2000116"/>
            <a:ext cx="30570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3316396" y="2172035"/>
            <a:ext cx="30570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3316396" y="2343954"/>
            <a:ext cx="30570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3316396" y="2708968"/>
            <a:ext cx="2496864" cy="11362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64E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Быстрый результат без слома текущих процессов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3316396" y="2880887"/>
            <a:ext cx="2496864" cy="211312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Горизонт: 6–12 месяцев</a:t>
            </a:r>
            <a:endParaRPr lang="en-US" sz="550" dirty="0"/>
          </a:p>
        </p:txBody>
      </p:sp>
      <p:sp>
        <p:nvSpPr>
          <p:cNvPr id="45" name="Shape 42"/>
          <p:cNvSpPr/>
          <p:nvPr/>
        </p:nvSpPr>
        <p:spPr>
          <a:xfrm>
            <a:off x="6038813" y="732234"/>
            <a:ext cx="2676506" cy="3779044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316396" y="2708968"/>
            <a:ext cx="30570" cy="1136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600" dirty="0"/>
          </a:p>
        </p:txBody>
      </p:sp>
      <p:sp>
        <p:nvSpPr>
          <p:cNvPr id="47" name="Shape 44"/>
          <p:cNvSpPr/>
          <p:nvPr/>
        </p:nvSpPr>
        <p:spPr>
          <a:xfrm>
            <a:off x="6048412" y="732234"/>
            <a:ext cx="2667019" cy="56078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8" name="Shape 45"/>
          <p:cNvSpPr/>
          <p:nvPr/>
        </p:nvSpPr>
        <p:spPr>
          <a:xfrm>
            <a:off x="6048412" y="1285875"/>
            <a:ext cx="2667019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46"/>
          <p:cNvSpPr/>
          <p:nvPr/>
        </p:nvSpPr>
        <p:spPr>
          <a:xfrm>
            <a:off x="6155568" y="875109"/>
            <a:ext cx="24527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НОВАЯ АРХИТЕКТУРА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155568" y="1042988"/>
            <a:ext cx="245270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B728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Полная замена с нуля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6155568" y="1535906"/>
            <a:ext cx="2452706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2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ЧТО ДЕЛАЕМ:</a:t>
            </a:r>
            <a:endParaRPr lang="en-US" sz="500" dirty="0"/>
          </a:p>
        </p:txBody>
      </p:sp>
      <p:sp>
        <p:nvSpPr>
          <p:cNvPr id="52" name="Text 49"/>
          <p:cNvSpPr/>
          <p:nvPr/>
        </p:nvSpPr>
        <p:spPr>
          <a:xfrm>
            <a:off x="6155568" y="1675209"/>
            <a:ext cx="2452706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Проектируем с чистого листа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6155568" y="1843757"/>
            <a:ext cx="2452706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новой BI-платформы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6155568" y="2012305"/>
            <a:ext cx="2452706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Миграция всех данных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6155568" y="2230859"/>
            <a:ext cx="2452706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6B72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КРИТИЧЕСКИЕ РИСКИ:</a:t>
            </a:r>
            <a:endParaRPr lang="en-US" sz="500" dirty="0"/>
          </a:p>
        </p:txBody>
      </p:sp>
      <p:sp>
        <p:nvSpPr>
          <p:cNvPr id="56" name="Text 53"/>
          <p:cNvSpPr/>
          <p:nvPr/>
        </p:nvSpPr>
        <p:spPr>
          <a:xfrm>
            <a:off x="6155568" y="1675209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6155568" y="1843757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58" name="Text 55"/>
          <p:cNvSpPr/>
          <p:nvPr/>
        </p:nvSpPr>
        <p:spPr>
          <a:xfrm>
            <a:off x="6155568" y="2012305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6155568" y="2370162"/>
            <a:ext cx="2452706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500" b="1" dirty="0">
                <a:solidFill>
                  <a:srgbClr val="B91C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СРОКИ:</a:t>
            </a:r>
            <a:r>
              <a:rPr lang="en-US" sz="60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12–24 мес. до первых результатов</a:t>
            </a:r>
            <a:endParaRPr lang="en-US" sz="500" dirty="0"/>
          </a:p>
        </p:txBody>
      </p:sp>
      <p:sp>
        <p:nvSpPr>
          <p:cNvPr id="60" name="Text 57"/>
          <p:cNvSpPr/>
          <p:nvPr/>
        </p:nvSpPr>
        <p:spPr>
          <a:xfrm>
            <a:off x="6155568" y="2538710"/>
            <a:ext cx="2452706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500" b="1" dirty="0">
                <a:solidFill>
                  <a:srgbClr val="B91C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БЮДЖЕТ:</a:t>
            </a:r>
            <a:r>
              <a:rPr lang="en-US" sz="60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Инвестиции в 5-10 раз выше</a:t>
            </a:r>
            <a:endParaRPr lang="en-US" sz="500" dirty="0"/>
          </a:p>
        </p:txBody>
      </p:sp>
      <p:sp>
        <p:nvSpPr>
          <p:cNvPr id="61" name="Text 58"/>
          <p:cNvSpPr/>
          <p:nvPr/>
        </p:nvSpPr>
        <p:spPr>
          <a:xfrm>
            <a:off x="6155568" y="2707258"/>
            <a:ext cx="2452706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500" b="1" dirty="0">
                <a:solidFill>
                  <a:srgbClr val="B91C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ПОЛИТИКА:</a:t>
            </a:r>
            <a:r>
              <a:rPr lang="en-US" sz="60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Конфликт со стратегией ИТ</a:t>
            </a:r>
            <a:endParaRPr lang="en-US" sz="500" dirty="0"/>
          </a:p>
        </p:txBody>
      </p:sp>
      <p:sp>
        <p:nvSpPr>
          <p:cNvPr id="62" name="Text 59"/>
          <p:cNvSpPr/>
          <p:nvPr/>
        </p:nvSpPr>
        <p:spPr>
          <a:xfrm>
            <a:off x="6155568" y="2875806"/>
            <a:ext cx="2452706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500" b="1" dirty="0">
                <a:solidFill>
                  <a:srgbClr val="B91C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ОСТАНОВКА:</a:t>
            </a:r>
            <a:r>
              <a:rPr lang="en-US" sz="60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Заморозка всех бизнес-задач</a:t>
            </a:r>
            <a:endParaRPr lang="en-US" sz="500" dirty="0"/>
          </a:p>
        </p:txBody>
      </p:sp>
      <p:sp>
        <p:nvSpPr>
          <p:cNvPr id="63" name="Text 60"/>
          <p:cNvSpPr/>
          <p:nvPr/>
        </p:nvSpPr>
        <p:spPr>
          <a:xfrm>
            <a:off x="6155568" y="3044354"/>
            <a:ext cx="2452706" cy="111398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500" b="1" dirty="0">
                <a:solidFill>
                  <a:srgbClr val="B91C1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ОТКАЗ:</a:t>
            </a:r>
            <a:r>
              <a:rPr lang="en-US" sz="600" b="1" dirty="0">
                <a:solidFill>
                  <a:srgbClr val="B91C1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70% вероятность неудачи проекта</a:t>
            </a:r>
            <a:endParaRPr lang="en-US" sz="500" dirty="0"/>
          </a:p>
        </p:txBody>
      </p:sp>
      <p:sp>
        <p:nvSpPr>
          <p:cNvPr id="64" name="Text 61"/>
          <p:cNvSpPr/>
          <p:nvPr/>
        </p:nvSpPr>
        <p:spPr>
          <a:xfrm>
            <a:off x="6155568" y="3212902"/>
            <a:ext cx="2452706" cy="20716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064E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Горизонт: 12–24 месяца</a:t>
            </a:r>
            <a:endParaRPr lang="en-US" sz="550" dirty="0"/>
          </a:p>
        </p:txBody>
      </p:sp>
      <p:sp>
        <p:nvSpPr>
          <p:cNvPr id="65" name="Shape 62"/>
          <p:cNvSpPr/>
          <p:nvPr/>
        </p:nvSpPr>
        <p:spPr>
          <a:xfrm>
            <a:off x="0" y="4654153"/>
            <a:ext cx="9144000" cy="489347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66" name="Text 63"/>
          <p:cNvSpPr/>
          <p:nvPr/>
        </p:nvSpPr>
        <p:spPr>
          <a:xfrm>
            <a:off x="6155568" y="2370162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6155568" y="2538710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00" dirty="0"/>
          </a:p>
        </p:txBody>
      </p:sp>
      <p:sp>
        <p:nvSpPr>
          <p:cNvPr id="68" name="Text 65"/>
          <p:cNvSpPr/>
          <p:nvPr/>
        </p:nvSpPr>
        <p:spPr>
          <a:xfrm>
            <a:off x="6155568" y="2707258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00" dirty="0"/>
          </a:p>
        </p:txBody>
      </p:sp>
      <p:sp>
        <p:nvSpPr>
          <p:cNvPr id="69" name="Text 66"/>
          <p:cNvSpPr/>
          <p:nvPr/>
        </p:nvSpPr>
        <p:spPr>
          <a:xfrm>
            <a:off x="6155568" y="2875806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00" dirty="0"/>
          </a:p>
        </p:txBody>
      </p:sp>
      <p:sp>
        <p:nvSpPr>
          <p:cNvPr id="70" name="Text 67"/>
          <p:cNvSpPr/>
          <p:nvPr/>
        </p:nvSpPr>
        <p:spPr>
          <a:xfrm>
            <a:off x="6155568" y="3044354"/>
            <a:ext cx="29970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•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0" y="4832747"/>
            <a:ext cx="91440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Рекомендация: сценарий Б — гибрид дает результат быстро и не требует политических решений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2026-08-11T06:42:29Z</dcterms:created>
  <dcterms:modified xsi:type="dcterms:W3CDTF">2026-08-11T06:42:29Z</dcterms:modified>
</cp:coreProperties>
</file>