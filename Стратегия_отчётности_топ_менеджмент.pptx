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X отчётов — к одному связному отчёту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29200" cy="4709160"/>
          </a:xfrm>
          <a:prstGeom prst="roundRect">
            <a:avLst>
              <a:gd name="adj" fmla="val 1553"/>
            </a:avLst>
          </a:prstGeom>
          <a:solidFill>
            <a:srgbClr val="F4F6F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00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руководителя — X разрозненных отчётов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953512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7706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отчёт — своя логика метрик и данных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730752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54787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Причину отклонения ищут вручную, отдельно от отчёта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507992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3251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 не связаны с отчётом и теряются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371600"/>
            <a:ext cx="5696712" cy="4709160"/>
          </a:xfrm>
          <a:prstGeom prst="roundRect">
            <a:avLst>
              <a:gd name="adj" fmla="val 155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600200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ЦЕЛЕВОЕ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1965960"/>
            <a:ext cx="5056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отчёт: по каждой теме — светофор, причина, рекомендация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63640" y="2971800"/>
            <a:ext cx="5056632" cy="960120"/>
          </a:xfrm>
          <a:prstGeom prst="roundRect">
            <a:avLst>
              <a:gd name="adj" fmla="val 5714"/>
            </a:avLst>
          </a:prstGeom>
          <a:solidFill>
            <a:srgbClr val="2A3577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3063240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46520" y="3429000"/>
            <a:ext cx="4690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светофор п/ф, п/п  →  причина (AI)  →  рекомендация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4069080"/>
            <a:ext cx="5056632" cy="960120"/>
          </a:xfrm>
          <a:prstGeom prst="roundRect">
            <a:avLst>
              <a:gd name="adj" fmla="val 5714"/>
            </a:avLst>
          </a:prstGeom>
          <a:solidFill>
            <a:srgbClr val="2A3577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4160520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Продукты / каналы / сегменты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46520" y="4526280"/>
            <a:ext cx="4690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светофор п/ф, п/п  →  причина (AI)  →  рекомендация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5166360"/>
            <a:ext cx="5056632" cy="960120"/>
          </a:xfrm>
          <a:prstGeom prst="roundRect">
            <a:avLst>
              <a:gd name="adj" fmla="val 5714"/>
            </a:avLst>
          </a:prstGeom>
          <a:solidFill>
            <a:srgbClr val="2A3577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5257800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 и доли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46520" y="5623560"/>
            <a:ext cx="4690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светофор п/ф, п/п  →  причина (AI)  →  рекомендация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отчётности для топ-менеджмента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это устроено: конвейер поверх единых данных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013509" cy="2834640"/>
          </a:xfrm>
          <a:prstGeom prst="roundRect">
            <a:avLst>
              <a:gd name="adj" fmla="val 3179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1189634" y="17830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x_project/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9830" y="197327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697480"/>
            <a:ext cx="18306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8368" y="3383280"/>
            <a:ext cx="179405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Lab, Навигатор,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внешние источники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89581" y="2825496"/>
            <a:ext cx="201168" cy="201168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9" name="Shape 6"/>
          <p:cNvSpPr/>
          <p:nvPr/>
        </p:nvSpPr>
        <p:spPr>
          <a:xfrm>
            <a:off x="2818181" y="1508760"/>
            <a:ext cx="2013509" cy="2834640"/>
          </a:xfrm>
          <a:prstGeom prst="roundRect">
            <a:avLst>
              <a:gd name="adj" fmla="val 3179"/>
            </a:avLst>
          </a:prstGeom>
          <a:solidFill>
            <a:srgbClr val="F4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3459175" y="17830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x_project/icons/warn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370" y="197327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09621" y="2697480"/>
            <a:ext cx="18306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Отклонения,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инсайты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27909" y="3383280"/>
            <a:ext cx="179405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ищет причины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взаимосвязи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859122" y="2825496"/>
            <a:ext cx="201168" cy="201168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5" name="Shape 11"/>
          <p:cNvSpPr/>
          <p:nvPr/>
        </p:nvSpPr>
        <p:spPr>
          <a:xfrm>
            <a:off x="5087722" y="1508760"/>
            <a:ext cx="2013509" cy="2834640"/>
          </a:xfrm>
          <a:prstGeom prst="roundRect">
            <a:avLst>
              <a:gd name="adj" fmla="val 3179"/>
            </a:avLst>
          </a:prstGeom>
          <a:solidFill>
            <a:srgbClr val="F4F6FC"/>
          </a:solidFill>
          <a:ln/>
        </p:spPr>
      </p:sp>
      <p:sp>
        <p:nvSpPr>
          <p:cNvPr id="16" name="Shape 12"/>
          <p:cNvSpPr/>
          <p:nvPr/>
        </p:nvSpPr>
        <p:spPr>
          <a:xfrm>
            <a:off x="5728716" y="17830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pptx_project/icons/targ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911" y="197327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79162" y="2697480"/>
            <a:ext cx="18306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Триггеры,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прогнозы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197450" y="3383280"/>
            <a:ext cx="179405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будущее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128662" y="2825496"/>
            <a:ext cx="201168" cy="201168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1" name="Shape 16"/>
          <p:cNvSpPr/>
          <p:nvPr/>
        </p:nvSpPr>
        <p:spPr>
          <a:xfrm>
            <a:off x="7357262" y="1508760"/>
            <a:ext cx="2013509" cy="2834640"/>
          </a:xfrm>
          <a:prstGeom prst="roundRect">
            <a:avLst>
              <a:gd name="adj" fmla="val 3179"/>
            </a:avLst>
          </a:prstGeom>
          <a:solidFill>
            <a:srgbClr val="F4F6FC"/>
          </a:solidFill>
          <a:ln/>
        </p:spPr>
      </p:sp>
      <p:sp>
        <p:nvSpPr>
          <p:cNvPr id="22" name="Shape 17"/>
          <p:cNvSpPr/>
          <p:nvPr/>
        </p:nvSpPr>
        <p:spPr>
          <a:xfrm>
            <a:off x="7998257" y="17830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/home/claude/pptx_project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8452" y="1973275"/>
            <a:ext cx="351130" cy="35113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48702" y="2697480"/>
            <a:ext cx="18306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задачи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466990" y="3383280"/>
            <a:ext cx="179405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подтверждает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отклоняет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9398203" y="2825496"/>
            <a:ext cx="201168" cy="201168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7" name="Shape 21"/>
          <p:cNvSpPr/>
          <p:nvPr/>
        </p:nvSpPr>
        <p:spPr>
          <a:xfrm>
            <a:off x="9626803" y="1508760"/>
            <a:ext cx="2013509" cy="2834640"/>
          </a:xfrm>
          <a:prstGeom prst="roundRect">
            <a:avLst>
              <a:gd name="adj" fmla="val 3179"/>
            </a:avLst>
          </a:prstGeom>
          <a:solidFill>
            <a:srgbClr val="F4F6FC"/>
          </a:solidFill>
          <a:ln/>
        </p:spPr>
      </p:sp>
      <p:sp>
        <p:nvSpPr>
          <p:cNvPr id="28" name="Shape 22"/>
          <p:cNvSpPr/>
          <p:nvPr/>
        </p:nvSpPr>
        <p:spPr>
          <a:xfrm>
            <a:off x="10267798" y="17830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4" descr="/home/claude/pptx_project/icons/fileTex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7993" y="1973275"/>
            <a:ext cx="351130" cy="35113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718243" y="2697480"/>
            <a:ext cx="18306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Отчётность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9736531" y="3383280"/>
            <a:ext cx="179405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отчёт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Навигаторе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548640" y="4526280"/>
            <a:ext cx="1109167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33" name="Shape 26"/>
          <p:cNvSpPr/>
          <p:nvPr/>
        </p:nvSpPr>
        <p:spPr>
          <a:xfrm>
            <a:off x="713232" y="459028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5" descr="/home/claude/pptx_project/icons/flag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575" y="4680631"/>
            <a:ext cx="166787" cy="166787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234440" y="4526280"/>
            <a:ext cx="10360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внедряется параллельно с наведением порядка в данных — не поверх старого хаоса</a:t>
            </a:r>
            <a:endParaRPr lang="en-US" sz="1350" dirty="0"/>
          </a:p>
        </p:txBody>
      </p:sp>
      <p:sp>
        <p:nvSpPr>
          <p:cNvPr id="36" name="Shape 28"/>
          <p:cNvSpPr/>
          <p:nvPr/>
        </p:nvSpPr>
        <p:spPr>
          <a:xfrm>
            <a:off x="548640" y="512064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E8A33D"/>
          </a:solidFill>
          <a:ln/>
        </p:spPr>
      </p:sp>
      <p:sp>
        <p:nvSpPr>
          <p:cNvPr id="37" name="Text 29"/>
          <p:cNvSpPr/>
          <p:nvPr/>
        </p:nvSpPr>
        <p:spPr>
          <a:xfrm>
            <a:off x="868680" y="5239512"/>
            <a:ext cx="10451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Каталог метрик — единый. Данные — без единой витрины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868680" y="5669280"/>
            <a:ext cx="10451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слишком сложны и разнородны, чтобы всё автоматизировать в одну витрину. Но там, где данные приходят в BI через Excel, — их можно централизованно структурировать и переиспользовать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отчётности для топ-менеджмента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не размножить хаос поверх избыточных дашбордов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 будет генерировать всё больше отклонений, триггеров и рекомендаций — без ограничений это станет ещё одним источником шума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project/icons/slid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3052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существенности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Наверх поднимаются только значимые отклонения, а не всё подряд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1031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x_project/icons/fileTex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322" y="230520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848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целевой отчёт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37960" y="28803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находки встраиваются диплинком в существующий отчёт, не создают новый дашборд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3434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pptx_project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454548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32511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 рекомендаций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68680" y="51206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Подтвердил или отклонил с комментарием; при повторе отклонённое не поднимается заново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4069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3434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pptx_project/icon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322" y="454548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32511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курации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37960" y="51206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Кто-то один отвечает за то, что в итоге доходит до топ-менеджера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отчётности для топ-менеджмента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Дорожная карта и что нужно от руководства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10543032" cy="0"/>
          </a:xfrm>
          <a:prstGeom prst="line">
            <a:avLst/>
          </a:prstGeom>
          <a:noFill/>
          <a:ln w="38100">
            <a:solidFill>
              <a:srgbClr val="2A35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21967" y="1481328"/>
            <a:ext cx="237744" cy="237744"/>
          </a:xfrm>
          <a:prstGeom prst="ellipse">
            <a:avLst/>
          </a:prstGeom>
          <a:solidFill>
            <a:srgbClr val="E8A33D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20240"/>
            <a:ext cx="2361438" cy="1691640"/>
          </a:xfrm>
          <a:prstGeom prst="roundRect">
            <a:avLst>
              <a:gd name="adj" fmla="val 3243"/>
            </a:avLst>
          </a:prstGeom>
          <a:solidFill>
            <a:srgbClr val="2A357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39112"/>
            <a:ext cx="2361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441448"/>
            <a:ext cx="20871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Темы и метрики отчёта для топ-менеджмента. Старт каталога метрик под них.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57725" y="1481328"/>
            <a:ext cx="237744" cy="237744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95878" y="1920240"/>
            <a:ext cx="2361438" cy="1691640"/>
          </a:xfrm>
          <a:prstGeom prst="roundRect">
            <a:avLst>
              <a:gd name="adj" fmla="val 3243"/>
            </a:avLst>
          </a:prstGeom>
          <a:solidFill>
            <a:srgbClr val="2A3577"/>
          </a:solidFill>
          <a:ln/>
        </p:spPr>
      </p:sp>
      <p:sp>
        <p:nvSpPr>
          <p:cNvPr id="10" name="Text 8"/>
          <p:cNvSpPr/>
          <p:nvPr/>
        </p:nvSpPr>
        <p:spPr>
          <a:xfrm>
            <a:off x="3595878" y="2039112"/>
            <a:ext cx="2361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33038" y="2441448"/>
            <a:ext cx="20871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конвейера на 1–2 темах. Пороги существенности и жизненный цикл рекомендаций.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93483" y="1481328"/>
            <a:ext cx="237744" cy="237744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1636" y="1920240"/>
            <a:ext cx="2361438" cy="1691640"/>
          </a:xfrm>
          <a:prstGeom prst="roundRect">
            <a:avLst>
              <a:gd name="adj" fmla="val 3243"/>
            </a:avLst>
          </a:prstGeom>
          <a:solidFill>
            <a:srgbClr val="2A3577"/>
          </a:solidFill>
          <a:ln/>
        </p:spPr>
      </p:sp>
      <p:sp>
        <p:nvSpPr>
          <p:cNvPr id="14" name="Text 12"/>
          <p:cNvSpPr/>
          <p:nvPr/>
        </p:nvSpPr>
        <p:spPr>
          <a:xfrm>
            <a:off x="6231636" y="2039112"/>
            <a:ext cx="2361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68796" y="2441448"/>
            <a:ext cx="20871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на все темы. Встраивание в единый отчёт в Навигаторе.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929241" y="1481328"/>
            <a:ext cx="237744" cy="237744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7394" y="1920240"/>
            <a:ext cx="2361438" cy="1691640"/>
          </a:xfrm>
          <a:prstGeom prst="roundRect">
            <a:avLst>
              <a:gd name="adj" fmla="val 3243"/>
            </a:avLst>
          </a:prstGeom>
          <a:solidFill>
            <a:srgbClr val="2A3577"/>
          </a:solidFill>
          <a:ln/>
        </p:spPr>
      </p:sp>
      <p:sp>
        <p:nvSpPr>
          <p:cNvPr id="18" name="Text 16"/>
          <p:cNvSpPr/>
          <p:nvPr/>
        </p:nvSpPr>
        <p:spPr>
          <a:xfrm>
            <a:off x="8867394" y="2039112"/>
            <a:ext cx="2361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04554" y="2441448"/>
            <a:ext cx="20871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Постоянная курация. Вывод дублирующих отчётов для топ-менеджмента.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ОТ РУКОВОДСТВА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" y="439826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27024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Мандат на единый отчёт взамен разрозненных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94360" y="478231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65429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Мандат на каталог метрик по темам отчёта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" y="516636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038344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Мандат на владельца курации рекомендаций и отклонений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отчётности для топ-менеджмента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2026-07-30T08:05:41Z</dcterms:created>
  <dcterms:modified xsi:type="dcterms:W3CDTF">2026-07-30T08:05:41Z</dcterms:modified>
</cp:coreProperties>
</file>