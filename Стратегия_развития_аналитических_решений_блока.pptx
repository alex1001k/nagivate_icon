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29265"/>
            <a:ext cx="6429375" cy="1697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СТРАТЕГИЯ РАЗВИТИЯ АНАЛИТИЧЕСКИХ РЕШЕНИЙ БЛОКА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3455119"/>
            <a:ext cx="8572500" cy="27503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D6A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2026–2027: Переход к единой аналитической платформе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АНАЛИЗ ТЕКУЩЕГО СОСТОЯНИЯ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553877"/>
            <a:ext cx="2428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Excel-отчетность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893205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Значительный объем несистематизированных данных. Процессы не промышленны и требуют ручного вмешательства.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57563" y="1553877"/>
            <a:ext cx="2428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BI-системы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57563" y="1893205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Тысячи отчетов с нестабильной производительностью. Точечные доработки не решают системных проблем.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43625" y="1553877"/>
            <a:ext cx="24288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Локальная разработка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3625" y="1893205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Разрозненные HTML-отчеты и AI-пайплайны. Создаются под конкретные задачи без единого стандарта.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3130414"/>
            <a:ext cx="8001000" cy="75009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3130414"/>
            <a:ext cx="8001000" cy="142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444739"/>
            <a:ext cx="80010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Ключевой вызов: Отсутствие единого технологического фундамента приводит к дублированию усилий и рассинхронизации данных.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АНАЛИЗ ПРИЧИН ИЗДЕРЖЕК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382427"/>
            <a:ext cx="8001000" cy="921544"/>
          </a:xfrm>
          <a:prstGeom prst="rect">
            <a:avLst/>
          </a:prstGeom>
          <a:solidFill>
            <a:srgbClr val="F7FBF9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382427"/>
            <a:ext cx="57150" cy="921544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753902"/>
            <a:ext cx="7429500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Основная причина неэффективности — отсутствие переиспользуемых активов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1500" y="2589721"/>
            <a:ext cx="2286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ДУБЛИРОВАНИЕ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71500" y="2893330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Реализация каждого нового запроса «с нуля» без опоры на существующие наработки и источники.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43250" y="2589721"/>
            <a:ext cx="2286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ЛОКАЛЬНАЯ ЛОГИКА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143250" y="2893330"/>
            <a:ext cx="22860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Формирование уникальной логики расчета метрик под каждую отдельную бизнес-задачу.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715000" y="2589721"/>
            <a:ext cx="22860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СЛОЖНОСТЬ ПОДДЕРЖКИ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15000" y="2893330"/>
            <a:ext cx="22860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Линейный рост затрат на поддержку при увеличении количества изолированных источников данных.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4079193"/>
            <a:ext cx="8001000" cy="650081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Вывод: Проблема носит методологический характер и не решается простой сменой BI-инструмента.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ЦЕЛЕВАЯ МОДЕЛЬ: АНАЛИТИЧЕСКАЯ ПЛАТФОРМА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239552"/>
            <a:ext cx="3929063" cy="681447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239552"/>
            <a:ext cx="71438" cy="681447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325277"/>
            <a:ext cx="3643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ИНТЕРФЕЙСЫ ДОСТАВКИ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4375" y="1561021"/>
            <a:ext cx="3643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BI-системы, HTML-отчеты и AI-сервисы становятся лишь способами визуализации данных.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643438" y="1239552"/>
            <a:ext cx="3929063" cy="681447"/>
          </a:xfrm>
          <a:prstGeom prst="rect">
            <a:avLst/>
          </a:prstGeom>
          <a:solidFill>
            <a:srgbClr val="B7E4C7"/>
          </a:solidFill>
          <a:ln/>
        </p:spPr>
      </p:sp>
      <p:sp>
        <p:nvSpPr>
          <p:cNvPr id="9" name="Shape 6"/>
          <p:cNvSpPr/>
          <p:nvPr/>
        </p:nvSpPr>
        <p:spPr>
          <a:xfrm>
            <a:off x="4643438" y="1239552"/>
            <a:ext cx="71438" cy="681447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7"/>
          <p:cNvSpPr/>
          <p:nvPr/>
        </p:nvSpPr>
        <p:spPr>
          <a:xfrm>
            <a:off x="4786313" y="1325277"/>
            <a:ext cx="3643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ЕДИНЫЙ КАТАЛОГ МЕТРИК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86313" y="1561021"/>
            <a:ext cx="3643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Стандартизация определений, алгоритмов расчета и закрепление владельцев за каждой метрикой.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71500" y="2006724"/>
            <a:ext cx="3929063" cy="681447"/>
          </a:xfrm>
          <a:prstGeom prst="rect">
            <a:avLst/>
          </a:prstGeom>
          <a:solidFill>
            <a:srgbClr val="95D5B2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2006724"/>
            <a:ext cx="71438" cy="681447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4" name="Text 11"/>
          <p:cNvSpPr/>
          <p:nvPr/>
        </p:nvSpPr>
        <p:spPr>
          <a:xfrm>
            <a:off x="714375" y="2092449"/>
            <a:ext cx="3643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ОБЩАЯ МОДЕЛЬ ДАННЫХ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4375" y="2328193"/>
            <a:ext cx="3643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Унифицированная структура хранения и обработки, исключающая создание частных витрин.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43438" y="2006724"/>
            <a:ext cx="3929063" cy="681447"/>
          </a:xfrm>
          <a:prstGeom prst="rect">
            <a:avLst/>
          </a:prstGeom>
          <a:solidFill>
            <a:srgbClr val="74C69D"/>
          </a:solidFill>
          <a:ln/>
        </p:spPr>
      </p:sp>
      <p:sp>
        <p:nvSpPr>
          <p:cNvPr id="17" name="Shape 14"/>
          <p:cNvSpPr/>
          <p:nvPr/>
        </p:nvSpPr>
        <p:spPr>
          <a:xfrm>
            <a:off x="4643438" y="2006724"/>
            <a:ext cx="71438" cy="681447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5"/>
          <p:cNvSpPr/>
          <p:nvPr/>
        </p:nvSpPr>
        <p:spPr>
          <a:xfrm>
            <a:off x="4786313" y="2092449"/>
            <a:ext cx="364331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НОРМАЛИЗАЦИЯ МАСТЕР-ДАННЫХ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86313" y="2328193"/>
            <a:ext cx="364331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Фундаментальный порядок в справочниках (клиенты, продукты, оргструктура) как залог точности.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71500" y="2802471"/>
            <a:ext cx="8001000" cy="6929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71500" y="2802471"/>
            <a:ext cx="8001000" cy="142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" y="3059646"/>
            <a:ext cx="8001000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Результат: Переход от управления отчетами к управлению данными и метриками как активами.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ОЖИДАЕМЫЕ РЕЗУЛЬТАТЫ ТРАНСФОРМАЦИИ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571500" y="1210977"/>
            <a:ext cx="428625" cy="428625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796765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ДОСТОВЕРНОСТЬ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2153952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Устранение расхождений в цифрах между системами.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2143125" y="1210977"/>
            <a:ext cx="428625" cy="428625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8" name="Text 5"/>
          <p:cNvSpPr/>
          <p:nvPr/>
        </p:nvSpPr>
        <p:spPr>
          <a:xfrm>
            <a:off x="2143125" y="1796765"/>
            <a:ext cx="12858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СКОРОСТЬ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143125" y="2153952"/>
            <a:ext cx="1285875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Быстрая сборка решений из проверенных компонентов.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571875" y="1210977"/>
            <a:ext cx="428625" cy="428625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1" name="Text 8"/>
          <p:cNvSpPr/>
          <p:nvPr/>
        </p:nvSpPr>
        <p:spPr>
          <a:xfrm>
            <a:off x="3571875" y="1796765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ЭФФЕКТИВНОСТЬ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571875" y="2153952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Оптимизация нагрузки на BI и ресурсы инженеров.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143500" y="1210977"/>
            <a:ext cx="428625" cy="428625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4" name="Text 11"/>
          <p:cNvSpPr/>
          <p:nvPr/>
        </p:nvSpPr>
        <p:spPr>
          <a:xfrm>
            <a:off x="5143500" y="1796765"/>
            <a:ext cx="142875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ТЕХНОЛОГИЧНОСТЬ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43500" y="2153952"/>
            <a:ext cx="1428750" cy="548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 для ускорения документирования и self-service.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858000" y="1310990"/>
            <a:ext cx="1714500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Цель: </a:t>
            </a: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Создание </a:t>
            </a: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единой «версии </a:t>
            </a: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правды»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ДОРОЖНАЯ КАРТА РЕАЛИЗАЦИИ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382427"/>
            <a:ext cx="1785938" cy="3393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Q3 2026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571500" y="1864630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1807480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Приоритизация отчетов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стандартизации.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" y="2281758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224608"/>
            <a:ext cx="1785938" cy="539967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Запуск работ по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нормализации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справочников.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643188" y="1382427"/>
            <a:ext cx="1785938" cy="3393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Q4 2026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643188" y="1864630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8"/>
          <p:cNvSpPr/>
          <p:nvPr/>
        </p:nvSpPr>
        <p:spPr>
          <a:xfrm>
            <a:off x="2643188" y="1807480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первой версии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каталога метрик.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643188" y="2281758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2643188" y="2224608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Пилотный проект на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критичном кейсе.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14875" y="1382427"/>
            <a:ext cx="1785938" cy="3393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Q1 2027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14875" y="1864630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6" name="Text 13"/>
          <p:cNvSpPr/>
          <p:nvPr/>
        </p:nvSpPr>
        <p:spPr>
          <a:xfrm>
            <a:off x="4714875" y="1807480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Масштабирование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целевой модели данных.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14875" y="2281758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5"/>
          <p:cNvSpPr/>
          <p:nvPr/>
        </p:nvSpPr>
        <p:spPr>
          <a:xfrm>
            <a:off x="4714875" y="2224608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Миграция второй очереди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отчетности.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86563" y="1382427"/>
            <a:ext cx="1785938" cy="33932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Q2 2027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786563" y="1864630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1" name="Text 18"/>
          <p:cNvSpPr/>
          <p:nvPr/>
        </p:nvSpPr>
        <p:spPr>
          <a:xfrm>
            <a:off x="6786563" y="1807480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Тиражирование модели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весь блок.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786563" y="2281758"/>
            <a:ext cx="42863" cy="42863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0"/>
          <p:cNvSpPr/>
          <p:nvPr/>
        </p:nvSpPr>
        <p:spPr>
          <a:xfrm>
            <a:off x="6786563" y="2224608"/>
            <a:ext cx="1785938" cy="359978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 неактуальных </a:t>
            </a: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решений из эксплуатации.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71500" y="3107475"/>
            <a:ext cx="8001000" cy="7000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71500" y="3107475"/>
            <a:ext cx="8001000" cy="142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26" name="Text 23"/>
          <p:cNvSpPr/>
          <p:nvPr/>
        </p:nvSpPr>
        <p:spPr>
          <a:xfrm>
            <a:off x="571500" y="3407513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План предполагает поэтапное внедрение с обязательной проверкой гипотез на пилотном проекте в конце 2026 года.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46608"/>
            <a:ext cx="857250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4332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КЛЮЧЕВЫЕ УСЛОВИЯ РЕАЛИЗАЦИИ СТРАТЕГИИ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71500" y="1382427"/>
            <a:ext cx="2428875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СТАНДАРТЫ И КАТАЛОГ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1500" y="1793193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Согласование единых определений и закрепление владельцев метрик. Обязательность использования каталога всеми командами блока.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57563" y="1382427"/>
            <a:ext cx="2428875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МАСТЕР-ДАННЫЕ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357563" y="1793193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Поддержка приоритетности работ по нормализации справочников. Выделение необходимых ресурсов для обеспечения качества данных.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43625" y="1382427"/>
            <a:ext cx="2428875" cy="29646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ОПТИМИЗАЦИЯ BI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143625" y="1793193"/>
            <a:ext cx="2428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Утверждение плана миграции критичных отчетов на целевую платформу и вывод из эксплуатации неактуальных решений.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71500" y="2901814"/>
            <a:ext cx="8001000" cy="92009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901814"/>
            <a:ext cx="8001000" cy="28575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3273289"/>
            <a:ext cx="8001000" cy="520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Итог: Формирование единой аналитической среды с общими данными и метриками для повышения качества управленческих решений.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2026-07-29T11:13:23Z</dcterms:created>
  <dcterms:modified xsi:type="dcterms:W3CDTF">2026-07-29T11:13:23Z</dcterms:modified>
</cp:coreProperties>
</file>