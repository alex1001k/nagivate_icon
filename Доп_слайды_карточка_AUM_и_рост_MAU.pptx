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рточка метрики" id="{0cd03c43-8232-4688-eb26-73975dee6d4b}">
          <p14:sldIdLst>
            <p14:sldId id="256"/>
          </p14:sldIdLst>
        </p14:section>
        <p14:section name="Рост MAU мастердэшей" id="{6b2892ca-ed7d-9c3c-9f3b-09649084b044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От мастердэша к мастерданным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Пример карточки метрики: AUM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Бизнес-описание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Читают люди и агенты</a:t>
            </a:r>
            <a:endParaRPr lang="en-US" sz="1200" dirty="0"/>
          </a:p>
        </p:txBody>
      </p:sp>
      <p:graphicFrame>
        <p:nvGraphicFramePr>
          <p:cNvPr id="2" name="card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413248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21608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Определение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Рыночная стоимость активов клиентов в инвестиционных продуктах банка и партнёров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AUM = Брокерские счета + ДУ + ПИФ + инвестиционное страхование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Остаток на конец дня, рыночная оценка, в рублях по курсу ЦБ. Без депозитов и текущих счетов. ПИФ на брокерском счёте — один раз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Агрегация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Остаток: по месяцам не суммируется, берётся на дату. По клиентам и продуктам — суммируется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Разрезы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Сегмент (масс / премиум / private), продукт, регион, канал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27064" y="1371600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Техническая реализация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27064" y="1755648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Исполняет DWH</a:t>
            </a:r>
            <a:endParaRPr lang="en-US" sz="1200" dirty="0"/>
          </a:p>
        </p:txBody>
      </p:sp>
      <p:graphicFrame>
        <p:nvGraphicFramePr>
          <p:cNvPr id="3" name="card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7064" y="2148840"/>
          <a:ext cx="5413248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21608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Расчёт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Витрина инвестиционного портфеля клиентов: поле рыночной стоимости, фильтр по типам продуктов, код в репозитории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Происхождение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Витрина ← слой DWH ← брокерская система, депозитарий, УК, страховой партнёр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Сверка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депозитарным учётом и отчётами УК, допустимое отклонение 0,5%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Связанные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Чистый приток = AUM на конец − AUM на начало − переоценка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Владелец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Блок инвестиционного бизнеса · статус «эталон» · v1.0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Принцип: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логика расчёта — в витрине один раз; в отчёте и у агента — только агрегация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поднять MAU мастердэшей в текущем виде</a:t>
            </a:r>
            <a:endParaRPr lang="en-US" sz="3200" dirty="0"/>
          </a:p>
        </p:txBody>
      </p:sp>
      <p:sp>
        <p:nvSpPr>
          <p:cNvPr id="3" name="act0"/>
          <p:cNvSpPr/>
          <p:nvPr/>
        </p:nvSpPr>
        <p:spPr>
          <a:xfrm>
            <a:off x="548640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Дайджест с прямыми ссылками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Раз в неделю 3–5 отклонений по блоку, каждая ссылка ведёт прямо на нужный виджет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2–3 нед.</a:t>
            </a:r>
            <a:endParaRPr lang="en-US" sz="1100" dirty="0"/>
          </a:p>
        </p:txBody>
      </p:sp>
      <p:sp>
        <p:nvSpPr>
          <p:cNvPr id="7" name="act1"/>
          <p:cNvSpPr/>
          <p:nvPr/>
        </p:nvSpPr>
        <p:spPr>
          <a:xfrm>
            <a:off x="3410712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Ссылки из отчётов и материалов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«Детализация и динамика — в мастердэше» в отчётах блоков и материалах правления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1 мес.</a:t>
            </a:r>
            <a:endParaRPr lang="en-US" sz="1100" dirty="0"/>
          </a:p>
        </p:txBody>
      </p:sp>
      <p:sp>
        <p:nvSpPr>
          <p:cNvPr id="11" name="act2"/>
          <p:cNvSpPr/>
          <p:nvPr/>
        </p:nvSpPr>
        <p:spPr>
          <a:xfrm>
            <a:off x="6272784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3952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Мастердэш на совещаниях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Открывать на оперативках с экрана вместо слайдов с теми же цифрами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1 мес.</a:t>
            </a:r>
            <a:endParaRPr lang="en-US" sz="1100" dirty="0"/>
          </a:p>
        </p:txBody>
      </p:sp>
      <p:sp>
        <p:nvSpPr>
          <p:cNvPr id="15" name="act3"/>
          <p:cNvSpPr/>
          <p:nvPr/>
        </p:nvSpPr>
        <p:spPr>
          <a:xfrm>
            <a:off x="9134856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36024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Расширение аудитории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4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Заместители, руководители направлений, аналитики блоков — у них есть реальная потребность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1 мес.</a:t>
            </a:r>
            <a:endParaRPr lang="en-US" sz="1100" dirty="0"/>
          </a:p>
        </p:txBody>
      </p:sp>
      <p:sp>
        <p:nvSpPr>
          <p:cNvPr id="19" name="act4"/>
          <p:cNvSpPr/>
          <p:nvPr/>
        </p:nvSpPr>
        <p:spPr>
          <a:xfrm>
            <a:off x="548640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Первый экран по блоку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7–10 ключевых показателей на входе, неиспользуемые вкладки скрыть по логам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1 мес.</a:t>
            </a:r>
            <a:endParaRPr lang="en-US" sz="1100" dirty="0"/>
          </a:p>
        </p:txBody>
      </p:sp>
      <p:sp>
        <p:nvSpPr>
          <p:cNvPr id="23" name="act5"/>
          <p:cNvSpPr/>
          <p:nvPr/>
        </p:nvSpPr>
        <p:spPr>
          <a:xfrm>
            <a:off x="3410712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11880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Уникальный контент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То, чего нет в отчётах блоков: сравнение блоков, позиция к рынку, межблочные метрики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1–2 мес.</a:t>
            </a:r>
            <a:endParaRPr lang="en-US" sz="1100" dirty="0"/>
          </a:p>
        </p:txBody>
      </p:sp>
      <p:sp>
        <p:nvSpPr>
          <p:cNvPr id="27" name="act6"/>
          <p:cNvSpPr/>
          <p:nvPr/>
        </p:nvSpPr>
        <p:spPr>
          <a:xfrm>
            <a:off x="6272784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73952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Алерты по порогам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Уведомление о пробое плана или порога со ссылкой на виджет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1–2 мес.</a:t>
            </a:r>
            <a:endParaRPr lang="en-US" sz="1100" dirty="0"/>
          </a:p>
        </p:txBody>
      </p:sp>
      <p:sp>
        <p:nvSpPr>
          <p:cNvPr id="31" name="act7"/>
          <p:cNvSpPr/>
          <p:nvPr/>
        </p:nvSpPr>
        <p:spPr>
          <a:xfrm>
            <a:off x="9134856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36024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Доступ без барьеров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336024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Мобильная версия, единый вход, мастердэш — стартовая страница BI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336024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сроки ИТ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Не накручивать.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Обязательные входы дадут цифру, но подорвут аргументацию перехода к мастерданным. Первые три мероприятия — одновременно пилот брифинга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 Green Minimal">
  <a:themeElements>
    <a:clrScheme name="BI Green Minimal">
      <a:dk1>
        <a:srgbClr val="111111"/>
      </a:dk1>
      <a:lt1>
        <a:srgbClr val="FFFFFF"/>
      </a:lt1>
      <a:dk2>
        <a:srgbClr val="0E4B36"/>
      </a:dk2>
      <a:lt2>
        <a:srgbClr val="F1F4F2"/>
      </a:lt2>
      <a:accent1>
        <a:srgbClr val="0E4B36"/>
      </a:accent1>
      <a:accent2>
        <a:srgbClr val="111111"/>
      </a:accent2>
      <a:accent3>
        <a:srgbClr val="6B6B6B"/>
      </a:accent3>
      <a:accent4>
        <a:srgbClr val="D5DDD8"/>
      </a:accent4>
      <a:accent5>
        <a:srgbClr val="3F7A63"/>
      </a:accent5>
      <a:accent6>
        <a:srgbClr val="A9BDB3"/>
      </a:accent6>
      <a:hlink>
        <a:srgbClr val="0E4B36"/>
      </a:hlink>
      <a:folHlink>
        <a:srgbClr val="6B6B6B"/>
      </a:folHlink>
    </a:clrScheme>
    <a:fontScheme name="BI Green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мастердэша к мастерданным — дополнительные слайды</dc:title>
  <dc:subject>PptxGenJS Presentation</dc:subject>
  <dc:creator>PptxGenJS</dc:creator>
  <cp:lastModifiedBy>PptxGenJS</cp:lastModifiedBy>
  <cp:revision>1</cp:revision>
  <dcterms:created xsi:type="dcterms:W3CDTF">2026-10-07T08:16:50Z</dcterms:created>
  <dcterms:modified xsi:type="dcterms:W3CDTF">2026-10-07T08:16:50Z</dcterms:modified>
</cp:coreProperties>
</file>