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Титул" id="{56069706-9421-2cd4-1517-d201d28de8c0}">
          <p14:sldIdLst>
            <p14:sldId id="256"/>
          </p14:sldIdLst>
        </p14:section>
        <p14:section name="Мероприятия" id="{b401258c-f0de-c971-a18f-36dfd58bbae4}">
          <p14:sldIdLst>
            <p14:sldId id="257"/>
          </p14:sldIdLst>
        </p14:section>
        <p14:section name="Новая метрика" id="{279458ba-62ed-32ce-58dd-db2d14e483ce}">
          <p14:sldIdLst>
            <p14:sldId id="258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920240"/>
            <a:ext cx="1051560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49040"/>
            <a:ext cx="100584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MAU дашбордов и новая метрика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92024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MAU дашбордов: как поднять и что считать вместо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490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Мероприятия на текущий год и предложение по метрике на 2027 год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Как поднять MAU мастердэшей в текущем виде</a:t>
            </a:r>
            <a:endParaRPr lang="en-US" sz="3200" dirty="0"/>
          </a:p>
        </p:txBody>
      </p:sp>
      <p:sp>
        <p:nvSpPr>
          <p:cNvPr id="3" name="act0"/>
          <p:cNvSpPr/>
          <p:nvPr/>
        </p:nvSpPr>
        <p:spPr>
          <a:xfrm>
            <a:off x="548640" y="1371600"/>
            <a:ext cx="2587752" cy="2011680"/>
          </a:xfrm>
          <a:prstGeom prst="rect">
            <a:avLst/>
          </a:prstGeom>
          <a:solidFill>
            <a:srgbClr val="0E4B3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49808" y="1554480"/>
            <a:ext cx="2185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Дайджест с прямыми ссылками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49808" y="2148840"/>
            <a:ext cx="21854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Раз в неделю 3–5 отклонений по блоку, каждая ссылка ведёт прямо на нужный виджет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999232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Эффект: высокий · 2–3 нед.</a:t>
            </a:r>
            <a:endParaRPr lang="en-US" sz="1100" dirty="0"/>
          </a:p>
        </p:txBody>
      </p:sp>
      <p:sp>
        <p:nvSpPr>
          <p:cNvPr id="7" name="act1"/>
          <p:cNvSpPr/>
          <p:nvPr/>
        </p:nvSpPr>
        <p:spPr>
          <a:xfrm>
            <a:off x="3410712" y="1371600"/>
            <a:ext cx="2587752" cy="2011680"/>
          </a:xfrm>
          <a:prstGeom prst="rect">
            <a:avLst/>
          </a:prstGeom>
          <a:solidFill>
            <a:srgbClr val="0E4B3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11880" y="1554480"/>
            <a:ext cx="2185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Ссылки из отчётов и материалов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2148840"/>
            <a:ext cx="21854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«Детализация и динамика — в мастердэше» в отчётах блоков и материалах правления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2999232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Эффект: высокий · 1 мес.</a:t>
            </a:r>
            <a:endParaRPr lang="en-US" sz="1100" dirty="0"/>
          </a:p>
        </p:txBody>
      </p:sp>
      <p:sp>
        <p:nvSpPr>
          <p:cNvPr id="11" name="act2"/>
          <p:cNvSpPr/>
          <p:nvPr/>
        </p:nvSpPr>
        <p:spPr>
          <a:xfrm>
            <a:off x="6272784" y="1371600"/>
            <a:ext cx="2587752" cy="2011680"/>
          </a:xfrm>
          <a:prstGeom prst="rect">
            <a:avLst/>
          </a:prstGeom>
          <a:solidFill>
            <a:srgbClr val="0E4B3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73952" y="1554480"/>
            <a:ext cx="2185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Мастердэш на совещаниях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73952" y="2148840"/>
            <a:ext cx="21854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Открывать на оперативках с экрана вместо слайдов с теми же цифрами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73952" y="2999232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Эффект: высокий · 1 мес.</a:t>
            </a:r>
            <a:endParaRPr lang="en-US" sz="1100" dirty="0"/>
          </a:p>
        </p:txBody>
      </p:sp>
      <p:sp>
        <p:nvSpPr>
          <p:cNvPr id="15" name="act3"/>
          <p:cNvSpPr/>
          <p:nvPr/>
        </p:nvSpPr>
        <p:spPr>
          <a:xfrm>
            <a:off x="9134856" y="1371600"/>
            <a:ext cx="2587752" cy="2011680"/>
          </a:xfrm>
          <a:prstGeom prst="rect">
            <a:avLst/>
          </a:prstGeom>
          <a:solidFill>
            <a:srgbClr val="0E4B3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336024" y="1554480"/>
            <a:ext cx="2185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Расширение аудитории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9336024" y="2148840"/>
            <a:ext cx="21854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Заместители, руководители направлений, аналитики блоков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336024" y="2999232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Эффект: высокий · 1 мес.</a:t>
            </a:r>
            <a:endParaRPr lang="en-US" sz="1100" dirty="0"/>
          </a:p>
        </p:txBody>
      </p:sp>
      <p:sp>
        <p:nvSpPr>
          <p:cNvPr id="19" name="act4"/>
          <p:cNvSpPr/>
          <p:nvPr/>
        </p:nvSpPr>
        <p:spPr>
          <a:xfrm>
            <a:off x="548640" y="3611880"/>
            <a:ext cx="2587752" cy="2011680"/>
          </a:xfrm>
          <a:prstGeom prst="rect">
            <a:avLst/>
          </a:prstGeom>
          <a:solidFill>
            <a:srgbClr val="F1F4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49808" y="3794760"/>
            <a:ext cx="2185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Первый экран по блоку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49808" y="4389120"/>
            <a:ext cx="21854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7–10 ключевых показателей на входе, неиспользуемые вкладки скрыть по логам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" y="5239512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Эффект: средний · 1 мес.</a:t>
            </a:r>
            <a:endParaRPr lang="en-US" sz="1100" dirty="0"/>
          </a:p>
        </p:txBody>
      </p:sp>
      <p:sp>
        <p:nvSpPr>
          <p:cNvPr id="23" name="act5"/>
          <p:cNvSpPr/>
          <p:nvPr/>
        </p:nvSpPr>
        <p:spPr>
          <a:xfrm>
            <a:off x="3410712" y="3611880"/>
            <a:ext cx="2587752" cy="2011680"/>
          </a:xfrm>
          <a:prstGeom prst="rect">
            <a:avLst/>
          </a:prstGeom>
          <a:solidFill>
            <a:srgbClr val="F1F4F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611880" y="3794760"/>
            <a:ext cx="2185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Уникальный контент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3611880" y="4389120"/>
            <a:ext cx="21854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То, чего нет в отчётах блоков: сравнение блоков, позиция к рынку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611880" y="5239512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Эффект: средний · 1–2 мес.</a:t>
            </a:r>
            <a:endParaRPr lang="en-US" sz="1100" dirty="0"/>
          </a:p>
        </p:txBody>
      </p:sp>
      <p:sp>
        <p:nvSpPr>
          <p:cNvPr id="27" name="act6"/>
          <p:cNvSpPr/>
          <p:nvPr/>
        </p:nvSpPr>
        <p:spPr>
          <a:xfrm>
            <a:off x="6272784" y="3611880"/>
            <a:ext cx="2587752" cy="2011680"/>
          </a:xfrm>
          <a:prstGeom prst="rect">
            <a:avLst/>
          </a:prstGeom>
          <a:solidFill>
            <a:srgbClr val="F1F4F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73952" y="3794760"/>
            <a:ext cx="2185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Алерты по порогам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473952" y="4389120"/>
            <a:ext cx="21854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Уведомление о пробое плана или порога со ссылкой на виджет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473952" y="5239512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Эффект: средний · 1–2 мес.</a:t>
            </a:r>
            <a:endParaRPr lang="en-US" sz="1100" dirty="0"/>
          </a:p>
        </p:txBody>
      </p:sp>
      <p:sp>
        <p:nvSpPr>
          <p:cNvPr id="31" name="act7"/>
          <p:cNvSpPr/>
          <p:nvPr/>
        </p:nvSpPr>
        <p:spPr>
          <a:xfrm>
            <a:off x="9134856" y="3611880"/>
            <a:ext cx="2587752" cy="2011680"/>
          </a:xfrm>
          <a:prstGeom prst="rect">
            <a:avLst/>
          </a:prstGeom>
          <a:solidFill>
            <a:srgbClr val="F1F4F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336024" y="3794760"/>
            <a:ext cx="2185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Доступ без барьеров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9336024" y="4389120"/>
            <a:ext cx="21854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Мобильная версия, единый вход, мастердэш — стартовая страница BI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9336024" y="5239512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Эффект: средний · сроки ИТ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5897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Не накручивать.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Обязательные входы дадут цифру, но не пользу — и подорвут переход к новой метрике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Что считать вместо: MAU мастерданных</a:t>
            </a:r>
            <a:endParaRPr lang="en-US" sz="3200" dirty="0"/>
          </a:p>
        </p:txBody>
      </p:sp>
      <p:sp>
        <p:nvSpPr>
          <p:cNvPr id="3" name="def"/>
          <p:cNvSpPr/>
          <p:nvPr/>
        </p:nvSpPr>
        <p:spPr>
          <a:xfrm>
            <a:off x="548640" y="1371600"/>
            <a:ext cx="11094415" cy="1188720"/>
          </a:xfrm>
          <a:prstGeom prst="rect">
            <a:avLst/>
          </a:prstGeom>
          <a:solidFill>
            <a:srgbClr val="0E4B3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371600"/>
            <a:ext cx="103628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Сколько разных людей за месяц получили хотя бы одну эталонную цифру — неважно где: в отчёте, брифе или у агента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8803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Почему это лучше</a:t>
            </a:r>
            <a:endParaRPr lang="en-US" sz="1800" dirty="0"/>
          </a:p>
        </p:txBody>
      </p:sp>
      <p:sp>
        <p:nvSpPr>
          <p:cNvPr id="6" name="why0"/>
          <p:cNvSpPr/>
          <p:nvPr/>
        </p:nvSpPr>
        <p:spPr>
          <a:xfrm>
            <a:off x="548640" y="3383280"/>
            <a:ext cx="3538728" cy="1828800"/>
          </a:xfrm>
          <a:prstGeom prst="rect">
            <a:avLst/>
          </a:prstGeom>
          <a:solidFill>
            <a:srgbClr val="F1F4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611880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Считает пользу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069080"/>
            <a:ext cx="2990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Человек получил нужную цифру — засчитано. Заход в витрину сам по себе не цель</a:t>
            </a:r>
            <a:endParaRPr lang="en-US" sz="1400" dirty="0"/>
          </a:p>
        </p:txBody>
      </p:sp>
      <p:sp>
        <p:nvSpPr>
          <p:cNvPr id="9" name="why1"/>
          <p:cNvSpPr/>
          <p:nvPr/>
        </p:nvSpPr>
        <p:spPr>
          <a:xfrm>
            <a:off x="4325112" y="3383280"/>
            <a:ext cx="3538728" cy="1828800"/>
          </a:xfrm>
          <a:prstGeom prst="rect">
            <a:avLst/>
          </a:prstGeom>
          <a:solidFill>
            <a:srgbClr val="F1F4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99432" y="3611880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Видит все каналы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599432" y="4069080"/>
            <a:ext cx="2990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Отчёты блоков, брифы, ответы агента через MCP — всё в одном показателе</a:t>
            </a:r>
            <a:endParaRPr lang="en-US" sz="1400" dirty="0"/>
          </a:p>
        </p:txBody>
      </p:sp>
      <p:sp>
        <p:nvSpPr>
          <p:cNvPr id="12" name="why2"/>
          <p:cNvSpPr/>
          <p:nvPr/>
        </p:nvSpPr>
        <p:spPr>
          <a:xfrm>
            <a:off x="8101584" y="3383280"/>
            <a:ext cx="3538728" cy="1828800"/>
          </a:xfrm>
          <a:prstGeom prst="rect">
            <a:avLst/>
          </a:prstGeom>
          <a:solidFill>
            <a:srgbClr val="F1F4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75904" y="3611880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Растёт вместе с AI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375904" y="4069080"/>
            <a:ext cx="2990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Когда цифры уходят в брифы и агентов, метрика растёт, а не падает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4864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Переход без потерь: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MAU мастердэшей остаётся частью нового показателя, сравнимость с 2026 годом сохраняется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Как это посчитать: 4 шага</a:t>
            </a:r>
            <a:endParaRPr lang="en-US" sz="3200" dirty="0"/>
          </a:p>
        </p:txBody>
      </p:sp>
      <p:sp>
        <p:nvSpPr>
          <p:cNvPr id="3" name="n0"/>
          <p:cNvSpPr/>
          <p:nvPr/>
        </p:nvSpPr>
        <p:spPr>
          <a:xfrm>
            <a:off x="548640" y="1417320"/>
            <a:ext cx="640080" cy="640080"/>
          </a:xfrm>
          <a:prstGeom prst="ellipse">
            <a:avLst/>
          </a:prstGeom>
          <a:solidFill>
            <a:srgbClr val="0E4B3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860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Список эталонных метрик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1752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30–50 метрик уровня правления, у каждой владелец</a:t>
            </a:r>
            <a:endParaRPr lang="en-US" sz="1400" dirty="0"/>
          </a:p>
        </p:txBody>
      </p:sp>
      <p:sp>
        <p:nvSpPr>
          <p:cNvPr id="7" name="n1"/>
          <p:cNvSpPr/>
          <p:nvPr/>
        </p:nvSpPr>
        <p:spPr>
          <a:xfrm>
            <a:off x="3410712" y="1417320"/>
            <a:ext cx="640080" cy="640080"/>
          </a:xfrm>
          <a:prstGeom prst="ellipse">
            <a:avLst/>
          </a:prstGeom>
          <a:solidFill>
            <a:srgbClr val="0E4B3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410712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3410712" y="22860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Разметка отчётов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3410712" y="301752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Помечаем отчёты, построенные на эталонных метриках</a:t>
            </a:r>
            <a:endParaRPr lang="en-US" sz="1400" dirty="0"/>
          </a:p>
        </p:txBody>
      </p:sp>
      <p:sp>
        <p:nvSpPr>
          <p:cNvPr id="11" name="n2"/>
          <p:cNvSpPr/>
          <p:nvPr/>
        </p:nvSpPr>
        <p:spPr>
          <a:xfrm>
            <a:off x="6272784" y="1417320"/>
            <a:ext cx="640080" cy="640080"/>
          </a:xfrm>
          <a:prstGeom prst="ellipse">
            <a:avLst/>
          </a:prstGeom>
          <a:solidFill>
            <a:srgbClr val="0E4B3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72784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272784" y="22860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Сбор логов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272784" y="301752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Просмотры BI, открытия брифов, вопросы агенту через MCP — с ID пользователя</a:t>
            </a:r>
            <a:endParaRPr lang="en-US" sz="1400" dirty="0"/>
          </a:p>
        </p:txBody>
      </p:sp>
      <p:sp>
        <p:nvSpPr>
          <p:cNvPr id="15" name="n3"/>
          <p:cNvSpPr/>
          <p:nvPr/>
        </p:nvSpPr>
        <p:spPr>
          <a:xfrm>
            <a:off x="9134856" y="1417320"/>
            <a:ext cx="640080" cy="640080"/>
          </a:xfrm>
          <a:prstGeom prst="ellipse">
            <a:avLst/>
          </a:prstGeom>
          <a:solidFill>
            <a:srgbClr val="0E4B3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34856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9134856" y="228600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Расчёт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9134856" y="301752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Уникальные пользователи за месяц по всем логам — на одном дашборде</a:t>
            </a:r>
            <a:endParaRPr lang="en-US" sz="1400" dirty="0"/>
          </a:p>
        </p:txBody>
      </p:sp>
      <p:sp>
        <p:nvSpPr>
          <p:cNvPr id="19" name="formula"/>
          <p:cNvSpPr/>
          <p:nvPr/>
        </p:nvSpPr>
        <p:spPr>
          <a:xfrm>
            <a:off x="548640" y="4069080"/>
            <a:ext cx="11094415" cy="1005840"/>
          </a:xfrm>
          <a:prstGeom prst="rect">
            <a:avLst/>
          </a:prstGeom>
          <a:solidFill>
            <a:srgbClr val="F1F4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8680" y="4069080"/>
            <a:ext cx="104543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Формула: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MAU = число уникальных ID пользователей за месяц, у которых есть хотя бы одно событие с эталонной метрикой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3949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Что нужно от ИТ: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доступ к логам BI и MCP с ID пользователя. Остальное — работа нашей команды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I Green Minimal">
  <a:themeElements>
    <a:clrScheme name="BI Green Minimal">
      <a:dk1>
        <a:srgbClr val="111111"/>
      </a:dk1>
      <a:lt1>
        <a:srgbClr val="FFFFFF"/>
      </a:lt1>
      <a:dk2>
        <a:srgbClr val="0E4B36"/>
      </a:dk2>
      <a:lt2>
        <a:srgbClr val="F1F4F2"/>
      </a:lt2>
      <a:accent1>
        <a:srgbClr val="0E4B36"/>
      </a:accent1>
      <a:accent2>
        <a:srgbClr val="111111"/>
      </a:accent2>
      <a:accent3>
        <a:srgbClr val="6B6B6B"/>
      </a:accent3>
      <a:accent4>
        <a:srgbClr val="D5DDD8"/>
      </a:accent4>
      <a:accent5>
        <a:srgbClr val="3F7A63"/>
      </a:accent5>
      <a:accent6>
        <a:srgbClr val="A9BDB3"/>
      </a:accent6>
      <a:hlink>
        <a:srgbClr val="0E4B36"/>
      </a:hlink>
      <a:folHlink>
        <a:srgbClr val="6B6B6B"/>
      </a:folHlink>
    </a:clrScheme>
    <a:fontScheme name="BI Green Minima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MAU дашбордов и новая метрика</dc:title>
  <dc:subject>PptxGenJS Presentation</dc:subject>
  <dc:creator>PptxGenJS</dc:creator>
  <cp:lastModifiedBy>PptxGenJS</cp:lastModifiedBy>
  <cp:revision>1</cp:revision>
  <dcterms:created xsi:type="dcterms:W3CDTF">2026-10-08T15:00:19Z</dcterms:created>
  <dcterms:modified xsi:type="dcterms:W3CDTF">2026-10-08T15:00:19Z</dcterms:modified>
</cp:coreProperties>
</file>