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91440"/>
            <a:ext cx="8741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возникает потребность к наблюдению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01168" y="438912"/>
            <a:ext cx="8741664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493776"/>
            <a:ext cx="8741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Десять источников метрик, сгруппированных в три домена наблюдения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" y="713232"/>
            <a:ext cx="2871216" cy="3877056"/>
          </a:xfrm>
          <a:prstGeom prst="roundRect">
            <a:avLst>
              <a:gd name="adj" fmla="val 191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713232"/>
            <a:ext cx="2871216" cy="566928"/>
          </a:xfrm>
          <a:prstGeom prst="roundRect">
            <a:avLst>
              <a:gd name="adj" fmla="val 9677"/>
            </a:avLst>
          </a:prstGeom>
          <a:solidFill>
            <a:srgbClr val="1A4A3A"/>
          </a:solidFill>
          <a:ln/>
        </p:spPr>
      </p:sp>
      <p:sp>
        <p:nvSpPr>
          <p:cNvPr id="9" name="Shape 7"/>
          <p:cNvSpPr/>
          <p:nvPr/>
        </p:nvSpPr>
        <p:spPr>
          <a:xfrm>
            <a:off x="201168" y="1024128"/>
            <a:ext cx="2871216" cy="256032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" y="758952"/>
            <a:ext cx="2688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ФИНАНСЫ И ЦЕЛИ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10896" y="987552"/>
            <a:ext cx="2688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8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Обязательный контур — считается по определению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92608" y="1335024"/>
            <a:ext cx="2688336" cy="896112"/>
          </a:xfrm>
          <a:prstGeom prst="roundRect">
            <a:avLst>
              <a:gd name="adj" fmla="val 4082"/>
            </a:avLst>
          </a:prstGeom>
          <a:solidFill>
            <a:srgbClr val="E8F5F0"/>
          </a:solidFill>
          <a:ln w="7620">
            <a:solidFill>
              <a:srgbClr val="2E7D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" y="1335024"/>
            <a:ext cx="45720" cy="896112"/>
          </a:xfrm>
          <a:prstGeom prst="rect">
            <a:avLst/>
          </a:prstGeom>
          <a:solidFill>
            <a:srgbClr val="2E7D5E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137160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руководителей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157276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Целевые метрики, план/факт,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прогнозы, факторный анализ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92608" y="2304288"/>
            <a:ext cx="2688336" cy="896112"/>
          </a:xfrm>
          <a:prstGeom prst="roundRect">
            <a:avLst>
              <a:gd name="adj" fmla="val 4082"/>
            </a:avLst>
          </a:prstGeom>
          <a:solidFill>
            <a:srgbClr val="E8F5F0"/>
          </a:solidFill>
          <a:ln w="7620">
            <a:solidFill>
              <a:srgbClr val="2E7D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" y="2304288"/>
            <a:ext cx="45720" cy="896112"/>
          </a:xfrm>
          <a:prstGeom prst="rect">
            <a:avLst/>
          </a:prstGeom>
          <a:solidFill>
            <a:srgbClr val="2E7D5E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234086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Финансовая модель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" y="254203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Дерево от прибыли вниз: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доход, фондирование, резервы, OPEX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92608" y="3273552"/>
            <a:ext cx="2688336" cy="896112"/>
          </a:xfrm>
          <a:prstGeom prst="roundRect">
            <a:avLst>
              <a:gd name="adj" fmla="val 4082"/>
            </a:avLst>
          </a:prstGeom>
          <a:solidFill>
            <a:srgbClr val="E8F5F0"/>
          </a:solidFill>
          <a:ln w="7620">
            <a:solidFill>
              <a:srgbClr val="2E7D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" y="3273552"/>
            <a:ext cx="45720" cy="896112"/>
          </a:xfrm>
          <a:prstGeom prst="rect">
            <a:avLst/>
          </a:prstGeom>
          <a:solidFill>
            <a:srgbClr val="2E7D5E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331012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Обязательная отчётность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" y="3511296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ЦБ, МСФО: нормативы, ликвидность,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NPL, просрочка, резервы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10896" y="4297680"/>
            <a:ext cx="118872" cy="118872"/>
          </a:xfrm>
          <a:prstGeom prst="ellipse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4261104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Покрытие в BI: Покрыто хорошо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145536" y="713232"/>
            <a:ext cx="2871216" cy="3822192"/>
          </a:xfrm>
          <a:prstGeom prst="roundRect">
            <a:avLst>
              <a:gd name="adj" fmla="val 191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45536" y="713232"/>
            <a:ext cx="2871216" cy="566928"/>
          </a:xfrm>
          <a:prstGeom prst="roundRect">
            <a:avLst>
              <a:gd name="adj" fmla="val 9677"/>
            </a:avLst>
          </a:prstGeom>
          <a:solidFill>
            <a:srgbClr val="1A4A3A"/>
          </a:solidFill>
          <a:ln/>
        </p:spPr>
      </p:sp>
      <p:sp>
        <p:nvSpPr>
          <p:cNvPr id="28" name="Shape 26"/>
          <p:cNvSpPr/>
          <p:nvPr/>
        </p:nvSpPr>
        <p:spPr>
          <a:xfrm>
            <a:off x="3145536" y="1024128"/>
            <a:ext cx="2871216" cy="256032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29" name="Text 27"/>
          <p:cNvSpPr/>
          <p:nvPr/>
        </p:nvSpPr>
        <p:spPr>
          <a:xfrm>
            <a:off x="3255264" y="758952"/>
            <a:ext cx="2688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И ПРОДУКТ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55264" y="987552"/>
            <a:ext cx="2688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8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зона разрыва — данные есть, связи нет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36976" y="1335024"/>
            <a:ext cx="2688336" cy="640080"/>
          </a:xfrm>
          <a:prstGeom prst="roundRect">
            <a:avLst>
              <a:gd name="adj" fmla="val 5714"/>
            </a:avLst>
          </a:prstGeom>
          <a:solidFill>
            <a:srgbClr val="E8F5F0"/>
          </a:solidFill>
          <a:ln w="7620">
            <a:solidFill>
              <a:srgbClr val="2E7D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36976" y="1335024"/>
            <a:ext cx="45720" cy="640080"/>
          </a:xfrm>
          <a:prstGeom prst="rect">
            <a:avLst/>
          </a:prstGeom>
          <a:solidFill>
            <a:srgbClr val="2E7D5E"/>
          </a:solidFill>
          <a:ln/>
        </p:spPr>
      </p:sp>
      <p:sp>
        <p:nvSpPr>
          <p:cNvPr id="33" name="Text 31"/>
          <p:cNvSpPr/>
          <p:nvPr/>
        </p:nvSpPr>
        <p:spPr>
          <a:xfrm>
            <a:off x="3328416" y="137160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Продуктовый каталог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28416" y="1572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Объём, доходность, проникновение,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отток, качество портфеля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36976" y="2048256"/>
            <a:ext cx="2688336" cy="640080"/>
          </a:xfrm>
          <a:prstGeom prst="roundRect">
            <a:avLst>
              <a:gd name="adj" fmla="val 5714"/>
            </a:avLst>
          </a:prstGeom>
          <a:solidFill>
            <a:srgbClr val="E8F5F0"/>
          </a:solidFill>
          <a:ln w="7620">
            <a:solidFill>
              <a:srgbClr val="2E7D5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36976" y="2048256"/>
            <a:ext cx="45720" cy="640080"/>
          </a:xfrm>
          <a:prstGeom prst="rect">
            <a:avLst/>
          </a:prstGeom>
          <a:solidFill>
            <a:srgbClr val="2E7D5E"/>
          </a:solidFill>
          <a:ln/>
        </p:spPr>
      </p:sp>
      <p:sp>
        <p:nvSpPr>
          <p:cNvPr id="37" name="Text 35"/>
          <p:cNvSpPr/>
          <p:nvPr/>
        </p:nvSpPr>
        <p:spPr>
          <a:xfrm>
            <a:off x="3328416" y="208483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Клиентские данные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28416" y="22860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Сегменты, профиль, поведение,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жизненный цикл, LTV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36976" y="2761488"/>
            <a:ext cx="2688336" cy="640080"/>
          </a:xfrm>
          <a:prstGeom prst="roundRect">
            <a:avLst>
              <a:gd name="adj" fmla="val 5714"/>
            </a:avLst>
          </a:prstGeom>
          <a:solidFill>
            <a:srgbClr val="E8F5F0"/>
          </a:solidFill>
          <a:ln w="7620">
            <a:solidFill>
              <a:srgbClr val="2E7D5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36976" y="2761488"/>
            <a:ext cx="45720" cy="640080"/>
          </a:xfrm>
          <a:prstGeom prst="rect">
            <a:avLst/>
          </a:prstGeom>
          <a:solidFill>
            <a:srgbClr val="2E7D5E"/>
          </a:solidFill>
          <a:ln/>
        </p:spPr>
      </p:sp>
      <p:sp>
        <p:nvSpPr>
          <p:cNvPr id="41" name="Text 39"/>
          <p:cNvSpPr/>
          <p:nvPr/>
        </p:nvSpPr>
        <p:spPr>
          <a:xfrm>
            <a:off x="3328416" y="279806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Удовлетворённость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28416" y="29992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NPS, CSAT, жалобы,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обратная связь по каналам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236976" y="3474720"/>
            <a:ext cx="2688336" cy="640080"/>
          </a:xfrm>
          <a:prstGeom prst="roundRect">
            <a:avLst>
              <a:gd name="adj" fmla="val 5714"/>
            </a:avLst>
          </a:prstGeom>
          <a:solidFill>
            <a:srgbClr val="E8F5F0"/>
          </a:solidFill>
          <a:ln w="7620">
            <a:solidFill>
              <a:srgbClr val="2E7D5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36976" y="3474720"/>
            <a:ext cx="45720" cy="640080"/>
          </a:xfrm>
          <a:prstGeom prst="rect">
            <a:avLst/>
          </a:prstGeom>
          <a:solidFill>
            <a:srgbClr val="2E7D5E"/>
          </a:solidFill>
          <a:ln/>
        </p:spPr>
      </p:sp>
      <p:sp>
        <p:nvSpPr>
          <p:cNvPr id="45" name="Text 43"/>
          <p:cNvSpPr/>
          <p:nvPr/>
        </p:nvSpPr>
        <p:spPr>
          <a:xfrm>
            <a:off x="3328416" y="351129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Коммуникации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рекомендации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328416" y="37124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Кампании, отклик, конверсия,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эффективность рекомендаций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255264" y="4242816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19856" y="4206240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Покрытие в BI: Покрыто мало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089904" y="713232"/>
            <a:ext cx="2871216" cy="3877056"/>
          </a:xfrm>
          <a:prstGeom prst="roundRect">
            <a:avLst>
              <a:gd name="adj" fmla="val 191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89904" y="713232"/>
            <a:ext cx="2871216" cy="566928"/>
          </a:xfrm>
          <a:prstGeom prst="roundRect">
            <a:avLst>
              <a:gd name="adj" fmla="val 9677"/>
            </a:avLst>
          </a:prstGeom>
          <a:solidFill>
            <a:srgbClr val="1A4A3A"/>
          </a:solidFill>
          <a:ln/>
        </p:spPr>
      </p:sp>
      <p:sp>
        <p:nvSpPr>
          <p:cNvPr id="51" name="Shape 49"/>
          <p:cNvSpPr/>
          <p:nvPr/>
        </p:nvSpPr>
        <p:spPr>
          <a:xfrm>
            <a:off x="6089904" y="1024128"/>
            <a:ext cx="2871216" cy="256032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52" name="Text 50"/>
          <p:cNvSpPr/>
          <p:nvPr/>
        </p:nvSpPr>
        <p:spPr>
          <a:xfrm>
            <a:off x="6199632" y="758952"/>
            <a:ext cx="2688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ПРОЦЕССЫ И РЫНОК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199632" y="987552"/>
            <a:ext cx="2688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8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Драйверы результата и внешний контекст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181344" y="1335024"/>
            <a:ext cx="2688336" cy="896112"/>
          </a:xfrm>
          <a:prstGeom prst="roundRect">
            <a:avLst>
              <a:gd name="adj" fmla="val 4082"/>
            </a:avLst>
          </a:prstGeom>
          <a:solidFill>
            <a:srgbClr val="E8F5F0"/>
          </a:solidFill>
          <a:ln w="7620">
            <a:solidFill>
              <a:srgbClr val="2E7D5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81344" y="1335024"/>
            <a:ext cx="45720" cy="896112"/>
          </a:xfrm>
          <a:prstGeom prst="rect">
            <a:avLst/>
          </a:prstGeom>
          <a:solidFill>
            <a:srgbClr val="2E7D5E"/>
          </a:solidFill>
          <a:ln/>
        </p:spPr>
      </p:sp>
      <p:sp>
        <p:nvSpPr>
          <p:cNvPr id="56" name="Text 54"/>
          <p:cNvSpPr/>
          <p:nvPr/>
        </p:nvSpPr>
        <p:spPr>
          <a:xfrm>
            <a:off x="6272784" y="137160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Процессные метрики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272784" y="157276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Воронки, конверсии по этапам,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цикла, узкие места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181344" y="2304288"/>
            <a:ext cx="2688336" cy="896112"/>
          </a:xfrm>
          <a:prstGeom prst="roundRect">
            <a:avLst>
              <a:gd name="adj" fmla="val 4082"/>
            </a:avLst>
          </a:prstGeom>
          <a:solidFill>
            <a:srgbClr val="E8F5F0"/>
          </a:solidFill>
          <a:ln w="7620">
            <a:solidFill>
              <a:srgbClr val="2E7D5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181344" y="2304288"/>
            <a:ext cx="45720" cy="896112"/>
          </a:xfrm>
          <a:prstGeom prst="rect">
            <a:avLst/>
          </a:prstGeom>
          <a:solidFill>
            <a:srgbClr val="2E7D5E"/>
          </a:solidFill>
          <a:ln/>
        </p:spPr>
      </p:sp>
      <p:sp>
        <p:nvSpPr>
          <p:cNvPr id="60" name="Text 58"/>
          <p:cNvSpPr/>
          <p:nvPr/>
        </p:nvSpPr>
        <p:spPr>
          <a:xfrm>
            <a:off x="6272784" y="234086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Операционные метрики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272784" y="254203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SLA, инциденты, нагрузка,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операции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181344" y="3273552"/>
            <a:ext cx="2688336" cy="896112"/>
          </a:xfrm>
          <a:prstGeom prst="roundRect">
            <a:avLst>
              <a:gd name="adj" fmla="val 4082"/>
            </a:avLst>
          </a:prstGeom>
          <a:solidFill>
            <a:srgbClr val="E8F5F0"/>
          </a:solidFill>
          <a:ln w="7620">
            <a:solidFill>
              <a:srgbClr val="2E7D5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181344" y="3273552"/>
            <a:ext cx="45720" cy="896112"/>
          </a:xfrm>
          <a:prstGeom prst="rect">
            <a:avLst/>
          </a:prstGeom>
          <a:solidFill>
            <a:srgbClr val="2E7D5E"/>
          </a:solidFill>
          <a:ln/>
        </p:spPr>
      </p:sp>
      <p:sp>
        <p:nvSpPr>
          <p:cNvPr id="64" name="Text 62"/>
          <p:cNvSpPr/>
          <p:nvPr/>
        </p:nvSpPr>
        <p:spPr>
          <a:xfrm>
            <a:off x="6272784" y="331012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Внешние данные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272784" y="3511296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Бенчмарк с конкурентами,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рынка, отраслевые ставки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199632" y="4297680"/>
            <a:ext cx="118872" cy="11887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64224" y="4261104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Покрытие в BI: Покрыто частично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91440"/>
            <a:ext cx="8741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закрыть потребность: от отчётов к аналитике под запрос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01168" y="438912"/>
            <a:ext cx="8741664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512064"/>
            <a:ext cx="8741664" cy="365760"/>
          </a:xfrm>
          <a:prstGeom prst="roundRect">
            <a:avLst>
              <a:gd name="adj" fmla="val 12500"/>
            </a:avLst>
          </a:prstGeom>
          <a:solidFill>
            <a:srgbClr val="FDECEA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512064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Закрыть все потребности отдельными отчётами невозможно. Наблюдать за каждой аналитикой по отдельности — прошлый век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" y="969264"/>
            <a:ext cx="8741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руководитель разбирается с продуктом «Вклады»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1188720"/>
            <a:ext cx="4297680" cy="1883664"/>
          </a:xfrm>
          <a:prstGeom prst="roundRect">
            <a:avLst>
              <a:gd name="adj" fmla="val 2913"/>
            </a:avLst>
          </a:prstGeom>
          <a:solidFill>
            <a:srgbClr val="F7F7F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" y="1188720"/>
            <a:ext cx="4297680" cy="292608"/>
          </a:xfrm>
          <a:prstGeom prst="roundRect">
            <a:avLst>
              <a:gd name="adj" fmla="val 18750"/>
            </a:avLst>
          </a:prstGeom>
          <a:solidFill>
            <a:srgbClr val="C0392B"/>
          </a:solidFill>
          <a:ln/>
        </p:spPr>
      </p:sp>
      <p:sp>
        <p:nvSpPr>
          <p:cNvPr id="11" name="Shape 9"/>
          <p:cNvSpPr/>
          <p:nvPr/>
        </p:nvSpPr>
        <p:spPr>
          <a:xfrm>
            <a:off x="201168" y="1353312"/>
            <a:ext cx="4297680" cy="12801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" y="1188720"/>
            <a:ext cx="4078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IS — сейчас: аналитика разбросана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184" y="1618488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1618488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48640" y="15727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Открывает финансовый отчёт → объём портфеля, доходность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9184" y="1901952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" y="1901952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48640" y="18562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Идёт в другую систему → воронка кампейнинга по вкладам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9184" y="2185416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2185416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48640" y="21396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Ищет третий отчёт → удовлетворённость и жалобы клиентов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9184" y="2468880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2468880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48640" y="24231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Просит аналитика → отток и сегменты вкладчиков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9184" y="2752344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2752344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48640" y="27066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→ сводит всё вручную, чтобы увидеть картину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35424" y="1920240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4901184" y="1188720"/>
            <a:ext cx="4041648" cy="1883664"/>
          </a:xfrm>
          <a:prstGeom prst="roundRect">
            <a:avLst>
              <a:gd name="adj" fmla="val 2913"/>
            </a:avLst>
          </a:prstGeom>
          <a:solidFill>
            <a:srgbClr val="E8F5F0"/>
          </a:solidFill>
          <a:ln w="15240">
            <a:solidFill>
              <a:srgbClr val="2E7D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01184" y="1188720"/>
            <a:ext cx="4041648" cy="292608"/>
          </a:xfrm>
          <a:prstGeom prst="roundRect">
            <a:avLst>
              <a:gd name="adj" fmla="val 18750"/>
            </a:avLst>
          </a:prstGeom>
          <a:solidFill>
            <a:srgbClr val="1A4A3A"/>
          </a:solidFill>
          <a:ln/>
        </p:spPr>
      </p:sp>
      <p:sp>
        <p:nvSpPr>
          <p:cNvPr id="31" name="Shape 29"/>
          <p:cNvSpPr/>
          <p:nvPr/>
        </p:nvSpPr>
        <p:spPr>
          <a:xfrm>
            <a:off x="4901184" y="1353312"/>
            <a:ext cx="4041648" cy="128016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32" name="Text 30"/>
          <p:cNvSpPr/>
          <p:nvPr/>
        </p:nvSpPr>
        <p:spPr>
          <a:xfrm>
            <a:off x="5010912" y="1188720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— целевое: одна точка входа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10912" y="1554480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Запрос: «Покажи вклады»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10912" y="1792224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собирает в одном экране: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Финансы — портфель, доходность, ставка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Воронка — заявки, конверсия, кампании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Клиенты — сегменты, отток, LTV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Удовлетворённость — NPS, жалобы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Бенчмарк — позиция против рынка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01168" y="3200400"/>
            <a:ext cx="8741664" cy="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1168" y="3273552"/>
            <a:ext cx="4297680" cy="1700784"/>
          </a:xfrm>
          <a:prstGeom prst="roundRect">
            <a:avLst>
              <a:gd name="adj" fmla="val 3226"/>
            </a:avLst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0896" y="3346704"/>
            <a:ext cx="4078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путь через отчёты тупиковый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10896" y="3584448"/>
            <a:ext cx="4078224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Комбинаций сущность × метрика × разрез × период — тысячи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Каждый отчёт — недели разработки и согласования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Половина отчётов открывается один раз и забывается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Поддерживать растущий каталог невозможно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Руководитель всё равно сводит вручную в Excel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45152" y="3273552"/>
            <a:ext cx="4297680" cy="1700784"/>
          </a:xfrm>
          <a:prstGeom prst="roundRect">
            <a:avLst>
              <a:gd name="adj" fmla="val 3226"/>
            </a:avLst>
          </a:prstGeom>
          <a:solidFill>
            <a:srgbClr val="E8F5F0"/>
          </a:solidFill>
          <a:ln w="15240">
            <a:solidFill>
              <a:srgbClr val="2E7D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346704"/>
            <a:ext cx="4078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нужно чтобы собирать аналитику под запрос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54880" y="3584448"/>
            <a:ext cx="4078224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Онтология сущностей — система знает что «вклад» связан с портфелем, воронкой, NPS и оттоком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Семантический слой — единые формулы метрик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10–15 шаблонов визуализации на тип сущности вместо 1000 отчётов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AI-агент собирает и объясняет ответ на лету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2026-08-13T14:02:48Z</dcterms:created>
  <dcterms:modified xsi:type="dcterms:W3CDTF">2026-08-13T14:02:48Z</dcterms:modified>
</cp:coreProperties>
</file>