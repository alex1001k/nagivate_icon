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Титул" id="{84a64894-7791-069e-fd35-d52b3b815003}">
          <p14:sldIdLst>
            <p14:sldId id="256"/>
          </p14:sldIdLst>
        </p14:section>
        <p14:section name="Методика" id="{15a414c2-ab4e-238d-2f7c-52e4262a6947}">
          <p14:sldIdLst>
            <p14:sldId id="257"/>
          </p14:sldIdLst>
        </p14:section>
        <p14:section name="Пример" id="{70abc25f-433a-1d3f-e055-f239b48c99fc}">
          <p14:sldIdLst>
            <p14:sldId id="258"/>
          </p14:sldIdLst>
        </p14:section>
        <p14:section name="Агенты" id="{47cd0a37-7aea-a29b-2055-095fa42ca4cc}">
          <p14:sldIdLst>
            <p14:sldId id="259"/>
          </p14:sldIdLst>
        </p14:section>
        <p14:section name="Хранение" id="{23b21df4-8142-318c-1aba-7749ffe30082}">
          <p14:sldIdLst>
            <p14:sldId id="260"/>
          </p14:sldIdLst>
        </p14:section>
        <p14:section name="Пилот" id="{346cce33-5a78-e09c-4ae6-7c0ee1ef30f1}">
          <p14:sldIdLst>
            <p14:sldId id="26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2000" dirty="0">
                <a:solidFill>
                  <a:schemeClr val="bg1"/>
                </a:solidFill>
              </a:defRPr>
            </a:lvl1pPr>
          </a:lstStyle>
          <a:p>
            <a:pPr indent="0" marL="0">
              <a:buNone/>
            </a:pPr>
            <a:endParaRPr lang="en-US" sz="20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3200" dirty="0"/>
          </a:p>
        </p:txBody>
      </p:sp>
      <p:sp>
        <p:nvSpPr>
          <p:cNvPr id="3" name="Text 0"/>
          <p:cNvSpPr/>
          <p:nvPr/>
        </p:nvSpPr>
        <p:spPr>
          <a:xfrm>
            <a:off x="548640" y="640080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3"/>
                </a:solidFill>
              </a:rPr>
              <a:t>Дерево метрик: как строить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920240"/>
            <a:ext cx="105156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400" b="1" dirty="0">
                <a:solidFill>
                  <a:schemeClr val="bg1"/>
                </a:solidFill>
              </a:rPr>
              <a:t>Дерево метрик: как строить и какие агенты нужны</a:t>
            </a:r>
            <a:endParaRPr lang="en-US" sz="44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3749040"/>
            <a:ext cx="10058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Методика, хранение, агенты и пилот на одном продукте</a:t>
            </a:r>
            <a:endParaRPr lang="en-US" sz="2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строим дерево: 5 шагов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417320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1</a:t>
            </a:r>
            <a:endParaRPr lang="en-US" sz="3200" dirty="0"/>
          </a:p>
        </p:txBody>
      </p:sp>
      <p:sp>
        <p:nvSpPr>
          <p:cNvPr id="4" name="Text 2"/>
          <p:cNvSpPr txBox="1"/>
          <p:nvPr/>
        </p:nvSpPr>
        <p:spPr>
          <a:xfrm>
            <a:off x="1234440" y="1435608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Верхняя метрика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34440" y="1801368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То, что важно Лидеру: доход или прибыль продукта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313432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2</a:t>
            </a:r>
            <a:endParaRPr lang="en-US" sz="3200" dirty="0"/>
          </a:p>
        </p:txBody>
      </p:sp>
      <p:sp>
        <p:nvSpPr>
          <p:cNvPr id="7" name="Text 5"/>
          <p:cNvSpPr txBox="1"/>
          <p:nvPr/>
        </p:nvSpPr>
        <p:spPr>
          <a:xfrm>
            <a:off x="1234440" y="2331720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Разложить формулой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234440" y="2697480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Только × и + / −: каждая ветка — расчёт, а не ассоциация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48640" y="3209544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3</a:t>
            </a:r>
            <a:endParaRPr lang="en-US" sz="3200" dirty="0"/>
          </a:p>
        </p:txBody>
      </p:sp>
      <p:sp>
        <p:nvSpPr>
          <p:cNvPr id="10" name="Text 8"/>
          <p:cNvSpPr txBox="1"/>
          <p:nvPr/>
        </p:nvSpPr>
        <p:spPr>
          <a:xfrm>
            <a:off x="1234440" y="3227832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Дойти до листьев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34440" y="3593592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Операционные метрики, на которые влияют действия команды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105656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4</a:t>
            </a:r>
            <a:endParaRPr lang="en-US" sz="3200" dirty="0"/>
          </a:p>
        </p:txBody>
      </p:sp>
      <p:sp>
        <p:nvSpPr>
          <p:cNvPr id="13" name="Text 11"/>
          <p:cNvSpPr txBox="1"/>
          <p:nvPr/>
        </p:nvSpPr>
        <p:spPr>
          <a:xfrm>
            <a:off x="1234440" y="4123944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Лист = карточка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1234440" y="4489704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Каждый лист — эталонная метрика с владельцем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48640" y="5001768"/>
            <a:ext cx="5486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200" b="1" dirty="0">
                <a:solidFill>
                  <a:schemeClr val="accent1"/>
                </a:solidFill>
              </a:rPr>
              <a:t>5</a:t>
            </a:r>
            <a:endParaRPr lang="en-US" sz="3200" dirty="0"/>
          </a:p>
        </p:txBody>
      </p:sp>
      <p:sp>
        <p:nvSpPr>
          <p:cNvPr id="16" name="Text 14"/>
          <p:cNvSpPr txBox="1"/>
          <p:nvPr/>
        </p:nvSpPr>
        <p:spPr>
          <a:xfrm>
            <a:off x="1234440" y="50200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b="1" dirty="0">
                <a:solidFill>
                  <a:schemeClr val="tx1"/>
                </a:solidFill>
              </a:rPr>
              <a:t>Проверить сходимость</a:t>
            </a:r>
            <a:endParaRPr lang="en-US" sz="1700" dirty="0"/>
          </a:p>
        </p:txBody>
      </p:sp>
      <p:sp>
        <p:nvSpPr>
          <p:cNvPr id="17" name="Text 15"/>
          <p:cNvSpPr txBox="1"/>
          <p:nvPr/>
        </p:nvSpPr>
        <p:spPr>
          <a:xfrm>
            <a:off x="1234440" y="5385816"/>
            <a:ext cx="5760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Пересчёт снизу вверх даёт верхнюю метрику</a:t>
            </a:r>
            <a:endParaRPr lang="en-US" sz="1400" dirty="0"/>
          </a:p>
        </p:txBody>
      </p:sp>
      <p:sp>
        <p:nvSpPr>
          <p:cNvPr id="18" name="rules"/>
          <p:cNvSpPr/>
          <p:nvPr/>
        </p:nvSpPr>
        <p:spPr>
          <a:xfrm>
            <a:off x="7406640" y="1417320"/>
            <a:ext cx="4236415" cy="420624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26680" y="169164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Ориентиры</a:t>
            </a:r>
            <a:endParaRPr lang="en-US" sz="1800" dirty="0"/>
          </a:p>
        </p:txBody>
      </p:sp>
      <p:sp>
        <p:nvSpPr>
          <p:cNvPr id="20" name="Text 18"/>
          <p:cNvSpPr txBox="1"/>
          <p:nvPr/>
        </p:nvSpPr>
        <p:spPr>
          <a:xfrm>
            <a:off x="7726680" y="2240280"/>
            <a:ext cx="35661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3–4 уровня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15–30 листьев на продукт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Дерево утверждает владелец продукта</a:t>
            </a:r>
            <a:endParaRPr lang="en-US" sz="1600" dirty="0"/>
          </a:p>
          <a:p>
            <a:pPr marL="342900" indent="-342900">
              <a:spcAft>
                <a:spcPts val="1400"/>
              </a:spcAft>
              <a:buSzPct val="100000"/>
              <a:buChar char="•"/>
            </a:pPr>
            <a:r>
              <a:rPr lang="en-US" sz="1600" dirty="0">
                <a:solidFill>
                  <a:schemeClr val="tx1"/>
                </a:solidFill>
              </a:rPr>
              <a:t>Агент предлагает, человек утверждает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Пример: дерево продукта и инсайт</a:t>
            </a:r>
            <a:endParaRPr lang="en-US" sz="3200" dirty="0"/>
          </a:p>
        </p:txBody>
      </p:sp>
      <p:sp>
        <p:nvSpPr>
          <p:cNvPr id="3" name="r0"/>
          <p:cNvSpPr/>
          <p:nvPr/>
        </p:nvSpPr>
        <p:spPr>
          <a:xfrm flipH="1">
            <a:off x="1691640" y="2240280"/>
            <a:ext cx="2240280" cy="5029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4" name="b00"/>
          <p:cNvSpPr/>
          <p:nvPr/>
        </p:nvSpPr>
        <p:spPr>
          <a:xfrm flipH="1">
            <a:off x="114300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5" name="b01"/>
          <p:cNvSpPr/>
          <p:nvPr/>
        </p:nvSpPr>
        <p:spPr>
          <a:xfrm>
            <a:off x="169164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6" name="r1"/>
          <p:cNvSpPr/>
          <p:nvPr/>
        </p:nvSpPr>
        <p:spPr>
          <a:xfrm>
            <a:off x="3931920" y="2240280"/>
            <a:ext cx="0" cy="5029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7" name="b10"/>
          <p:cNvSpPr/>
          <p:nvPr/>
        </p:nvSpPr>
        <p:spPr>
          <a:xfrm flipH="1">
            <a:off x="338328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8" name="b11"/>
          <p:cNvSpPr/>
          <p:nvPr/>
        </p:nvSpPr>
        <p:spPr>
          <a:xfrm>
            <a:off x="393192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9" name="r2"/>
          <p:cNvSpPr/>
          <p:nvPr/>
        </p:nvSpPr>
        <p:spPr>
          <a:xfrm>
            <a:off x="3931920" y="2240280"/>
            <a:ext cx="2240280" cy="5029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10" name="b20"/>
          <p:cNvSpPr/>
          <p:nvPr/>
        </p:nvSpPr>
        <p:spPr>
          <a:xfrm flipH="1">
            <a:off x="562356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11" name="b21"/>
          <p:cNvSpPr/>
          <p:nvPr/>
        </p:nvSpPr>
        <p:spPr>
          <a:xfrm>
            <a:off x="6172200" y="3474720"/>
            <a:ext cx="548640" cy="731520"/>
          </a:xfrm>
          <a:prstGeom prst="line">
            <a:avLst/>
          </a:prstGeom>
          <a:noFill/>
          <a:ln w="19050">
            <a:solidFill>
              <a:srgbClr val="D5DDD8"/>
            </a:solidFill>
            <a:prstDash val="solid"/>
          </a:ln>
        </p:spPr>
      </p:sp>
      <p:sp>
        <p:nvSpPr>
          <p:cNvPr id="12" name="root"/>
          <p:cNvSpPr/>
          <p:nvPr/>
        </p:nvSpPr>
        <p:spPr>
          <a:xfrm>
            <a:off x="2651760" y="1463040"/>
            <a:ext cx="2560320" cy="77724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2651760" y="1463040"/>
            <a:ext cx="25603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Доход продукта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bg1"/>
                </a:solidFill>
              </a:rPr>
              <a:t>клиенты × остаток × маржа</a:t>
            </a:r>
            <a:endParaRPr lang="en-US" sz="1300" dirty="0"/>
          </a:p>
        </p:txBody>
      </p:sp>
      <p:sp>
        <p:nvSpPr>
          <p:cNvPr id="14" name="l10"/>
          <p:cNvSpPr/>
          <p:nvPr/>
        </p:nvSpPr>
        <p:spPr>
          <a:xfrm>
            <a:off x="685800" y="2743200"/>
            <a:ext cx="2011680" cy="73152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Клиенты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приток − отток</a:t>
            </a:r>
            <a:endParaRPr lang="en-US" sz="1300" dirty="0"/>
          </a:p>
        </p:txBody>
      </p:sp>
      <p:sp>
        <p:nvSpPr>
          <p:cNvPr id="16" name="leaf00"/>
          <p:cNvSpPr/>
          <p:nvPr/>
        </p:nvSpPr>
        <p:spPr>
          <a:xfrm>
            <a:off x="621792" y="4206240"/>
            <a:ext cx="1042416" cy="566928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62179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Приток</a:t>
            </a:r>
            <a:endParaRPr lang="en-US" sz="1300" dirty="0"/>
          </a:p>
        </p:txBody>
      </p:sp>
      <p:sp>
        <p:nvSpPr>
          <p:cNvPr id="18" name="leaf01"/>
          <p:cNvSpPr/>
          <p:nvPr/>
        </p:nvSpPr>
        <p:spPr>
          <a:xfrm>
            <a:off x="1719072" y="4206240"/>
            <a:ext cx="1042416" cy="566928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171907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Отток</a:t>
            </a:r>
            <a:endParaRPr lang="en-US" sz="1300" dirty="0"/>
          </a:p>
        </p:txBody>
      </p:sp>
      <p:sp>
        <p:nvSpPr>
          <p:cNvPr id="20" name="l11"/>
          <p:cNvSpPr/>
          <p:nvPr/>
        </p:nvSpPr>
        <p:spPr>
          <a:xfrm>
            <a:off x="2926080" y="2743200"/>
            <a:ext cx="2011680" cy="73152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292608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Средний остаток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пополнения − выводы</a:t>
            </a:r>
            <a:endParaRPr lang="en-US" sz="1300" dirty="0"/>
          </a:p>
        </p:txBody>
      </p:sp>
      <p:sp>
        <p:nvSpPr>
          <p:cNvPr id="22" name="leaf10"/>
          <p:cNvSpPr/>
          <p:nvPr/>
        </p:nvSpPr>
        <p:spPr>
          <a:xfrm>
            <a:off x="2862072" y="4206240"/>
            <a:ext cx="1042416" cy="566928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86207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Пополнения</a:t>
            </a:r>
            <a:endParaRPr lang="en-US" sz="1300" dirty="0"/>
          </a:p>
        </p:txBody>
      </p:sp>
      <p:sp>
        <p:nvSpPr>
          <p:cNvPr id="24" name="leaf11"/>
          <p:cNvSpPr/>
          <p:nvPr/>
        </p:nvSpPr>
        <p:spPr>
          <a:xfrm>
            <a:off x="3959352" y="4206240"/>
            <a:ext cx="1042416" cy="566928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95935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Выводы</a:t>
            </a:r>
            <a:endParaRPr lang="en-US" sz="1300" dirty="0"/>
          </a:p>
        </p:txBody>
      </p:sp>
      <p:sp>
        <p:nvSpPr>
          <p:cNvPr id="26" name="l12"/>
          <p:cNvSpPr/>
          <p:nvPr/>
        </p:nvSpPr>
        <p:spPr>
          <a:xfrm>
            <a:off x="5166360" y="2743200"/>
            <a:ext cx="2011680" cy="73152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5166360" y="2743200"/>
            <a:ext cx="20116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Маржа</a:t>
            </a:r>
            <a:endParaRPr lang="en-US" sz="1300" dirty="0"/>
          </a:p>
          <a:p>
            <a:pPr algn="ctr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комиссия − расходы</a:t>
            </a:r>
            <a:endParaRPr lang="en-US" sz="1300" dirty="0"/>
          </a:p>
        </p:txBody>
      </p:sp>
      <p:sp>
        <p:nvSpPr>
          <p:cNvPr id="28" name="leaf20"/>
          <p:cNvSpPr/>
          <p:nvPr/>
        </p:nvSpPr>
        <p:spPr>
          <a:xfrm>
            <a:off x="5102352" y="4206240"/>
            <a:ext cx="1042416" cy="566928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510235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Комиссия</a:t>
            </a:r>
            <a:endParaRPr lang="en-US" sz="1300" dirty="0"/>
          </a:p>
        </p:txBody>
      </p:sp>
      <p:sp>
        <p:nvSpPr>
          <p:cNvPr id="30" name="leaf21"/>
          <p:cNvSpPr/>
          <p:nvPr/>
        </p:nvSpPr>
        <p:spPr>
          <a:xfrm>
            <a:off x="6199632" y="4206240"/>
            <a:ext cx="1042416" cy="566928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199632" y="4206240"/>
            <a:ext cx="104241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Расходы</a:t>
            </a:r>
            <a:endParaRPr lang="en-US" sz="1300" dirty="0"/>
          </a:p>
        </p:txBody>
      </p:sp>
      <p:sp>
        <p:nvSpPr>
          <p:cNvPr id="32" name="Text 30"/>
          <p:cNvSpPr txBox="1"/>
          <p:nvPr/>
        </p:nvSpPr>
        <p:spPr>
          <a:xfrm>
            <a:off x="1508760" y="4846320"/>
            <a:ext cx="1463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▲ ключевой лист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548640" y="5166360"/>
            <a:ext cx="6766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accent3"/>
                </a:solidFill>
              </a:rPr>
              <a:t>Условный пример, реальное дерево утверждается с владельцем продукта</a:t>
            </a:r>
            <a:endParaRPr lang="en-US" sz="1100" dirty="0"/>
          </a:p>
        </p:txBody>
      </p:sp>
      <p:sp>
        <p:nvSpPr>
          <p:cNvPr id="34" name="insight"/>
          <p:cNvSpPr/>
          <p:nvPr/>
        </p:nvSpPr>
        <p:spPr>
          <a:xfrm>
            <a:off x="7818120" y="1463040"/>
            <a:ext cx="3824935" cy="397764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92440" y="1691640"/>
            <a:ext cx="3276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6"/>
                </a:solidFill>
              </a:rPr>
              <a:t>Что получает Лидер</a:t>
            </a:r>
            <a:endParaRPr lang="en-US" sz="1500" dirty="0"/>
          </a:p>
        </p:txBody>
      </p:sp>
      <p:sp>
        <p:nvSpPr>
          <p:cNvPr id="36" name="Text 34"/>
          <p:cNvSpPr txBox="1"/>
          <p:nvPr/>
        </p:nvSpPr>
        <p:spPr>
          <a:xfrm>
            <a:off x="8092440" y="2194560"/>
            <a:ext cx="3276295" cy="3017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Доход ниже плана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Главная причина — отток клиентов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Гипотеза: удерживающее предложение</a:t>
            </a:r>
            <a:endParaRPr lang="en-US" sz="16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600" dirty="0">
                <a:solidFill>
                  <a:schemeClr val="bg1"/>
                </a:solidFill>
              </a:rPr>
              <a:t>Эффект считается по формулам дерева до запуска</a:t>
            </a:r>
            <a:endParaRPr lang="en-US" sz="1600" dirty="0"/>
          </a:p>
        </p:txBody>
      </p:sp>
      <p:sp>
        <p:nvSpPr>
          <p:cNvPr id="37" name="q"/>
          <p:cNvSpPr/>
          <p:nvPr/>
        </p:nvSpPr>
        <p:spPr>
          <a:xfrm>
            <a:off x="548640" y="5577840"/>
            <a:ext cx="11094415" cy="59436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822960" y="5577840"/>
            <a:ext cx="1054577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Не 100 показателей россыпью, а один ответ: какой лист двигает результат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Какие агенты нужны</a:t>
            </a:r>
            <a:endParaRPr lang="en-US" sz="3200" dirty="0"/>
          </a:p>
        </p:txBody>
      </p:sp>
      <p:graphicFrame>
        <p:nvGraphicFramePr>
          <p:cNvPr id="5" name="agent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371600"/>
          <a:ext cx="11094415" cy="914400"/>
        </p:xfrm>
        <a:graphic>
          <a:graphicData uri="http://schemas.openxmlformats.org/drawingml/2006/table">
            <a:tbl>
              <a:tblPr/>
              <a:tblGrid>
                <a:gridCol w="2468880"/>
                <a:gridCol w="4937760"/>
                <a:gridCol w="3685032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Агент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Что делает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Результат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Документатор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Читает скрипты витрин и отчётов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Черновики карточек листьев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Архитектор дерева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Предлагает связи между листьями, проверяет сходимость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Черновик дерева продукта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Сверщик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Сравнивает лист в разных отчётах с эталоном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Список расхождений и причин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Аналитик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Считает вклад листьев и отклонения от плана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Топ-3 ключевых листа и инсайт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bg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Агент гипотез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E4B36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Считает эффект мероприятия по формулам дерева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Оценка эффекта для бэклога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4" name="Text 1"/>
          <p:cNvSpPr txBox="1"/>
          <p:nvPr/>
        </p:nvSpPr>
        <p:spPr>
          <a:xfrm>
            <a:off x="548640" y="5440680"/>
            <a:ext cx="110944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Скрипты расчёта не копируются в агента.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Они живут в витрине: агент читает их для описания и вызывает эталон через MCP. Всё, что создаёт агент, утверждает человек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Как хранить и рисовать: дерево — это данные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371600"/>
            <a:ext cx="5120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Таблица связей</a:t>
            </a:r>
            <a:endParaRPr lang="en-US" sz="1800" dirty="0"/>
          </a:p>
        </p:txBody>
      </p:sp>
      <p:graphicFrame>
        <p:nvGraphicFramePr>
          <p:cNvPr id="6" name="link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874520"/>
          <a:ext cx="5120640" cy="914400"/>
        </p:xfrm>
        <a:graphic>
          <a:graphicData uri="http://schemas.openxmlformats.org/drawingml/2006/table">
            <a:tbl>
              <a:tblPr/>
              <a:tblGrid>
                <a:gridCol w="2011680"/>
                <a:gridCol w="2011680"/>
                <a:gridCol w="109728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Родитель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Потомок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chemeClr val="accent3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Операция</a:t>
                      </a:r>
                      <a:endParaRPr lang="en-US" sz="13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Доход продукта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Клиенты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Доход продукта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Средний остаток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×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Клиенты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Приток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+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Клиенты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500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Отток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500" b="1" dirty="0">
                          <a:solidFill>
                            <a:schemeClr val="tx1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−</a:t>
                      </a:r>
                      <a:endParaRPr lang="en-US" sz="15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137160" marR="137160" marT="73152" marB="73152" anchor="ctr">
                    <a:lnL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D5DD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flow0"/>
          <p:cNvSpPr/>
          <p:nvPr/>
        </p:nvSpPr>
        <p:spPr>
          <a:xfrm>
            <a:off x="6217920" y="1371600"/>
            <a:ext cx="5425135" cy="10972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6492240" y="137160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Каталог</a:t>
            </a:r>
            <a:endParaRPr lang="en-US" sz="1700" dirty="0"/>
          </a:p>
        </p:txBody>
      </p:sp>
      <p:sp>
        <p:nvSpPr>
          <p:cNvPr id="7" name="Text 4"/>
          <p:cNvSpPr txBox="1"/>
          <p:nvPr/>
        </p:nvSpPr>
        <p:spPr>
          <a:xfrm>
            <a:off x="7863840" y="137160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Хранит листья и таблицу связей</a:t>
            </a:r>
            <a:endParaRPr lang="en-US" sz="1500" dirty="0"/>
          </a:p>
        </p:txBody>
      </p:sp>
      <p:sp>
        <p:nvSpPr>
          <p:cNvPr id="8" name="flow1"/>
          <p:cNvSpPr/>
          <p:nvPr/>
        </p:nvSpPr>
        <p:spPr>
          <a:xfrm>
            <a:off x="6217920" y="2697480"/>
            <a:ext cx="5425135" cy="1097280"/>
          </a:xfrm>
          <a:prstGeom prst="rect">
            <a:avLst/>
          </a:prstGeom>
          <a:solidFill>
            <a:srgbClr val="F1F4F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92240" y="269748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accent1"/>
                </a:solidFill>
              </a:rPr>
              <a:t>BI</a:t>
            </a:r>
            <a:endParaRPr lang="en-US" sz="1700" dirty="0"/>
          </a:p>
        </p:txBody>
      </p:sp>
      <p:sp>
        <p:nvSpPr>
          <p:cNvPr id="10" name="Text 7"/>
          <p:cNvSpPr txBox="1"/>
          <p:nvPr/>
        </p:nvSpPr>
        <p:spPr>
          <a:xfrm>
            <a:off x="7863840" y="269748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Рисует дерево автоматически: визуал декомпозиции или отдельная страница</a:t>
            </a:r>
            <a:endParaRPr lang="en-US" sz="1500" dirty="0"/>
          </a:p>
        </p:txBody>
      </p:sp>
      <p:sp>
        <p:nvSpPr>
          <p:cNvPr id="11" name="flow2"/>
          <p:cNvSpPr/>
          <p:nvPr/>
        </p:nvSpPr>
        <p:spPr>
          <a:xfrm>
            <a:off x="6217920" y="4023360"/>
            <a:ext cx="5425135" cy="109728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492240" y="4023360"/>
            <a:ext cx="12801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chemeClr val="bg1"/>
                </a:solidFill>
              </a:rPr>
              <a:t>Агент</a:t>
            </a:r>
            <a:endParaRPr lang="en-US" sz="1700" dirty="0"/>
          </a:p>
        </p:txBody>
      </p:sp>
      <p:sp>
        <p:nvSpPr>
          <p:cNvPr id="13" name="Text 10"/>
          <p:cNvSpPr txBox="1"/>
          <p:nvPr/>
        </p:nvSpPr>
        <p:spPr>
          <a:xfrm>
            <a:off x="7863840" y="4023360"/>
            <a:ext cx="350489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chemeClr val="bg1"/>
                </a:solidFill>
              </a:rPr>
              <a:t>Обновляет значения и подсвечивает ключевые листья</a:t>
            </a:r>
            <a:endParaRPr lang="en-US" sz="1500" dirty="0"/>
          </a:p>
        </p:txBody>
      </p:sp>
      <p:sp>
        <p:nvSpPr>
          <p:cNvPr id="14" name="Text 11"/>
          <p:cNvSpPr txBox="1"/>
          <p:nvPr/>
        </p:nvSpPr>
        <p:spPr>
          <a:xfrm>
            <a:off x="548640" y="5486400"/>
            <a:ext cx="110944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Новый продукт = новые строки в таблице связей, </a:t>
            </a:r>
            <a:pPr indent="0" marL="0">
              <a:buNone/>
            </a:pPr>
            <a:r>
              <a:rPr lang="en-US" sz="1500" dirty="0">
                <a:solidFill>
                  <a:schemeClr val="tx1"/>
                </a:solidFill>
              </a:rPr>
              <a:t>а не новый дашборд. Проверить: поддерживает ли наша BI визуал дерева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411480"/>
            <a:ext cx="11094415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Пилот: один продукт за 8 недель</a:t>
            </a:r>
            <a:endParaRPr lang="en-US" sz="3200" dirty="0"/>
          </a:p>
        </p:txBody>
      </p:sp>
      <p:sp>
        <p:nvSpPr>
          <p:cNvPr id="3" name="tl"/>
          <p:cNvSpPr/>
          <p:nvPr/>
        </p:nvSpPr>
        <p:spPr>
          <a:xfrm>
            <a:off x="731520" y="1691640"/>
            <a:ext cx="10728655" cy="0"/>
          </a:xfrm>
          <a:prstGeom prst="line">
            <a:avLst/>
          </a:prstGeom>
          <a:noFill/>
          <a:ln w="25400">
            <a:solidFill>
              <a:srgbClr val="D5DDD8"/>
            </a:solidFill>
            <a:prstDash val="solid"/>
          </a:ln>
        </p:spPr>
      </p:sp>
      <p:sp>
        <p:nvSpPr>
          <p:cNvPr id="4" name="dot0"/>
          <p:cNvSpPr/>
          <p:nvPr/>
        </p:nvSpPr>
        <p:spPr>
          <a:xfrm>
            <a:off x="548640" y="1508760"/>
            <a:ext cx="365760" cy="36576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Недели 1–2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Дерево на бумаге</a:t>
            </a:r>
            <a:endParaRPr lang="en-US" sz="1800" dirty="0"/>
          </a:p>
        </p:txBody>
      </p:sp>
      <p:sp>
        <p:nvSpPr>
          <p:cNvPr id="7" name="Text 5"/>
          <p:cNvSpPr txBox="1"/>
          <p:nvPr/>
        </p:nvSpPr>
        <p:spPr>
          <a:xfrm>
            <a:off x="548640" y="2926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Верхняя метрика и ветки — вместе с владельцем продукта</a:t>
            </a:r>
            <a:endParaRPr lang="en-US" sz="1400" dirty="0"/>
          </a:p>
        </p:txBody>
      </p:sp>
      <p:sp>
        <p:nvSpPr>
          <p:cNvPr id="8" name="dot1"/>
          <p:cNvSpPr/>
          <p:nvPr/>
        </p:nvSpPr>
        <p:spPr>
          <a:xfrm>
            <a:off x="3410712" y="1508760"/>
            <a:ext cx="365760" cy="36576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3410712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Недели 3–4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3410712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Карточки листьев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3410712" y="2926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Документатор готовит черновики, владельцы утверждают</a:t>
            </a:r>
            <a:endParaRPr lang="en-US" sz="1400" dirty="0"/>
          </a:p>
        </p:txBody>
      </p:sp>
      <p:sp>
        <p:nvSpPr>
          <p:cNvPr id="12" name="dot2"/>
          <p:cNvSpPr/>
          <p:nvPr/>
        </p:nvSpPr>
        <p:spPr>
          <a:xfrm>
            <a:off x="6272784" y="1508760"/>
            <a:ext cx="365760" cy="36576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272784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Недели 5–6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6272784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Связи и визуал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272784" y="2926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Таблица связей, проверка сходимости, дерево в BI</a:t>
            </a:r>
            <a:endParaRPr lang="en-US" sz="1400" dirty="0"/>
          </a:p>
        </p:txBody>
      </p:sp>
      <p:sp>
        <p:nvSpPr>
          <p:cNvPr id="16" name="dot3"/>
          <p:cNvSpPr/>
          <p:nvPr/>
        </p:nvSpPr>
        <p:spPr>
          <a:xfrm>
            <a:off x="9134856" y="1508760"/>
            <a:ext cx="365760" cy="365760"/>
          </a:xfrm>
          <a:prstGeom prst="ellipse">
            <a:avLst/>
          </a:prstGeom>
          <a:solidFill>
            <a:srgbClr val="0E4B36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9134856" y="2103120"/>
            <a:ext cx="2606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accent1"/>
                </a:solidFill>
              </a:rPr>
              <a:t>Недели 7–8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9134856" y="2468880"/>
            <a:ext cx="26060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b="1" dirty="0">
                <a:solidFill>
                  <a:schemeClr val="tx1"/>
                </a:solidFill>
              </a:rPr>
              <a:t>Первый инсайт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9134856" y="2926080"/>
            <a:ext cx="26060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Агент подсвечивает ключевые листья, инсайт — Лидеру</a:t>
            </a:r>
            <a:endParaRPr lang="en-US" sz="1400" dirty="0"/>
          </a:p>
        </p:txBody>
      </p:sp>
      <p:sp>
        <p:nvSpPr>
          <p:cNvPr id="20" name="result"/>
          <p:cNvSpPr/>
          <p:nvPr/>
        </p:nvSpPr>
        <p:spPr>
          <a:xfrm>
            <a:off x="548640" y="4434840"/>
            <a:ext cx="11094415" cy="1280160"/>
          </a:xfrm>
          <a:prstGeom prst="rect">
            <a:avLst/>
          </a:prstGeom>
          <a:solidFill>
            <a:srgbClr val="0E4B36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914400" y="4434840"/>
            <a:ext cx="10362895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chemeClr val="bg1"/>
                </a:solidFill>
              </a:rPr>
              <a:t>Результат пилота: </a:t>
            </a:r>
            <a:pPr indent="0" marL="0">
              <a:buNone/>
            </a:pPr>
            <a:r>
              <a:rPr lang="en-US" sz="1800" dirty="0">
                <a:solidFill>
                  <a:schemeClr val="bg1"/>
                </a:solidFill>
              </a:rPr>
              <a:t>дерево продукта на эталонных метриках и первый инсайт для Лидера. Дальше — тиражирование на 3–5 продуктов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185855" y="6400800"/>
            <a:ext cx="45720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3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I Green Minimal">
  <a:themeElements>
    <a:clrScheme name="BI Green Minimal">
      <a:dk1>
        <a:srgbClr val="111111"/>
      </a:dk1>
      <a:lt1>
        <a:srgbClr val="FFFFFF"/>
      </a:lt1>
      <a:dk2>
        <a:srgbClr val="0E4B36"/>
      </a:dk2>
      <a:lt2>
        <a:srgbClr val="F1F4F2"/>
      </a:lt2>
      <a:accent1>
        <a:srgbClr val="0E4B36"/>
      </a:accent1>
      <a:accent2>
        <a:srgbClr val="111111"/>
      </a:accent2>
      <a:accent3>
        <a:srgbClr val="6B6B6B"/>
      </a:accent3>
      <a:accent4>
        <a:srgbClr val="D5DDD8"/>
      </a:accent4>
      <a:accent5>
        <a:srgbClr val="3F7A63"/>
      </a:accent5>
      <a:accent6>
        <a:srgbClr val="A9BDB3"/>
      </a:accent6>
      <a:hlink>
        <a:srgbClr val="0E4B36"/>
      </a:hlink>
      <a:folHlink>
        <a:srgbClr val="6B6B6B"/>
      </a:folHlink>
    </a:clrScheme>
    <a:fontScheme name="BI Green Minimal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Дерево метрик: как строить</dc:title>
  <dc:subject>PptxGenJS Presentation</dc:subject>
  <dc:creator>PptxGenJS</dc:creator>
  <cp:lastModifiedBy>PptxGenJS</cp:lastModifiedBy>
  <cp:revision>1</cp:revision>
  <dcterms:created xsi:type="dcterms:W3CDTF">2026-10-08T15:00:19Z</dcterms:created>
  <dcterms:modified xsi:type="dcterms:W3CDTF">2026-10-08T15:00:19Z</dcterms:modified>
</cp:coreProperties>
</file>