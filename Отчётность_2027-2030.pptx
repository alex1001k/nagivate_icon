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Отчётность 2027–2030: куда можем пойти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Направления не взаимоисключающие — можно двигаться по нескольким сразу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257800" cy="1691640"/>
          </a:xfrm>
          <a:prstGeom prst="roundRect">
            <a:avLst>
              <a:gd name="adj" fmla="val 3784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14996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pptx_project/icons/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485" y="1603309"/>
            <a:ext cx="176662" cy="1766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481328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Качество данных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" y="1901952"/>
            <a:ext cx="4928616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9933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ТОПЫ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1792" y="22128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выше доверие к цифрам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даёт нового здесь и сейчас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131820" y="19933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3131820" y="22128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ручной сверки данных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ценность не видна сразу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73952" y="1371600"/>
            <a:ext cx="5257800" cy="1691640"/>
          </a:xfrm>
          <a:prstGeom prst="roundRect">
            <a:avLst>
              <a:gd name="adj" fmla="val 3784"/>
            </a:avLst>
          </a:prstGeom>
          <a:solidFill>
            <a:srgbClr val="F4F6FC"/>
          </a:solidFill>
          <a:ln/>
        </p:spPr>
      </p:sp>
      <p:sp>
        <p:nvSpPr>
          <p:cNvPr id="14" name="Shape 11"/>
          <p:cNvSpPr/>
          <p:nvPr/>
        </p:nvSpPr>
        <p:spPr>
          <a:xfrm>
            <a:off x="6638544" y="14996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1" descr="/home/claude/pptx_project/icons/gri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2237" y="1603309"/>
            <a:ext cx="176662" cy="17666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0" y="1481328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Количество отчётов (в продукты)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38544" y="1901952"/>
            <a:ext cx="4928616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38544" y="19933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ТОПЫ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638544" y="22128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охвата и вовлечённости (MAU)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свалка отчётов, топам это не нужно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9148572" y="19933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9148572" y="22128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автономии у продуктов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дублирование, никто не поддерживает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457200" y="3200400"/>
            <a:ext cx="5257800" cy="1691640"/>
          </a:xfrm>
          <a:prstGeom prst="roundRect">
            <a:avLst>
              <a:gd name="adj" fmla="val 3784"/>
            </a:avLst>
          </a:prstGeom>
          <a:solidFill>
            <a:srgbClr val="F4F6FC"/>
          </a:solidFill>
          <a:ln/>
        </p:spPr>
      </p:sp>
      <p:sp>
        <p:nvSpPr>
          <p:cNvPr id="23" name="Shape 19"/>
          <p:cNvSpPr/>
          <p:nvPr/>
        </p:nvSpPr>
        <p:spPr>
          <a:xfrm>
            <a:off x="621792" y="33284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2" descr="/home/claude/pptx_project/icons/targe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85" y="3432109"/>
            <a:ext cx="176662" cy="1766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115568" y="3310128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Глубина: прогнозы, триггеры, рекомендации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621792" y="3730752"/>
            <a:ext cx="4928616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21792" y="38221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ТОПЫ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621792" y="40416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ответ, а не сырые цифры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кейсов не ясна методологически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3131820" y="38221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3131820" y="40416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аналитики свободны от рутины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ложных рекомендаций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473952" y="3200400"/>
            <a:ext cx="5257800" cy="1691640"/>
          </a:xfrm>
          <a:prstGeom prst="roundRect">
            <a:avLst>
              <a:gd name="adj" fmla="val 3784"/>
            </a:avLst>
          </a:prstGeom>
          <a:solidFill>
            <a:srgbClr val="F4F6FC"/>
          </a:solidFill>
          <a:ln/>
        </p:spPr>
      </p:sp>
      <p:sp>
        <p:nvSpPr>
          <p:cNvPr id="32" name="Shape 27"/>
          <p:cNvSpPr/>
          <p:nvPr/>
        </p:nvSpPr>
        <p:spPr>
          <a:xfrm>
            <a:off x="6638544" y="33284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3" name="Image 3" descr="/home/claude/pptx_project/icons/sliders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2237" y="3432109"/>
            <a:ext cx="176662" cy="176662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132320" y="3310128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Интерактивность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>
            <a:off x="6638544" y="3730752"/>
            <a:ext cx="4928616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6638544" y="38221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ТОПЫ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638544" y="40416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можно спросить и получить ответ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все топы будут пользоваться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9148572" y="3822192"/>
            <a:ext cx="24185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9148572" y="4041648"/>
            <a:ext cx="24185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самообслуживание, быстрый ответ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 неверной трактовки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457200" y="5029200"/>
            <a:ext cx="11274552" cy="1280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/>
        </p:spPr>
      </p:sp>
      <p:sp>
        <p:nvSpPr>
          <p:cNvPr id="41" name="Shape 35"/>
          <p:cNvSpPr/>
          <p:nvPr/>
        </p:nvSpPr>
        <p:spPr>
          <a:xfrm>
            <a:off x="621792" y="515721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2" name="Image 4" descr="/home/claude/pptx_project/icons/filte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485" y="5260909"/>
            <a:ext cx="176662" cy="176662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1115568" y="5138928"/>
            <a:ext cx="10451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Governance: курация и пороги</a:t>
            </a:r>
            <a:endParaRPr lang="en-US" sz="1300" dirty="0"/>
          </a:p>
        </p:txBody>
      </p:sp>
      <p:sp>
        <p:nvSpPr>
          <p:cNvPr id="44" name="Shape 37"/>
          <p:cNvSpPr/>
          <p:nvPr/>
        </p:nvSpPr>
        <p:spPr>
          <a:xfrm>
            <a:off x="621792" y="5559552"/>
            <a:ext cx="10945368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621792" y="5650992"/>
            <a:ext cx="54269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ТОПЫ</a:t>
            </a:r>
            <a:endParaRPr lang="en-US" sz="950" dirty="0"/>
          </a:p>
        </p:txBody>
      </p:sp>
      <p:sp>
        <p:nvSpPr>
          <p:cNvPr id="46" name="Text 39"/>
          <p:cNvSpPr/>
          <p:nvPr/>
        </p:nvSpPr>
        <p:spPr>
          <a:xfrm>
            <a:off x="621792" y="5870448"/>
            <a:ext cx="54269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 только значимое, не тонет в шуме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явный владелец, кто отвечает за фильтр</a:t>
            </a:r>
            <a:endParaRPr lang="en-US" sz="950" dirty="0"/>
          </a:p>
        </p:txBody>
      </p:sp>
      <p:sp>
        <p:nvSpPr>
          <p:cNvPr id="47" name="Text 40"/>
          <p:cNvSpPr/>
          <p:nvPr/>
        </p:nvSpPr>
        <p:spPr>
          <a:xfrm>
            <a:off x="6140196" y="5650992"/>
            <a:ext cx="54269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6140196" y="5870448"/>
            <a:ext cx="54269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повторных уведомлений и лишних задач
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кто-то должен взять на себя роль фильтра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 2027–2030: варианты развития</a:t>
            </a:r>
            <a:endParaRPr lang="en-US" sz="900" dirty="0"/>
          </a:p>
        </p:txBody>
      </p:sp>
      <p:sp>
        <p:nvSpPr>
          <p:cNvPr id="50" name="Text 43"/>
          <p:cNvSpPr/>
          <p:nvPr/>
        </p:nvSpPr>
        <p:spPr>
          <a:xfrm>
            <a:off x="1136599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Единое окно: гибрид чата, инсайтов и AI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3703320" y="1097280"/>
            <a:ext cx="4800600" cy="3794760"/>
          </a:xfrm>
          <a:prstGeom prst="roundRect">
            <a:avLst>
              <a:gd name="adj" fmla="val 241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3977640" y="1280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ЕДИНОЕ ОКНО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977640" y="171907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/home/claude/pptx_project/icons/cpu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5897" y="1857329"/>
            <a:ext cx="235549" cy="2355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663440" y="16916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Спросите — получите ответ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обычном языке, без похода к аналитику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977640" y="249631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/home/claude/pptx_project/icons/warning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5897" y="2634569"/>
            <a:ext cx="235549" cy="23554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2468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«Обрати внимание»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663440" y="27889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сама укажет, что важно сейчас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977640" y="327355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/home/claude/pptx_project/icons/target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5897" y="3411809"/>
            <a:ext cx="235549" cy="23554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63440" y="32461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Замечает раньше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663440" y="35661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отклонения до совещания, а не после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977640" y="405079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/home/claude/pptx_project/icons/slider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5897" y="4189049"/>
            <a:ext cx="235549" cy="23554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663440" y="40233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ответ, не только цифры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4663440" y="4343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и рекомендация вместе с фактом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457200" y="109728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</p:spPr>
      </p:sp>
      <p:sp>
        <p:nvSpPr>
          <p:cNvPr id="22" name="Shape 16"/>
          <p:cNvSpPr/>
          <p:nvPr/>
        </p:nvSpPr>
        <p:spPr>
          <a:xfrm>
            <a:off x="1508760" y="126187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4" descr="/home/claude/pptx_project/icons/map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1582" y="1434694"/>
            <a:ext cx="294437" cy="29443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9436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LossHunter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594360" y="2212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внешние данные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конкурентов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3200400" y="1668780"/>
            <a:ext cx="502920" cy="132588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27" name="Shape 20"/>
          <p:cNvSpPr/>
          <p:nvPr/>
        </p:nvSpPr>
        <p:spPr>
          <a:xfrm>
            <a:off x="457200" y="242316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</p:spPr>
      </p:sp>
      <p:sp>
        <p:nvSpPr>
          <p:cNvPr id="28" name="Shape 21"/>
          <p:cNvSpPr/>
          <p:nvPr/>
        </p:nvSpPr>
        <p:spPr>
          <a:xfrm>
            <a:off x="1508760" y="258775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9" name="Image 5" descr="/home/claude/pptx_project/icons/server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1582" y="2760574"/>
            <a:ext cx="294437" cy="294437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9436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594360" y="3538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системы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3200400" y="2994660"/>
            <a:ext cx="5029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33" name="Shape 25"/>
          <p:cNvSpPr/>
          <p:nvPr/>
        </p:nvSpPr>
        <p:spPr>
          <a:xfrm>
            <a:off x="457200" y="374904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</p:spPr>
      </p:sp>
      <p:sp>
        <p:nvSpPr>
          <p:cNvPr id="34" name="Shape 26"/>
          <p:cNvSpPr/>
          <p:nvPr/>
        </p:nvSpPr>
        <p:spPr>
          <a:xfrm>
            <a:off x="1508760" y="391363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5" name="Image 6" descr="/home/claude/pptx_project/icons/db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1582" y="4086454"/>
            <a:ext cx="294437" cy="294437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594360" y="4617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Базы данных</a:t>
            </a:r>
            <a:endParaRPr lang="en-US" sz="1250" dirty="0"/>
          </a:p>
        </p:txBody>
      </p:sp>
      <p:sp>
        <p:nvSpPr>
          <p:cNvPr id="37" name="Text 28"/>
          <p:cNvSpPr/>
          <p:nvPr/>
        </p:nvSpPr>
        <p:spPr>
          <a:xfrm>
            <a:off x="594360" y="486460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структурированные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950" dirty="0"/>
          </a:p>
        </p:txBody>
      </p:sp>
      <p:sp>
        <p:nvSpPr>
          <p:cNvPr id="38" name="Shape 29"/>
          <p:cNvSpPr/>
          <p:nvPr/>
        </p:nvSpPr>
        <p:spPr>
          <a:xfrm>
            <a:off x="3200400" y="4320540"/>
            <a:ext cx="502920" cy="-132588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39" name="Shape 30"/>
          <p:cNvSpPr/>
          <p:nvPr/>
        </p:nvSpPr>
        <p:spPr>
          <a:xfrm>
            <a:off x="9006840" y="2423160"/>
            <a:ext cx="2743200" cy="1143000"/>
          </a:xfrm>
          <a:prstGeom prst="roundRect">
            <a:avLst>
              <a:gd name="adj" fmla="val 6400"/>
            </a:avLst>
          </a:prstGeom>
          <a:solidFill>
            <a:srgbClr val="F4F6FC"/>
          </a:solidFill>
          <a:ln/>
        </p:spPr>
      </p:sp>
      <p:sp>
        <p:nvSpPr>
          <p:cNvPr id="40" name="Shape 31"/>
          <p:cNvSpPr/>
          <p:nvPr/>
        </p:nvSpPr>
        <p:spPr>
          <a:xfrm>
            <a:off x="10058400" y="258775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1" name="Image 7" descr="/home/claude/pptx_project/icons/grid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31222" y="2760574"/>
            <a:ext cx="294437" cy="294437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144000" y="3291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Текущий BI</a:t>
            </a:r>
            <a:endParaRPr lang="en-US" sz="1250" dirty="0"/>
          </a:p>
        </p:txBody>
      </p:sp>
      <p:sp>
        <p:nvSpPr>
          <p:cNvPr id="43" name="Text 33"/>
          <p:cNvSpPr/>
          <p:nvPr/>
        </p:nvSpPr>
        <p:spPr>
          <a:xfrm>
            <a:off x="9144000" y="3538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экраны остаются знакомыми,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— из единого слоя</a:t>
            </a:r>
            <a:endParaRPr lang="en-US" sz="950" dirty="0"/>
          </a:p>
        </p:txBody>
      </p:sp>
      <p:sp>
        <p:nvSpPr>
          <p:cNvPr id="44" name="Shape 34"/>
          <p:cNvSpPr/>
          <p:nvPr/>
        </p:nvSpPr>
        <p:spPr>
          <a:xfrm>
            <a:off x="8503920" y="2994660"/>
            <a:ext cx="5029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</a:ln>
        </p:spPr>
      </p:sp>
      <p:sp>
        <p:nvSpPr>
          <p:cNvPr id="45" name="Shape 35"/>
          <p:cNvSpPr/>
          <p:nvPr/>
        </p:nvSpPr>
        <p:spPr>
          <a:xfrm>
            <a:off x="457200" y="50292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2A3577"/>
          </a:solidFill>
          <a:ln/>
        </p:spPr>
      </p:sp>
      <p:sp>
        <p:nvSpPr>
          <p:cNvPr id="46" name="Text 36"/>
          <p:cNvSpPr/>
          <p:nvPr/>
        </p:nvSpPr>
        <p:spPr>
          <a:xfrm>
            <a:off x="685800" y="5084064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не станет ещё одним источником шума</a:t>
            </a:r>
            <a:endParaRPr lang="en-US" sz="1150" dirty="0"/>
          </a:p>
        </p:txBody>
      </p:sp>
      <p:sp>
        <p:nvSpPr>
          <p:cNvPr id="47" name="Text 37"/>
          <p:cNvSpPr/>
          <p:nvPr/>
        </p:nvSpPr>
        <p:spPr>
          <a:xfrm>
            <a:off x="685800" y="534924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Видите только значимое  →  всё в одном окне, без новых дашбордов  →  отклонённое не всплывает повторно</a:t>
            </a:r>
            <a:endParaRPr lang="en-US" sz="1100" dirty="0"/>
          </a:p>
        </p:txBody>
      </p:sp>
      <p:sp>
        <p:nvSpPr>
          <p:cNvPr id="48" name="Shape 38"/>
          <p:cNvSpPr/>
          <p:nvPr/>
        </p:nvSpPr>
        <p:spPr>
          <a:xfrm>
            <a:off x="457200" y="5788152"/>
            <a:ext cx="11274552" cy="566928"/>
          </a:xfrm>
          <a:prstGeom prst="roundRect">
            <a:avLst>
              <a:gd name="adj" fmla="val 11290"/>
            </a:avLst>
          </a:prstGeom>
          <a:solidFill>
            <a:srgbClr val="E8A33D"/>
          </a:solidFill>
          <a:ln/>
        </p:spPr>
      </p:sp>
      <p:sp>
        <p:nvSpPr>
          <p:cNvPr id="49" name="Text 39"/>
          <p:cNvSpPr/>
          <p:nvPr/>
        </p:nvSpPr>
        <p:spPr>
          <a:xfrm>
            <a:off x="731520" y="5788152"/>
            <a:ext cx="10725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Открытый вопрос: ролевая модель и доступ — что видят топ-менеджеры, что сотрудники, где граница</a:t>
            </a:r>
            <a:endParaRPr lang="en-US" sz="1250" dirty="0"/>
          </a:p>
        </p:txBody>
      </p:sp>
      <p:sp>
        <p:nvSpPr>
          <p:cNvPr id="50" name="Text 4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 2027–2030: варианты развития</a:t>
            </a:r>
            <a:endParaRPr lang="en-US" sz="900" dirty="0"/>
          </a:p>
        </p:txBody>
      </p:sp>
      <p:sp>
        <p:nvSpPr>
          <p:cNvPr id="51" name="Text 41"/>
          <p:cNvSpPr/>
          <p:nvPr/>
        </p:nvSpPr>
        <p:spPr>
          <a:xfrm>
            <a:off x="1136599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Дорожная карта: уровень зрелости во времени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«когда сделаем», а «что уже доступно» на каждом горизонте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8346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3383280" y="1417320"/>
            <a:ext cx="1972818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3383280" y="1417320"/>
            <a:ext cx="19728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47538" y="1417320"/>
            <a:ext cx="1972818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47538" y="1417320"/>
            <a:ext cx="19728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Полугодие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11796" y="1417320"/>
            <a:ext cx="1972818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511796" y="1417320"/>
            <a:ext cx="19728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576054" y="1417320"/>
            <a:ext cx="1972818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9576054" y="1417320"/>
            <a:ext cx="19728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года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057400"/>
            <a:ext cx="2743200" cy="621792"/>
          </a:xfrm>
          <a:prstGeom prst="roundRect">
            <a:avLst>
              <a:gd name="adj" fmla="val 7353"/>
            </a:avLst>
          </a:prstGeom>
          <a:solidFill>
            <a:srgbClr val="2A357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05740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на естественном языке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383280" y="205740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205740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Пилот, 1 тема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47538" y="205740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5538978" y="205740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Основные темы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1796" y="205740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7603236" y="205740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темы отчёта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576054" y="205740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9667494" y="205740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Стандартный интерфейс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2752344"/>
            <a:ext cx="2743200" cy="621792"/>
          </a:xfrm>
          <a:prstGeom prst="roundRect">
            <a:avLst>
              <a:gd name="adj" fmla="val 7353"/>
            </a:avLst>
          </a:prstGeom>
          <a:solidFill>
            <a:srgbClr val="2A3577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2752344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Инсайты и автообнаружение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83280" y="2752344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8A33D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2752344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правил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47538" y="2752344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28" name="Text 26"/>
          <p:cNvSpPr/>
          <p:nvPr/>
        </p:nvSpPr>
        <p:spPr>
          <a:xfrm>
            <a:off x="5538978" y="2752344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существенности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511796" y="2752344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30" name="Text 28"/>
          <p:cNvSpPr/>
          <p:nvPr/>
        </p:nvSpPr>
        <p:spPr>
          <a:xfrm>
            <a:off x="7603236" y="2752344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Встроено в отчёт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576054" y="2752344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32" name="Text 30"/>
          <p:cNvSpPr/>
          <p:nvPr/>
        </p:nvSpPr>
        <p:spPr>
          <a:xfrm>
            <a:off x="9667494" y="2752344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Самонастраивающиеся пороги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447288"/>
            <a:ext cx="2743200" cy="621792"/>
          </a:xfrm>
          <a:prstGeom prst="roundRect">
            <a:avLst>
              <a:gd name="adj" fmla="val 7353"/>
            </a:avLst>
          </a:prstGeom>
          <a:solidFill>
            <a:srgbClr val="2A3577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" y="344728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Прогнозы, триггеры, рекомендации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383280" y="3447288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3474720" y="3447288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начато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47538" y="3447288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38" name="Text 36"/>
          <p:cNvSpPr/>
          <p:nvPr/>
        </p:nvSpPr>
        <p:spPr>
          <a:xfrm>
            <a:off x="5538978" y="3447288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прогнозов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511796" y="3447288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40" name="Text 38"/>
          <p:cNvSpPr/>
          <p:nvPr/>
        </p:nvSpPr>
        <p:spPr>
          <a:xfrm>
            <a:off x="7603236" y="3447288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Триггеры по ключевым темам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576054" y="3447288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42" name="Text 40"/>
          <p:cNvSpPr/>
          <p:nvPr/>
        </p:nvSpPr>
        <p:spPr>
          <a:xfrm>
            <a:off x="9667494" y="3447288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Проактивные прогнозы везде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4142232"/>
            <a:ext cx="2743200" cy="621792"/>
          </a:xfrm>
          <a:prstGeom prst="roundRect">
            <a:avLst>
              <a:gd name="adj" fmla="val 7353"/>
            </a:avLst>
          </a:prstGeom>
          <a:solidFill>
            <a:srgbClr val="2A3577"/>
          </a:solidFill>
          <a:ln/>
        </p:spPr>
      </p:sp>
      <p:sp>
        <p:nvSpPr>
          <p:cNvPr id="44" name="Text 42"/>
          <p:cNvSpPr/>
          <p:nvPr/>
        </p:nvSpPr>
        <p:spPr>
          <a:xfrm>
            <a:off x="685800" y="4142232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(курация, пороги)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383280" y="4142232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8A33D"/>
          </a:solidFill>
          <a:ln/>
        </p:spPr>
      </p:sp>
      <p:sp>
        <p:nvSpPr>
          <p:cNvPr id="46" name="Text 44"/>
          <p:cNvSpPr/>
          <p:nvPr/>
        </p:nvSpPr>
        <p:spPr>
          <a:xfrm>
            <a:off x="3474720" y="4142232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Ручные правила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447538" y="4142232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48" name="Text 46"/>
          <p:cNvSpPr/>
          <p:nvPr/>
        </p:nvSpPr>
        <p:spPr>
          <a:xfrm>
            <a:off x="5538978" y="4142232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порог значимости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511796" y="4142232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50" name="Text 48"/>
          <p:cNvSpPr/>
          <p:nvPr/>
        </p:nvSpPr>
        <p:spPr>
          <a:xfrm>
            <a:off x="7603236" y="4142232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Курация + единый канал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576054" y="4142232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52" name="Text 50"/>
          <p:cNvSpPr/>
          <p:nvPr/>
        </p:nvSpPr>
        <p:spPr>
          <a:xfrm>
            <a:off x="9667494" y="4142232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Самообучающиеся правила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4837176"/>
            <a:ext cx="2743200" cy="621792"/>
          </a:xfrm>
          <a:prstGeom prst="roundRect">
            <a:avLst>
              <a:gd name="adj" fmla="val 7353"/>
            </a:avLst>
          </a:prstGeom>
          <a:solidFill>
            <a:srgbClr val="2A3577"/>
          </a:solidFill>
          <a:ln/>
        </p:spPr>
      </p:sp>
      <p:sp>
        <p:nvSpPr>
          <p:cNvPr id="54" name="Text 52"/>
          <p:cNvSpPr/>
          <p:nvPr/>
        </p:nvSpPr>
        <p:spPr>
          <a:xfrm>
            <a:off x="685800" y="4837176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Внешние источники (LossHunter и др.)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383280" y="4837176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8A33D"/>
          </a:solidFill>
          <a:ln/>
        </p:spPr>
      </p:sp>
      <p:sp>
        <p:nvSpPr>
          <p:cNvPr id="56" name="Text 54"/>
          <p:cNvSpPr/>
          <p:nvPr/>
        </p:nvSpPr>
        <p:spPr>
          <a:xfrm>
            <a:off x="3474720" y="4837176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интеграции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5447538" y="4837176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58" name="Text 56"/>
          <p:cNvSpPr/>
          <p:nvPr/>
        </p:nvSpPr>
        <p:spPr>
          <a:xfrm>
            <a:off x="5538978" y="4837176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подключения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511796" y="4837176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60" name="Text 58"/>
          <p:cNvSpPr/>
          <p:nvPr/>
        </p:nvSpPr>
        <p:spPr>
          <a:xfrm>
            <a:off x="7603236" y="4837176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едином окне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9576054" y="4837176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F4F6FC"/>
          </a:solidFill>
          <a:ln/>
        </p:spPr>
      </p:sp>
      <p:sp>
        <p:nvSpPr>
          <p:cNvPr id="62" name="Text 60"/>
          <p:cNvSpPr/>
          <p:nvPr/>
        </p:nvSpPr>
        <p:spPr>
          <a:xfrm>
            <a:off x="9667494" y="4837176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Полная интеграция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48640" y="5532120"/>
            <a:ext cx="2743200" cy="621792"/>
          </a:xfrm>
          <a:prstGeom prst="roundRect">
            <a:avLst>
              <a:gd name="adj" fmla="val 7353"/>
            </a:avLst>
          </a:prstGeom>
          <a:solidFill>
            <a:srgbClr val="2A3577"/>
          </a:solidFill>
          <a:ln/>
        </p:spPr>
      </p:sp>
      <p:sp>
        <p:nvSpPr>
          <p:cNvPr id="64" name="Text 62"/>
          <p:cNvSpPr/>
          <p:nvPr/>
        </p:nvSpPr>
        <p:spPr>
          <a:xfrm>
            <a:off x="685800" y="55321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текущего BI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3383280" y="553212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8A33D"/>
          </a:solidFill>
          <a:ln/>
        </p:spPr>
      </p:sp>
      <p:sp>
        <p:nvSpPr>
          <p:cNvPr id="66" name="Text 64"/>
          <p:cNvSpPr/>
          <p:nvPr/>
        </p:nvSpPr>
        <p:spPr>
          <a:xfrm>
            <a:off x="3474720" y="553212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сейчас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5447538" y="553212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68" name="Text 66"/>
          <p:cNvSpPr/>
          <p:nvPr/>
        </p:nvSpPr>
        <p:spPr>
          <a:xfrm>
            <a:off x="5538978" y="553212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 + новые данные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511796" y="553212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70" name="Text 68"/>
          <p:cNvSpPr/>
          <p:nvPr/>
        </p:nvSpPr>
        <p:spPr>
          <a:xfrm>
            <a:off x="7603236" y="553212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части дублей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9576054" y="5532120"/>
            <a:ext cx="1972818" cy="621792"/>
          </a:xfrm>
          <a:prstGeom prst="roundRect">
            <a:avLst>
              <a:gd name="adj" fmla="val 7353"/>
            </a:avLst>
          </a:prstGeom>
          <a:solidFill>
            <a:srgbClr val="EAEEF7"/>
          </a:solidFill>
          <a:ln/>
        </p:spPr>
      </p:sp>
      <p:sp>
        <p:nvSpPr>
          <p:cNvPr id="72" name="Text 70"/>
          <p:cNvSpPr/>
          <p:nvPr/>
        </p:nvSpPr>
        <p:spPr>
          <a:xfrm>
            <a:off x="9667494" y="5532120"/>
            <a:ext cx="178993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фронт среди прочих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Отчётность 2027–2030: варианты развития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1365992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2026-07-30T12:41:02Z</dcterms:created>
  <dcterms:modified xsi:type="dcterms:W3CDTF">2026-07-30T12:41:02Z</dcterms:modified>
</cp:coreProperties>
</file>