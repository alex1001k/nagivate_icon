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Отчётность 2027–2030: куда можем пойти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Направления не взаимоисключающие — можно двигаться по нескольким сразу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257800" cy="2286000"/>
          </a:xfrm>
          <a:prstGeom prst="roundRect">
            <a:avLst>
              <a:gd name="adj" fmla="val 2800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81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project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705356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56362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Качество данных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2130552"/>
            <a:ext cx="48920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258568"/>
            <a:ext cx="2400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ТОПЫ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2514600"/>
            <a:ext cx="24003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выше доверие к цифрам, меньше споров "чьи данные верны"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даёт нового функционала здесь и сейчас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131820" y="2258568"/>
            <a:ext cx="2400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131820" y="2514600"/>
            <a:ext cx="24003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ручной сверки и очистки данных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 не видна сразу, инвестиции "невидимы"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73952" y="1417320"/>
            <a:ext cx="5257800" cy="2286000"/>
          </a:xfrm>
          <a:prstGeom prst="roundRect">
            <a:avLst>
              <a:gd name="adj" fmla="val 2800"/>
            </a:avLst>
          </a:prstGeom>
          <a:solidFill>
            <a:srgbClr val="F4F6FC"/>
          </a:solidFill>
          <a:ln/>
        </p:spPr>
      </p:sp>
      <p:sp>
        <p:nvSpPr>
          <p:cNvPr id="14" name="Shape 11"/>
          <p:cNvSpPr/>
          <p:nvPr/>
        </p:nvSpPr>
        <p:spPr>
          <a:xfrm>
            <a:off x="6656832" y="1581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1" descr="/home/claude/pptx_project/icons/gri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276" y="1705356"/>
            <a:ext cx="210312" cy="2103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51192" y="156362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Количество отчётов (в продукты)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6656832" y="2130552"/>
            <a:ext cx="48920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656832" y="2258568"/>
            <a:ext cx="2400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ТОПЫ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656832" y="2514600"/>
            <a:ext cx="24003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охвата и вовлечённости (MAU)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свалка отчётов, топам это не нужно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9148572" y="2258568"/>
            <a:ext cx="2400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9148572" y="2514600"/>
            <a:ext cx="24003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автономии у продуктовых команд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дублирование логики, никто не поддерживает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57200" y="4480560"/>
            <a:ext cx="5257800" cy="2286000"/>
          </a:xfrm>
          <a:prstGeom prst="roundRect">
            <a:avLst>
              <a:gd name="adj" fmla="val 2800"/>
            </a:avLst>
          </a:prstGeom>
          <a:solidFill>
            <a:srgbClr val="F4F6FC"/>
          </a:solidFill>
          <a:ln/>
        </p:spPr>
      </p:sp>
      <p:sp>
        <p:nvSpPr>
          <p:cNvPr id="23" name="Shape 19"/>
          <p:cNvSpPr/>
          <p:nvPr/>
        </p:nvSpPr>
        <p:spPr>
          <a:xfrm>
            <a:off x="640080" y="46451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2" descr="/home/claude/pptx_project/icons/targ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4768596"/>
            <a:ext cx="210312" cy="21031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234440" y="46268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Глубина: прогнозы, триггеры, рекомендации</a:t>
            </a:r>
            <a:endParaRPr lang="en-US" sz="1450" dirty="0"/>
          </a:p>
        </p:txBody>
      </p:sp>
      <p:sp>
        <p:nvSpPr>
          <p:cNvPr id="26" name="Shape 21"/>
          <p:cNvSpPr/>
          <p:nvPr/>
        </p:nvSpPr>
        <p:spPr>
          <a:xfrm>
            <a:off x="640080" y="5193792"/>
            <a:ext cx="48920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40080" y="5321808"/>
            <a:ext cx="2400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ТОПЫ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40080" y="5577840"/>
            <a:ext cx="24003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готовая причина и рекомендация, а не сырые цифры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кейсов методологически не ясна (риски, сложные прогнозы)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3131820" y="5321808"/>
            <a:ext cx="2400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3131820" y="5577840"/>
            <a:ext cx="24003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аналитики освобождаются от рутины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 ложных рекомендаций, нужна верификация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6473952" y="4480560"/>
            <a:ext cx="5257800" cy="2286000"/>
          </a:xfrm>
          <a:prstGeom prst="roundRect">
            <a:avLst>
              <a:gd name="adj" fmla="val 2800"/>
            </a:avLst>
          </a:prstGeom>
          <a:solidFill>
            <a:srgbClr val="F4F6FC"/>
          </a:solidFill>
          <a:ln/>
        </p:spPr>
      </p:sp>
      <p:sp>
        <p:nvSpPr>
          <p:cNvPr id="32" name="Shape 27"/>
          <p:cNvSpPr/>
          <p:nvPr/>
        </p:nvSpPr>
        <p:spPr>
          <a:xfrm>
            <a:off x="6656832" y="46451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3" descr="/home/claude/pptx_project/icons/slid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276" y="4768596"/>
            <a:ext cx="210312" cy="21031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251192" y="46268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Интерактивность</a:t>
            </a:r>
            <a:endParaRPr lang="en-US" sz="1450" dirty="0"/>
          </a:p>
        </p:txBody>
      </p:sp>
      <p:sp>
        <p:nvSpPr>
          <p:cNvPr id="35" name="Shape 29"/>
          <p:cNvSpPr/>
          <p:nvPr/>
        </p:nvSpPr>
        <p:spPr>
          <a:xfrm>
            <a:off x="6656832" y="5193792"/>
            <a:ext cx="48920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656832" y="5321808"/>
            <a:ext cx="2400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ТОПЫ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6656832" y="5577840"/>
            <a:ext cx="24003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спросить и сразу получить ответ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все топы будут этим пользоваться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9148572" y="5321808"/>
            <a:ext cx="2400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9148572" y="5577840"/>
            <a:ext cx="24003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самообслуживание, быстрее ответы на вопросы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 неверной трактовки без методологической опоры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4448556" y="374904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41" name="Text 35"/>
          <p:cNvSpPr/>
          <p:nvPr/>
        </p:nvSpPr>
        <p:spPr>
          <a:xfrm>
            <a:off x="4585716" y="37490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Любая ветка требует: единый слой метрик + владелец курации</a:t>
            </a:r>
            <a:endParaRPr lang="en-US" sz="1150" dirty="0"/>
          </a:p>
        </p:txBody>
      </p:sp>
      <p:sp>
        <p:nvSpPr>
          <p:cNvPr id="42" name="Text 3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Отчётность 2027–2030: варианты развития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Единое окно: гибрид чата, инсайтов и AI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703320" y="1143000"/>
            <a:ext cx="4800600" cy="4160520"/>
          </a:xfrm>
          <a:prstGeom prst="roundRect">
            <a:avLst>
              <a:gd name="adj" fmla="val 2198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977640" y="134416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ЕДИНОЕ ОКНО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977640" y="18288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pptx_project/icons/cpu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5773" y="197693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09160" y="180136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 на естественном языке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709160" y="21488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— ответ по данным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977640" y="267004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home/claude/pptx_project/icons/warning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773" y="2818181"/>
            <a:ext cx="252374" cy="2523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264261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«Обрати внимание»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709160" y="29900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проактивные инсайты на данных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977640" y="3511296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/home/claude/pptx_project/icons/targe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773" y="3659429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09160" y="348386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Автообнаружение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709160" y="383133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фильтрация по значимости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977640" y="435254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/home/claude/pptx_project/icons/slider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773" y="4500677"/>
            <a:ext cx="252374" cy="25237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09160" y="43251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AI-функционал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4709160" y="467258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анализ, прогноз, рекомендации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" y="114300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22" name="Shape 16"/>
          <p:cNvSpPr/>
          <p:nvPr/>
        </p:nvSpPr>
        <p:spPr>
          <a:xfrm>
            <a:off x="1508760" y="130759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/home/claude/pptx_project/icons/ma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1582" y="1480414"/>
            <a:ext cx="294437" cy="29443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9436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LossHunter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594360" y="22585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внешние данные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конкурентов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3200400" y="1783080"/>
            <a:ext cx="502920" cy="144018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27" name="Shape 20"/>
          <p:cNvSpPr/>
          <p:nvPr/>
        </p:nvSpPr>
        <p:spPr>
          <a:xfrm>
            <a:off x="457200" y="262890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28" name="Shape 21"/>
          <p:cNvSpPr/>
          <p:nvPr/>
        </p:nvSpPr>
        <p:spPr>
          <a:xfrm>
            <a:off x="1508760" y="279349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5" descr="/home/claude/pptx_project/icons/serve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1582" y="2966314"/>
            <a:ext cx="294437" cy="294437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94360" y="34975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594360" y="37444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внутренние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системы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3200400" y="3268980"/>
            <a:ext cx="502920" cy="-4572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33" name="Shape 25"/>
          <p:cNvSpPr/>
          <p:nvPr/>
        </p:nvSpPr>
        <p:spPr>
          <a:xfrm>
            <a:off x="457200" y="411480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34" name="Shape 26"/>
          <p:cNvSpPr/>
          <p:nvPr/>
        </p:nvSpPr>
        <p:spPr>
          <a:xfrm>
            <a:off x="1508760" y="427939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5" name="Image 6" descr="/home/claude/pptx_project/icons/db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1582" y="4452214"/>
            <a:ext cx="294437" cy="294437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94360" y="4983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Базы данных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594360" y="5230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структурированные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3200400" y="4754880"/>
            <a:ext cx="502920" cy="-153162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39" name="Shape 30"/>
          <p:cNvSpPr/>
          <p:nvPr/>
        </p:nvSpPr>
        <p:spPr>
          <a:xfrm>
            <a:off x="9006840" y="278892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40" name="Shape 31"/>
          <p:cNvSpPr/>
          <p:nvPr/>
        </p:nvSpPr>
        <p:spPr>
          <a:xfrm>
            <a:off x="10058400" y="29535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1" name="Image 7" descr="/home/claude/pptx_project/icons/grid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31222" y="3126334"/>
            <a:ext cx="294437" cy="294437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4400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Текущий BI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9144000" y="39044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под вопросом: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 — да, хранение — нет</a:t>
            </a:r>
            <a:endParaRPr lang="en-US" sz="950" dirty="0"/>
          </a:p>
        </p:txBody>
      </p:sp>
      <p:sp>
        <p:nvSpPr>
          <p:cNvPr id="44" name="Shape 34"/>
          <p:cNvSpPr/>
          <p:nvPr/>
        </p:nvSpPr>
        <p:spPr>
          <a:xfrm>
            <a:off x="8503920" y="3223260"/>
            <a:ext cx="502920" cy="20574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45" name="Shape 35"/>
          <p:cNvSpPr/>
          <p:nvPr/>
        </p:nvSpPr>
        <p:spPr>
          <a:xfrm>
            <a:off x="457200" y="5532120"/>
            <a:ext cx="11274552" cy="777240"/>
          </a:xfrm>
          <a:prstGeom prst="roundRect">
            <a:avLst>
              <a:gd name="adj" fmla="val 8235"/>
            </a:avLst>
          </a:prstGeom>
          <a:solidFill>
            <a:srgbClr val="E8A33D"/>
          </a:solidFill>
          <a:ln/>
        </p:spPr>
      </p:sp>
      <p:sp>
        <p:nvSpPr>
          <p:cNvPr id="46" name="Text 36"/>
          <p:cNvSpPr/>
          <p:nvPr/>
        </p:nvSpPr>
        <p:spPr>
          <a:xfrm>
            <a:off x="731520" y="553212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Открытый вопрос: ролевая модель и доступ — что видят топ-менеджеры, что сотрудники, где граница</a:t>
            </a:r>
            <a:endParaRPr lang="en-US" sz="1300" dirty="0"/>
          </a:p>
        </p:txBody>
      </p:sp>
      <p:sp>
        <p:nvSpPr>
          <p:cNvPr id="47" name="Text 3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Отчётность 2027–2030: варианты развития</a:t>
            </a:r>
            <a:endParaRPr lang="en-US" sz="900" dirty="0"/>
          </a:p>
        </p:txBody>
      </p:sp>
      <p:sp>
        <p:nvSpPr>
          <p:cNvPr id="48" name="Text 38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Дорожная карта: уровень зрелости во времени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«когда сделаем», а «что уже доступно» на каждом горизонте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8346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383280" y="1417320"/>
            <a:ext cx="1972818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0" y="1417320"/>
            <a:ext cx="1972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Квартал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47538" y="1417320"/>
            <a:ext cx="1972818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47538" y="1417320"/>
            <a:ext cx="1972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Полугодие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511796" y="1417320"/>
            <a:ext cx="1972818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511796" y="1417320"/>
            <a:ext cx="1972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576054" y="1417320"/>
            <a:ext cx="1972818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9576054" y="1417320"/>
            <a:ext cx="1972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года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057400"/>
            <a:ext cx="2743200" cy="777240"/>
          </a:xfrm>
          <a:prstGeom prst="roundRect">
            <a:avLst>
              <a:gd name="adj" fmla="val 5882"/>
            </a:avLst>
          </a:prstGeom>
          <a:solidFill>
            <a:srgbClr val="2A357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0574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 на естественном языке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83280" y="2057400"/>
            <a:ext cx="1972818" cy="777240"/>
          </a:xfrm>
          <a:prstGeom prst="roundRect">
            <a:avLst>
              <a:gd name="adj" fmla="val 5882"/>
            </a:avLst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2057400"/>
            <a:ext cx="1789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Пилот, 1 тема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47538" y="2057400"/>
            <a:ext cx="1972818" cy="777240"/>
          </a:xfrm>
          <a:prstGeom prst="roundRect">
            <a:avLst>
              <a:gd name="adj" fmla="val 5882"/>
            </a:avLst>
          </a:prstGeom>
          <a:solidFill>
            <a:srgbClr val="F4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5538978" y="2057400"/>
            <a:ext cx="1789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темы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11796" y="2057400"/>
            <a:ext cx="1972818" cy="777240"/>
          </a:xfrm>
          <a:prstGeom prst="roundRect">
            <a:avLst>
              <a:gd name="adj" fmla="val 5882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7603236" y="2057400"/>
            <a:ext cx="1789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темы отчёта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76054" y="2057400"/>
            <a:ext cx="1972818" cy="777240"/>
          </a:xfrm>
          <a:prstGeom prst="roundRect">
            <a:avLst>
              <a:gd name="adj" fmla="val 5882"/>
            </a:avLst>
          </a:prstGeom>
          <a:solidFill>
            <a:srgbClr val="F4F6FC"/>
          </a:solidFill>
          <a:ln/>
        </p:spPr>
      </p:sp>
      <p:sp>
        <p:nvSpPr>
          <p:cNvPr id="22" name="Text 20"/>
          <p:cNvSpPr/>
          <p:nvPr/>
        </p:nvSpPr>
        <p:spPr>
          <a:xfrm>
            <a:off x="9667494" y="2057400"/>
            <a:ext cx="1789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Стандартный интерфейс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2926080"/>
            <a:ext cx="2743200" cy="777240"/>
          </a:xfrm>
          <a:prstGeom prst="roundRect">
            <a:avLst>
              <a:gd name="adj" fmla="val 5882"/>
            </a:avLst>
          </a:prstGeom>
          <a:solidFill>
            <a:srgbClr val="2A3577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2926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Инсайты и автообнаружение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83280" y="2926080"/>
            <a:ext cx="1972818" cy="777240"/>
          </a:xfrm>
          <a:prstGeom prst="roundRect">
            <a:avLst>
              <a:gd name="adj" fmla="val 5882"/>
            </a:avLst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2926080"/>
            <a:ext cx="1789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правил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47538" y="2926080"/>
            <a:ext cx="1972818" cy="777240"/>
          </a:xfrm>
          <a:prstGeom prst="roundRect">
            <a:avLst>
              <a:gd name="adj" fmla="val 5882"/>
            </a:avLst>
          </a:prstGeom>
          <a:solidFill>
            <a:srgbClr val="EAEEF7"/>
          </a:solidFill>
          <a:ln/>
        </p:spPr>
      </p:sp>
      <p:sp>
        <p:nvSpPr>
          <p:cNvPr id="28" name="Text 26"/>
          <p:cNvSpPr/>
          <p:nvPr/>
        </p:nvSpPr>
        <p:spPr>
          <a:xfrm>
            <a:off x="5538978" y="2926080"/>
            <a:ext cx="1789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существенности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511796" y="2926080"/>
            <a:ext cx="1972818" cy="777240"/>
          </a:xfrm>
          <a:prstGeom prst="roundRect">
            <a:avLst>
              <a:gd name="adj" fmla="val 5882"/>
            </a:avLst>
          </a:prstGeom>
          <a:solidFill>
            <a:srgbClr val="EAEEF7"/>
          </a:solidFill>
          <a:ln/>
        </p:spPr>
      </p:sp>
      <p:sp>
        <p:nvSpPr>
          <p:cNvPr id="30" name="Text 28"/>
          <p:cNvSpPr/>
          <p:nvPr/>
        </p:nvSpPr>
        <p:spPr>
          <a:xfrm>
            <a:off x="7603236" y="2926080"/>
            <a:ext cx="1789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Встроено в отчёт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576054" y="2926080"/>
            <a:ext cx="1972818" cy="777240"/>
          </a:xfrm>
          <a:prstGeom prst="roundRect">
            <a:avLst>
              <a:gd name="adj" fmla="val 5882"/>
            </a:avLst>
          </a:prstGeom>
          <a:solidFill>
            <a:srgbClr val="EAEEF7"/>
          </a:solidFill>
          <a:ln/>
        </p:spPr>
      </p:sp>
      <p:sp>
        <p:nvSpPr>
          <p:cNvPr id="32" name="Text 30"/>
          <p:cNvSpPr/>
          <p:nvPr/>
        </p:nvSpPr>
        <p:spPr>
          <a:xfrm>
            <a:off x="9667494" y="2926080"/>
            <a:ext cx="1789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Самонастраивающиеся пороги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3794760"/>
            <a:ext cx="2743200" cy="777240"/>
          </a:xfrm>
          <a:prstGeom prst="roundRect">
            <a:avLst>
              <a:gd name="adj" fmla="val 5882"/>
            </a:avLst>
          </a:prstGeom>
          <a:solidFill>
            <a:srgbClr val="2A3577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37947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Прогнозы, триггеры, рекомендации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383280" y="3794760"/>
            <a:ext cx="1972818" cy="777240"/>
          </a:xfrm>
          <a:prstGeom prst="roundRect">
            <a:avLst>
              <a:gd name="adj" fmla="val 5882"/>
            </a:avLst>
          </a:prstGeom>
          <a:solidFill>
            <a:srgbClr val="E8A33D"/>
          </a:solidFill>
          <a:ln/>
        </p:spPr>
      </p:sp>
      <p:sp>
        <p:nvSpPr>
          <p:cNvPr id="36" name="Text 34"/>
          <p:cNvSpPr/>
          <p:nvPr/>
        </p:nvSpPr>
        <p:spPr>
          <a:xfrm>
            <a:off x="3474720" y="3794760"/>
            <a:ext cx="1789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начато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47538" y="3794760"/>
            <a:ext cx="1972818" cy="777240"/>
          </a:xfrm>
          <a:prstGeom prst="roundRect">
            <a:avLst>
              <a:gd name="adj" fmla="val 5882"/>
            </a:avLst>
          </a:prstGeom>
          <a:solidFill>
            <a:srgbClr val="F4F6FC"/>
          </a:solidFill>
          <a:ln/>
        </p:spPr>
      </p:sp>
      <p:sp>
        <p:nvSpPr>
          <p:cNvPr id="38" name="Text 36"/>
          <p:cNvSpPr/>
          <p:nvPr/>
        </p:nvSpPr>
        <p:spPr>
          <a:xfrm>
            <a:off x="5538978" y="3794760"/>
            <a:ext cx="1789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прогнозов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511796" y="3794760"/>
            <a:ext cx="1972818" cy="777240"/>
          </a:xfrm>
          <a:prstGeom prst="roundRect">
            <a:avLst>
              <a:gd name="adj" fmla="val 5882"/>
            </a:avLst>
          </a:prstGeom>
          <a:solidFill>
            <a:srgbClr val="F4F6FC"/>
          </a:solidFill>
          <a:ln/>
        </p:spPr>
      </p:sp>
      <p:sp>
        <p:nvSpPr>
          <p:cNvPr id="40" name="Text 38"/>
          <p:cNvSpPr/>
          <p:nvPr/>
        </p:nvSpPr>
        <p:spPr>
          <a:xfrm>
            <a:off x="7603236" y="3794760"/>
            <a:ext cx="1789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Триггеры по ключевым темам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576054" y="3794760"/>
            <a:ext cx="1972818" cy="777240"/>
          </a:xfrm>
          <a:prstGeom prst="roundRect">
            <a:avLst>
              <a:gd name="adj" fmla="val 5882"/>
            </a:avLst>
          </a:prstGeom>
          <a:solidFill>
            <a:srgbClr val="F4F6FC"/>
          </a:solidFill>
          <a:ln/>
        </p:spPr>
      </p:sp>
      <p:sp>
        <p:nvSpPr>
          <p:cNvPr id="42" name="Text 40"/>
          <p:cNvSpPr/>
          <p:nvPr/>
        </p:nvSpPr>
        <p:spPr>
          <a:xfrm>
            <a:off x="9667494" y="3794760"/>
            <a:ext cx="1789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Проактивные прогнозы везде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8640" y="4663440"/>
            <a:ext cx="2743200" cy="777240"/>
          </a:xfrm>
          <a:prstGeom prst="roundRect">
            <a:avLst>
              <a:gd name="adj" fmla="val 5882"/>
            </a:avLst>
          </a:prstGeom>
          <a:solidFill>
            <a:srgbClr val="2A3577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" y="46634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Внешние источники (LossHunter и др.)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383280" y="4663440"/>
            <a:ext cx="1972818" cy="777240"/>
          </a:xfrm>
          <a:prstGeom prst="roundRect">
            <a:avLst>
              <a:gd name="adj" fmla="val 5882"/>
            </a:avLst>
          </a:prstGeom>
          <a:solidFill>
            <a:srgbClr val="E8A33D"/>
          </a:solidFill>
          <a:ln/>
        </p:spPr>
      </p:sp>
      <p:sp>
        <p:nvSpPr>
          <p:cNvPr id="46" name="Text 44"/>
          <p:cNvSpPr/>
          <p:nvPr/>
        </p:nvSpPr>
        <p:spPr>
          <a:xfrm>
            <a:off x="3474720" y="4663440"/>
            <a:ext cx="1789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интеграции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447538" y="4663440"/>
            <a:ext cx="1972818" cy="777240"/>
          </a:xfrm>
          <a:prstGeom prst="roundRect">
            <a:avLst>
              <a:gd name="adj" fmla="val 5882"/>
            </a:avLst>
          </a:prstGeom>
          <a:solidFill>
            <a:srgbClr val="EAEEF7"/>
          </a:solidFill>
          <a:ln/>
        </p:spPr>
      </p:sp>
      <p:sp>
        <p:nvSpPr>
          <p:cNvPr id="48" name="Text 46"/>
          <p:cNvSpPr/>
          <p:nvPr/>
        </p:nvSpPr>
        <p:spPr>
          <a:xfrm>
            <a:off x="5538978" y="4663440"/>
            <a:ext cx="1789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подключения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511796" y="4663440"/>
            <a:ext cx="1972818" cy="777240"/>
          </a:xfrm>
          <a:prstGeom prst="roundRect">
            <a:avLst>
              <a:gd name="adj" fmla="val 5882"/>
            </a:avLst>
          </a:prstGeom>
          <a:solidFill>
            <a:srgbClr val="EAEEF7"/>
          </a:solidFill>
          <a:ln/>
        </p:spPr>
      </p:sp>
      <p:sp>
        <p:nvSpPr>
          <p:cNvPr id="50" name="Text 48"/>
          <p:cNvSpPr/>
          <p:nvPr/>
        </p:nvSpPr>
        <p:spPr>
          <a:xfrm>
            <a:off x="7603236" y="4663440"/>
            <a:ext cx="1789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едином окне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576054" y="4663440"/>
            <a:ext cx="1972818" cy="777240"/>
          </a:xfrm>
          <a:prstGeom prst="roundRect">
            <a:avLst>
              <a:gd name="adj" fmla="val 5882"/>
            </a:avLst>
          </a:prstGeom>
          <a:solidFill>
            <a:srgbClr val="EAEEF7"/>
          </a:solidFill>
          <a:ln/>
        </p:spPr>
      </p:sp>
      <p:sp>
        <p:nvSpPr>
          <p:cNvPr id="52" name="Text 50"/>
          <p:cNvSpPr/>
          <p:nvPr/>
        </p:nvSpPr>
        <p:spPr>
          <a:xfrm>
            <a:off x="9667494" y="4663440"/>
            <a:ext cx="1789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интеграция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48640" y="5532120"/>
            <a:ext cx="2743200" cy="777240"/>
          </a:xfrm>
          <a:prstGeom prst="roundRect">
            <a:avLst>
              <a:gd name="adj" fmla="val 5882"/>
            </a:avLst>
          </a:prstGeom>
          <a:solidFill>
            <a:srgbClr val="2A3577"/>
          </a:solidFill>
          <a:ln/>
        </p:spPr>
      </p:sp>
      <p:sp>
        <p:nvSpPr>
          <p:cNvPr id="54" name="Text 52"/>
          <p:cNvSpPr/>
          <p:nvPr/>
        </p:nvSpPr>
        <p:spPr>
          <a:xfrm>
            <a:off x="685800" y="5532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текущего BI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3383280" y="5532120"/>
            <a:ext cx="1972818" cy="777240"/>
          </a:xfrm>
          <a:prstGeom prst="roundRect">
            <a:avLst>
              <a:gd name="adj" fmla="val 5882"/>
            </a:avLst>
          </a:prstGeom>
          <a:solidFill>
            <a:srgbClr val="E8A33D"/>
          </a:solidFill>
          <a:ln/>
        </p:spPr>
      </p:sp>
      <p:sp>
        <p:nvSpPr>
          <p:cNvPr id="56" name="Text 54"/>
          <p:cNvSpPr/>
          <p:nvPr/>
        </p:nvSpPr>
        <p:spPr>
          <a:xfrm>
            <a:off x="3474720" y="5532120"/>
            <a:ext cx="1789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сейчас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447538" y="5532120"/>
            <a:ext cx="1972818" cy="777240"/>
          </a:xfrm>
          <a:prstGeom prst="roundRect">
            <a:avLst>
              <a:gd name="adj" fmla="val 5882"/>
            </a:avLst>
          </a:prstGeom>
          <a:solidFill>
            <a:srgbClr val="F4F6FC"/>
          </a:solidFill>
          <a:ln/>
        </p:spPr>
      </p:sp>
      <p:sp>
        <p:nvSpPr>
          <p:cNvPr id="58" name="Text 56"/>
          <p:cNvSpPr/>
          <p:nvPr/>
        </p:nvSpPr>
        <p:spPr>
          <a:xfrm>
            <a:off x="5538978" y="5532120"/>
            <a:ext cx="1789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 + новые данные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511796" y="5532120"/>
            <a:ext cx="1972818" cy="777240"/>
          </a:xfrm>
          <a:prstGeom prst="roundRect">
            <a:avLst>
              <a:gd name="adj" fmla="val 5882"/>
            </a:avLst>
          </a:prstGeom>
          <a:solidFill>
            <a:srgbClr val="F4F6FC"/>
          </a:solidFill>
          <a:ln/>
        </p:spPr>
      </p:sp>
      <p:sp>
        <p:nvSpPr>
          <p:cNvPr id="60" name="Text 58"/>
          <p:cNvSpPr/>
          <p:nvPr/>
        </p:nvSpPr>
        <p:spPr>
          <a:xfrm>
            <a:off x="7603236" y="5532120"/>
            <a:ext cx="1789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части дублей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9576054" y="5532120"/>
            <a:ext cx="1972818" cy="777240"/>
          </a:xfrm>
          <a:prstGeom prst="roundRect">
            <a:avLst>
              <a:gd name="adj" fmla="val 5882"/>
            </a:avLst>
          </a:prstGeom>
          <a:solidFill>
            <a:srgbClr val="F4F6FC"/>
          </a:solidFill>
          <a:ln/>
        </p:spPr>
      </p:sp>
      <p:sp>
        <p:nvSpPr>
          <p:cNvPr id="62" name="Text 60"/>
          <p:cNvSpPr/>
          <p:nvPr/>
        </p:nvSpPr>
        <p:spPr>
          <a:xfrm>
            <a:off x="9667494" y="5532120"/>
            <a:ext cx="1789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из фронтов поверх единого слоя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Отчётность 2027–2030: варианты развития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2026-07-30T11:26:47Z</dcterms:created>
  <dcterms:modified xsi:type="dcterms:W3CDTF">2026-07-30T11:26:47Z</dcterms:modified>
</cp:coreProperties>
</file>