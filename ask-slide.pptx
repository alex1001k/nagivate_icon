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73152"/>
            <a:ext cx="8741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Спросить: от поиска отчёта к аналитике под запрос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" y="402336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457200"/>
            <a:ext cx="8741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уровней зрелости ответа на вопрос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" y="658368"/>
            <a:ext cx="16276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5240">
            <a:solidFill>
              <a:srgbClr val="2E7D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" y="72237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2E7D5E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" y="722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12064" y="70408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отчёт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3464" y="9692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«Смотри дашборд вкладов»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83464" y="1261872"/>
            <a:ext cx="91440" cy="91440"/>
          </a:xfrm>
          <a:prstGeom prst="ellipse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225296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33372" y="950976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9384" y="658368"/>
            <a:ext cx="16276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392" y="72237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1993392" y="722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40280" y="70408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Ответить цифрой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11680" y="9692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«MAU = 184 тыс.»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011680" y="1261872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696" y="1225296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Частично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561588" y="950976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658368"/>
            <a:ext cx="16276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1608" y="72237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3721608" y="722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68496" y="70408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Построить визуал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39896" y="9692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под вопрос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739896" y="1261872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1225296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89804" y="950976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85816" y="658368"/>
            <a:ext cx="16276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9824" y="72237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5449824" y="722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96712" y="70408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дашборд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68112" y="9692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+ экран под задачу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468112" y="1261872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1225296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018020" y="950976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14032" y="658368"/>
            <a:ext cx="16276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78040" y="72237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7178040" y="722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24928" y="70408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Объяснить и предложить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196328" y="9692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+ следующий шаг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196328" y="1261872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24344" y="1225296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01168" y="1554480"/>
            <a:ext cx="8741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«Покажи как дела с вкладами»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01168" y="1755648"/>
            <a:ext cx="4297680" cy="1481328"/>
          </a:xfrm>
          <a:prstGeom prst="roundRect">
            <a:avLst>
              <a:gd name="adj" fmla="val 3086"/>
            </a:avLst>
          </a:prstGeom>
          <a:solidFill>
            <a:srgbClr val="F7F7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1168" y="1755648"/>
            <a:ext cx="429768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</p:sp>
      <p:sp>
        <p:nvSpPr>
          <p:cNvPr id="49" name="Shape 47"/>
          <p:cNvSpPr/>
          <p:nvPr/>
        </p:nvSpPr>
        <p:spPr>
          <a:xfrm>
            <a:off x="201168" y="1892808"/>
            <a:ext cx="4297680" cy="1188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Text 48"/>
          <p:cNvSpPr/>
          <p:nvPr/>
        </p:nvSpPr>
        <p:spPr>
          <a:xfrm>
            <a:off x="310896" y="1755648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IS — 10 секунд и ссылка на отчёт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10896" y="2084832"/>
            <a:ext cx="40782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Чат думает ~10 секунд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Отвечает: «см. Дашборд вкладов»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 размеченным метрикам может вернуть значение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Пользователь идёт в отчёт, ищет виджет, фильтрует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Связанные аналитики — в других отчётах, собирает сам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35424" y="23774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4901184" y="1755648"/>
            <a:ext cx="4041648" cy="1481328"/>
          </a:xfrm>
          <a:prstGeom prst="roundRect">
            <a:avLst>
              <a:gd name="adj" fmla="val 3086"/>
            </a:avLst>
          </a:prstGeom>
          <a:solidFill>
            <a:srgbClr val="E8F5F0"/>
          </a:solidFill>
          <a:ln w="15240">
            <a:solidFill>
              <a:srgbClr val="2E7D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01184" y="1755648"/>
            <a:ext cx="4041648" cy="256032"/>
          </a:xfrm>
          <a:prstGeom prst="roundRect">
            <a:avLst>
              <a:gd name="adj" fmla="val 17857"/>
            </a:avLst>
          </a:prstGeom>
          <a:solidFill>
            <a:srgbClr val="1A4A3A"/>
          </a:solidFill>
          <a:ln/>
        </p:spPr>
      </p:sp>
      <p:sp>
        <p:nvSpPr>
          <p:cNvPr id="55" name="Shape 53"/>
          <p:cNvSpPr/>
          <p:nvPr/>
        </p:nvSpPr>
        <p:spPr>
          <a:xfrm>
            <a:off x="4901184" y="1892808"/>
            <a:ext cx="4041648" cy="118872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56" name="Text 54"/>
          <p:cNvSpPr/>
          <p:nvPr/>
        </p:nvSpPr>
        <p:spPr>
          <a:xfrm>
            <a:off x="5010912" y="175564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— 2–3 секунды и готовый экран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10912" y="2084832"/>
            <a:ext cx="38221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понимает что «вклад» — продукт, и собирает: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Финансы — портфель, доходность, ставка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Воронка — заявки, конверсия, кампании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Клиенты — сегменты, отток, LTV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NPS и жалобы + позиция против рынка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Текстовый вывод: что важно и на что смотреть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01168" y="3346704"/>
            <a:ext cx="8741664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01168" y="3419856"/>
            <a:ext cx="4297680" cy="1554480"/>
          </a:xfrm>
          <a:prstGeom prst="roundRect">
            <a:avLst>
              <a:gd name="adj" fmla="val 2941"/>
            </a:avLst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0896" y="3493008"/>
            <a:ext cx="4078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ограничение: ручная разметка не масштабируется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10896" y="3803904"/>
            <a:ext cx="40782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Разметить можно 50 метрик — но не 5000 комбинаций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метрика × продукт × период × сегмент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Вопрос вне разметки → «посмотри в отчёте»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 секунд ожидания — люди перестают пользоваться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Система ищет отчёт, а не отвечает на вопрос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45152" y="3419856"/>
            <a:ext cx="4297680" cy="1554480"/>
          </a:xfrm>
          <a:prstGeom prst="roundRect">
            <a:avLst>
              <a:gd name="adj" fmla="val 2941"/>
            </a:avLst>
          </a:prstGeom>
          <a:solidFill>
            <a:srgbClr val="FEF9E7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3493008"/>
            <a:ext cx="4078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и открытые вопросы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754880" y="3712464"/>
            <a:ext cx="4078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Нужно: семантический слой (формулы метрик), онтология (что с чем связано), прямой доступ к данным вместо каталога отчётов, шаблоны визуализации, ответ за 2–3 сек.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Открыто: как контролировать доступ к данным для AI · как валидировать корректность ответа · переспрашивать при неоднозначности или угадывать · что делать если система не уверена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2026-08-17T08:55:08Z</dcterms:created>
  <dcterms:modified xsi:type="dcterms:W3CDTF">2026-08-17T08:55:08Z</dcterms:modified>
</cp:coreProperties>
</file>