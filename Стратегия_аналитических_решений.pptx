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28600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СТРАТЕГИЯ РАЗВИТИЯ</a:t>
            </a:r>
            <a:endParaRPr lang="en-US" sz="38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АНАЛИТИЧЕСКИХ РЕШЕНИЙ БЛОКА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822960" y="3977640"/>
            <a:ext cx="2011680" cy="0"/>
          </a:xfrm>
          <a:prstGeom prst="line">
            <a:avLst/>
          </a:prstGeom>
          <a:noFill/>
          <a:ln w="38100">
            <a:solidFill>
              <a:srgbClr val="E8A3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416052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 разрозненной отчётности к единой аналитической платформе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22960" y="6035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B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20XX – 20XX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Ситуация: три мира без общего основания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394960" cy="1051560"/>
          </a:xfrm>
          <a:prstGeom prst="roundRect">
            <a:avLst>
              <a:gd name="adj" fmla="val 6087"/>
            </a:avLst>
          </a:prstGeom>
          <a:solidFill>
            <a:srgbClr val="F4F6FC"/>
          </a:solidFill>
          <a:ln/>
        </p:spPr>
      </p:sp>
      <p:sp>
        <p:nvSpPr>
          <p:cNvPr id="4" name="Shape 2"/>
          <p:cNvSpPr/>
          <p:nvPr/>
        </p:nvSpPr>
        <p:spPr>
          <a:xfrm>
            <a:off x="713232" y="157734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" name="Image 0" descr="/home/claude/pptx_project/icons/fileTex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9653" y="1743761"/>
            <a:ext cx="307238" cy="30723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08760" y="148132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Excel-источники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508760" y="1856232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Большой массив данных, не опромышлены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548640" y="2587752"/>
            <a:ext cx="5394960" cy="1051560"/>
          </a:xfrm>
          <a:prstGeom prst="roundRect">
            <a:avLst>
              <a:gd name="adj" fmla="val 6087"/>
            </a:avLst>
          </a:prstGeom>
          <a:solidFill>
            <a:srgbClr val="F4F6FC"/>
          </a:solidFill>
          <a:ln/>
        </p:spPr>
      </p:sp>
      <p:sp>
        <p:nvSpPr>
          <p:cNvPr id="9" name="Shape 6"/>
          <p:cNvSpPr/>
          <p:nvPr/>
        </p:nvSpPr>
        <p:spPr>
          <a:xfrm>
            <a:off x="713232" y="2793492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0" name="Image 1" descr="/home/claude/pptx_project/icons/server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9653" y="2959913"/>
            <a:ext cx="307238" cy="30723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508760" y="269748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BI-система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1508760" y="3072384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Тысячи отчётов и виджетов, работает нестабильно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548640" y="3803904"/>
            <a:ext cx="5394960" cy="1051560"/>
          </a:xfrm>
          <a:prstGeom prst="roundRect">
            <a:avLst>
              <a:gd name="adj" fmla="val 6087"/>
            </a:avLst>
          </a:prstGeom>
          <a:solidFill>
            <a:srgbClr val="F4F6FC"/>
          </a:solidFill>
          <a:ln/>
        </p:spPr>
      </p:sp>
      <p:sp>
        <p:nvSpPr>
          <p:cNvPr id="14" name="Shape 10"/>
          <p:cNvSpPr/>
          <p:nvPr/>
        </p:nvSpPr>
        <p:spPr>
          <a:xfrm>
            <a:off x="713232" y="4009644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5" name="Image 2" descr="/home/claude/pptx_project/icons/cpu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9653" y="4176065"/>
            <a:ext cx="307238" cy="30723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508760" y="391363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Разработка отдела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1508760" y="4288536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HTML-отчёты, AI, собственные пайплайны</a:t>
            </a:r>
            <a:endParaRPr lang="en-US" sz="1150" dirty="0"/>
          </a:p>
        </p:txBody>
      </p:sp>
      <p:sp>
        <p:nvSpPr>
          <p:cNvPr id="18" name="Text 13"/>
          <p:cNvSpPr/>
          <p:nvPr/>
        </p:nvSpPr>
        <p:spPr>
          <a:xfrm>
            <a:off x="6263640" y="1371600"/>
            <a:ext cx="5376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Каждый запрос решается заново</a:t>
            </a:r>
            <a:endParaRPr lang="en-US" sz="1350" dirty="0"/>
          </a:p>
        </p:txBody>
      </p:sp>
      <p:sp>
        <p:nvSpPr>
          <p:cNvPr id="19" name="Shape 14"/>
          <p:cNvSpPr/>
          <p:nvPr/>
        </p:nvSpPr>
        <p:spPr>
          <a:xfrm>
            <a:off x="6263640" y="1828800"/>
            <a:ext cx="5376672" cy="566928"/>
          </a:xfrm>
          <a:prstGeom prst="roundRect">
            <a:avLst>
              <a:gd name="adj" fmla="val 8065"/>
            </a:avLst>
          </a:prstGeom>
          <a:solidFill>
            <a:srgbClr val="CADCFC"/>
          </a:solidFill>
          <a:ln/>
        </p:spPr>
      </p:sp>
      <p:sp>
        <p:nvSpPr>
          <p:cNvPr id="20" name="Text 15"/>
          <p:cNvSpPr/>
          <p:nvPr/>
        </p:nvSpPr>
        <p:spPr>
          <a:xfrm>
            <a:off x="6263640" y="1828800"/>
            <a:ext cx="5376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Запрос</a:t>
            </a:r>
            <a:endParaRPr lang="en-US" sz="1300" dirty="0"/>
          </a:p>
        </p:txBody>
      </p:sp>
      <p:sp>
        <p:nvSpPr>
          <p:cNvPr id="21" name="Shape 16"/>
          <p:cNvSpPr/>
          <p:nvPr/>
        </p:nvSpPr>
        <p:spPr>
          <a:xfrm>
            <a:off x="8851392" y="2404872"/>
            <a:ext cx="201168" cy="128016"/>
          </a:xfrm>
          <a:prstGeom prst="downArrow">
            <a:avLst/>
          </a:prstGeom>
          <a:solidFill>
            <a:srgbClr val="6B7280"/>
          </a:solidFill>
          <a:ln/>
        </p:spPr>
      </p:sp>
      <p:sp>
        <p:nvSpPr>
          <p:cNvPr id="22" name="Shape 17"/>
          <p:cNvSpPr/>
          <p:nvPr/>
        </p:nvSpPr>
        <p:spPr>
          <a:xfrm>
            <a:off x="6263640" y="2542032"/>
            <a:ext cx="5376672" cy="566928"/>
          </a:xfrm>
          <a:prstGeom prst="roundRect">
            <a:avLst>
              <a:gd name="adj" fmla="val 8065"/>
            </a:avLst>
          </a:prstGeom>
          <a:solidFill>
            <a:srgbClr val="CADCFC"/>
          </a:solidFill>
          <a:ln/>
        </p:spPr>
      </p:sp>
      <p:sp>
        <p:nvSpPr>
          <p:cNvPr id="23" name="Text 18"/>
          <p:cNvSpPr/>
          <p:nvPr/>
        </p:nvSpPr>
        <p:spPr>
          <a:xfrm>
            <a:off x="6263640" y="2542032"/>
            <a:ext cx="5376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Отчёт</a:t>
            </a:r>
            <a:endParaRPr lang="en-US" sz="1300" dirty="0"/>
          </a:p>
        </p:txBody>
      </p:sp>
      <p:sp>
        <p:nvSpPr>
          <p:cNvPr id="24" name="Shape 19"/>
          <p:cNvSpPr/>
          <p:nvPr/>
        </p:nvSpPr>
        <p:spPr>
          <a:xfrm>
            <a:off x="8851392" y="3118104"/>
            <a:ext cx="201168" cy="128016"/>
          </a:xfrm>
          <a:prstGeom prst="downArrow">
            <a:avLst/>
          </a:prstGeom>
          <a:solidFill>
            <a:srgbClr val="6B7280"/>
          </a:solidFill>
          <a:ln/>
        </p:spPr>
      </p:sp>
      <p:sp>
        <p:nvSpPr>
          <p:cNvPr id="25" name="Shape 20"/>
          <p:cNvSpPr/>
          <p:nvPr/>
        </p:nvSpPr>
        <p:spPr>
          <a:xfrm>
            <a:off x="6263640" y="3255264"/>
            <a:ext cx="5376672" cy="566928"/>
          </a:xfrm>
          <a:prstGeom prst="roundRect">
            <a:avLst>
              <a:gd name="adj" fmla="val 8065"/>
            </a:avLst>
          </a:prstGeom>
          <a:solidFill>
            <a:srgbClr val="CADCFC"/>
          </a:solidFill>
          <a:ln/>
        </p:spPr>
      </p:sp>
      <p:sp>
        <p:nvSpPr>
          <p:cNvPr id="26" name="Text 21"/>
          <p:cNvSpPr/>
          <p:nvPr/>
        </p:nvSpPr>
        <p:spPr>
          <a:xfrm>
            <a:off x="6263640" y="3255264"/>
            <a:ext cx="5376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Источник</a:t>
            </a:r>
            <a:endParaRPr lang="en-US" sz="1300" dirty="0"/>
          </a:p>
        </p:txBody>
      </p:sp>
      <p:sp>
        <p:nvSpPr>
          <p:cNvPr id="27" name="Shape 22"/>
          <p:cNvSpPr/>
          <p:nvPr/>
        </p:nvSpPr>
        <p:spPr>
          <a:xfrm>
            <a:off x="8851392" y="3831336"/>
            <a:ext cx="201168" cy="128016"/>
          </a:xfrm>
          <a:prstGeom prst="downArrow">
            <a:avLst/>
          </a:prstGeom>
          <a:solidFill>
            <a:srgbClr val="6B7280"/>
          </a:solidFill>
          <a:ln/>
        </p:spPr>
      </p:sp>
      <p:sp>
        <p:nvSpPr>
          <p:cNvPr id="28" name="Shape 23"/>
          <p:cNvSpPr/>
          <p:nvPr/>
        </p:nvSpPr>
        <p:spPr>
          <a:xfrm>
            <a:off x="6263640" y="3968496"/>
            <a:ext cx="5376672" cy="566928"/>
          </a:xfrm>
          <a:prstGeom prst="roundRect">
            <a:avLst>
              <a:gd name="adj" fmla="val 8065"/>
            </a:avLst>
          </a:prstGeom>
          <a:solidFill>
            <a:srgbClr val="E8A33D"/>
          </a:solidFill>
          <a:ln/>
        </p:spPr>
      </p:sp>
      <p:sp>
        <p:nvSpPr>
          <p:cNvPr id="29" name="Text 24"/>
          <p:cNvSpPr/>
          <p:nvPr/>
        </p:nvSpPr>
        <p:spPr>
          <a:xfrm>
            <a:off x="6263640" y="3968496"/>
            <a:ext cx="5376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Своя логика</a:t>
            </a:r>
            <a:endParaRPr lang="en-US" sz="1300" dirty="0"/>
          </a:p>
        </p:txBody>
      </p:sp>
      <p:sp>
        <p:nvSpPr>
          <p:cNvPr id="30" name="Shape 25"/>
          <p:cNvSpPr/>
          <p:nvPr/>
        </p:nvSpPr>
        <p:spPr>
          <a:xfrm>
            <a:off x="548640" y="5084064"/>
            <a:ext cx="11091672" cy="960120"/>
          </a:xfrm>
          <a:prstGeom prst="roundRect">
            <a:avLst>
              <a:gd name="adj" fmla="val 7619"/>
            </a:avLst>
          </a:prstGeom>
          <a:solidFill>
            <a:srgbClr val="1E2761"/>
          </a:solidFill>
          <a:ln/>
        </p:spPr>
      </p:sp>
      <p:sp>
        <p:nvSpPr>
          <p:cNvPr id="31" name="Text 26"/>
          <p:cNvSpPr/>
          <p:nvPr/>
        </p:nvSpPr>
        <p:spPr>
          <a:xfrm>
            <a:off x="868680" y="5084064"/>
            <a:ext cx="1045159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Нет общего переиспользуемого основания под всеми тремя мирами — вот корень проблемы, а не выбор конкретного инструмента</a:t>
            </a:r>
            <a:endParaRPr lang="en-US" sz="1450" dirty="0"/>
          </a:p>
        </p:txBody>
      </p:sp>
      <p:sp>
        <p:nvSpPr>
          <p:cNvPr id="32" name="Text 27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Стратегия развития аналитических решений блока</a:t>
            </a:r>
            <a:endParaRPr lang="en-US" sz="900" dirty="0"/>
          </a:p>
        </p:txBody>
      </p:sp>
      <p:sp>
        <p:nvSpPr>
          <p:cNvPr id="33" name="Text 28"/>
          <p:cNvSpPr/>
          <p:nvPr/>
        </p:nvSpPr>
        <p:spPr>
          <a:xfrm>
            <a:off x="1136599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Целевая модель: единая аналитическая платформа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 «отчётности как набора отчётов» — к «платформе: данные и метрики + процесс разработки»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2743200" y="1783080"/>
            <a:ext cx="6675120" cy="713232"/>
          </a:xfrm>
          <a:prstGeom prst="roundRect">
            <a:avLst>
              <a:gd name="adj" fmla="val 6410"/>
            </a:avLst>
          </a:prstGeom>
          <a:solidFill>
            <a:srgbClr val="CADCFC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0" y="1783080"/>
            <a:ext cx="6675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  /  HTML  /  AI — способы доставки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2743200" y="2624328"/>
            <a:ext cx="6675120" cy="713232"/>
          </a:xfrm>
          <a:prstGeom prst="roundRect">
            <a:avLst>
              <a:gd name="adj" fmla="val 6410"/>
            </a:avLst>
          </a:prstGeom>
          <a:solidFill>
            <a:srgbClr val="E8A33D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0" y="2624328"/>
            <a:ext cx="6675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Единый каталог метрик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2743200" y="3465576"/>
            <a:ext cx="6675120" cy="713232"/>
          </a:xfrm>
          <a:prstGeom prst="roundRect">
            <a:avLst>
              <a:gd name="adj" fmla="val 6410"/>
            </a:avLst>
          </a:prstGeom>
          <a:solidFill>
            <a:srgbClr val="3D4A8C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0" y="3465576"/>
            <a:ext cx="6675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Общая модель данных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2743200" y="4306824"/>
            <a:ext cx="6675120" cy="713232"/>
          </a:xfrm>
          <a:prstGeom prst="roundRect">
            <a:avLst>
              <a:gd name="adj" fmla="val 6410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2743200" y="4306824"/>
            <a:ext cx="6675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Порядок в справочниках (клиент, продукт, оргструктура)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" y="2148840"/>
            <a:ext cx="1965960" cy="1417320"/>
          </a:xfrm>
          <a:prstGeom prst="roundRect">
            <a:avLst>
              <a:gd name="adj" fmla="val 4516"/>
            </a:avLst>
          </a:prstGeom>
          <a:solidFill>
            <a:srgbClr val="F4F6FC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" y="2148840"/>
            <a:ext cx="16916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Приоритетные отчёты и метрики переносятся в первую очередь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9738360" y="2148840"/>
            <a:ext cx="2011680" cy="1417320"/>
          </a:xfrm>
          <a:prstGeom prst="roundRect">
            <a:avLst>
              <a:gd name="adj" fmla="val 4516"/>
            </a:avLst>
          </a:prstGeom>
          <a:solidFill>
            <a:srgbClr val="F4F6FC"/>
          </a:solidFill>
          <a:ln/>
        </p:spPr>
      </p:sp>
      <p:sp>
        <p:nvSpPr>
          <p:cNvPr id="15" name="Text 13"/>
          <p:cNvSpPr/>
          <p:nvPr/>
        </p:nvSpPr>
        <p:spPr>
          <a:xfrm>
            <a:off x="9875520" y="2148840"/>
            <a:ext cx="17373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каждому отчёту в BI — явное решение: остаётся / переносится / выводится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5166360"/>
            <a:ext cx="11091672" cy="777240"/>
          </a:xfrm>
          <a:prstGeom prst="roundRect">
            <a:avLst>
              <a:gd name="adj" fmla="val 8235"/>
            </a:avLst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5166360"/>
            <a:ext cx="105430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Переиспользуемый актив — не отчёт, а данные и метрики за ним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Стратегия развития аналитических решений блока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36599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Зачем: что это даёт блоку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4F6FC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691640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" name="Image 0" descr="/home/claude/pptx_project/icons/check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5042" y="1893722"/>
            <a:ext cx="373075" cy="37307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783080" y="1673352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Доверие к цифрам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868680" y="2468880"/>
            <a:ext cx="4709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Одна метрика — одно значение, независимо от отчёта и канала доставки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217920" y="141732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4F6FC"/>
          </a:solidFill>
          <a:ln/>
        </p:spPr>
      </p:sp>
      <p:sp>
        <p:nvSpPr>
          <p:cNvPr id="9" name="Shape 6"/>
          <p:cNvSpPr/>
          <p:nvPr/>
        </p:nvSpPr>
        <p:spPr>
          <a:xfrm>
            <a:off x="6492240" y="1691640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0" name="Image 1" descr="/home/claude/pptx_project/icons/cpu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4322" y="1893722"/>
            <a:ext cx="373075" cy="37307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452360" y="1673352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Скорость</a:t>
            </a:r>
            <a:endParaRPr lang="en-US" sz="1550" dirty="0"/>
          </a:p>
        </p:txBody>
      </p:sp>
      <p:sp>
        <p:nvSpPr>
          <p:cNvPr id="12" name="Text 8"/>
          <p:cNvSpPr/>
          <p:nvPr/>
        </p:nvSpPr>
        <p:spPr>
          <a:xfrm>
            <a:off x="6537960" y="2468880"/>
            <a:ext cx="4709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Новые решения собираются из готовых данных, а не строятся с нуля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548640" y="365760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4F6FC"/>
          </a:solidFill>
          <a:ln/>
        </p:spPr>
      </p:sp>
      <p:sp>
        <p:nvSpPr>
          <p:cNvPr id="14" name="Shape 10"/>
          <p:cNvSpPr/>
          <p:nvPr/>
        </p:nvSpPr>
        <p:spPr>
          <a:xfrm>
            <a:off x="822960" y="3931920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5" name="Image 2" descr="/home/claude/pptx_project/icons/server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5042" y="4134002"/>
            <a:ext cx="373075" cy="373075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783080" y="3913632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Разгрузка BI и инженеров</a:t>
            </a:r>
            <a:endParaRPr lang="en-US" sz="1550" dirty="0"/>
          </a:p>
        </p:txBody>
      </p:sp>
      <p:sp>
        <p:nvSpPr>
          <p:cNvPr id="17" name="Text 12"/>
          <p:cNvSpPr/>
          <p:nvPr/>
        </p:nvSpPr>
        <p:spPr>
          <a:xfrm>
            <a:off x="868680" y="4709160"/>
            <a:ext cx="4709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Явные решения по каждому отчёту снимают нагрузку точечных доработок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6217920" y="365760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4F6FC"/>
          </a:solidFill>
          <a:ln/>
        </p:spPr>
      </p:sp>
      <p:sp>
        <p:nvSpPr>
          <p:cNvPr id="19" name="Shape 14"/>
          <p:cNvSpPr/>
          <p:nvPr/>
        </p:nvSpPr>
        <p:spPr>
          <a:xfrm>
            <a:off x="6492240" y="3931920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0" name="Image 3" descr="/home/claude/pptx_project/icons/target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4322" y="4134002"/>
            <a:ext cx="373075" cy="373075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452360" y="3913632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Контролируемый рост ИИ</a:t>
            </a:r>
            <a:endParaRPr lang="en-US" sz="1550" dirty="0"/>
          </a:p>
        </p:txBody>
      </p:sp>
      <p:sp>
        <p:nvSpPr>
          <p:cNvPr id="22" name="Text 16"/>
          <p:cNvSpPr/>
          <p:nvPr/>
        </p:nvSpPr>
        <p:spPr>
          <a:xfrm>
            <a:off x="6537960" y="4709160"/>
            <a:ext cx="4709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ИИ ускоряет работу поверх единых данных, а не создаёт свою версию правды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Стратегия развития аналитических решений блока</a:t>
            </a:r>
            <a:endParaRPr lang="en-US" sz="900" dirty="0"/>
          </a:p>
        </p:txBody>
      </p:sp>
      <p:sp>
        <p:nvSpPr>
          <p:cNvPr id="24" name="Text 18"/>
          <p:cNvSpPr/>
          <p:nvPr/>
        </p:nvSpPr>
        <p:spPr>
          <a:xfrm>
            <a:off x="1136599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Дорожная карта и что нужно от руководства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822960" y="1691640"/>
            <a:ext cx="10543032" cy="0"/>
          </a:xfrm>
          <a:prstGeom prst="line">
            <a:avLst/>
          </a:prstGeom>
          <a:noFill/>
          <a:ln w="38100">
            <a:solidFill>
              <a:srgbClr val="3D4A8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21967" y="1572768"/>
            <a:ext cx="237744" cy="237744"/>
          </a:xfrm>
          <a:prstGeom prst="ellipse">
            <a:avLst/>
          </a:prstGeom>
          <a:solidFill>
            <a:srgbClr val="E8A33D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" y="2011680"/>
            <a:ext cx="2361438" cy="1600200"/>
          </a:xfrm>
          <a:prstGeom prst="roundRect">
            <a:avLst>
              <a:gd name="adj" fmla="val 3429"/>
            </a:avLst>
          </a:prstGeom>
          <a:solidFill>
            <a:srgbClr val="2A3577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2130552"/>
            <a:ext cx="23614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2026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97280" y="2514600"/>
            <a:ext cx="208711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Перечень отчётов/метрик для стандартизации. Старт порядка в справочниках.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657725" y="1572768"/>
            <a:ext cx="237744" cy="237744"/>
          </a:xfrm>
          <a:prstGeom prst="ellipse">
            <a:avLst/>
          </a:prstGeom>
          <a:solidFill>
            <a:srgbClr val="CADCFC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595878" y="2011680"/>
            <a:ext cx="2361438" cy="1600200"/>
          </a:xfrm>
          <a:prstGeom prst="roundRect">
            <a:avLst>
              <a:gd name="adj" fmla="val 3429"/>
            </a:avLst>
          </a:prstGeom>
          <a:solidFill>
            <a:srgbClr val="2A3577"/>
          </a:solidFill>
          <a:ln/>
        </p:spPr>
      </p:sp>
      <p:sp>
        <p:nvSpPr>
          <p:cNvPr id="10" name="Text 8"/>
          <p:cNvSpPr/>
          <p:nvPr/>
        </p:nvSpPr>
        <p:spPr>
          <a:xfrm>
            <a:off x="3595878" y="2130552"/>
            <a:ext cx="23614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2026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733038" y="2514600"/>
            <a:ext cx="208711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Запуск каталога метрик. Пилот на критичном кейсе. Первые решения по BI.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293483" y="1572768"/>
            <a:ext cx="237744" cy="237744"/>
          </a:xfrm>
          <a:prstGeom prst="ellipse">
            <a:avLst/>
          </a:prstGeom>
          <a:solidFill>
            <a:srgbClr val="CADCFC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1636" y="2011680"/>
            <a:ext cx="2361438" cy="1600200"/>
          </a:xfrm>
          <a:prstGeom prst="roundRect">
            <a:avLst>
              <a:gd name="adj" fmla="val 3429"/>
            </a:avLst>
          </a:prstGeom>
          <a:solidFill>
            <a:srgbClr val="2A3577"/>
          </a:solidFill>
          <a:ln/>
        </p:spPr>
      </p:sp>
      <p:sp>
        <p:nvSpPr>
          <p:cNvPr id="14" name="Text 12"/>
          <p:cNvSpPr/>
          <p:nvPr/>
        </p:nvSpPr>
        <p:spPr>
          <a:xfrm>
            <a:off x="6231636" y="2130552"/>
            <a:ext cx="23614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2027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368796" y="2514600"/>
            <a:ext cx="208711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Масштабирование модели данных. Перенос следующей волны отчётов.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9929241" y="1572768"/>
            <a:ext cx="237744" cy="237744"/>
          </a:xfrm>
          <a:prstGeom prst="ellipse">
            <a:avLst/>
          </a:prstGeom>
          <a:solidFill>
            <a:srgbClr val="CADCFC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867394" y="2011680"/>
            <a:ext cx="2361438" cy="1600200"/>
          </a:xfrm>
          <a:prstGeom prst="roundRect">
            <a:avLst>
              <a:gd name="adj" fmla="val 3429"/>
            </a:avLst>
          </a:prstGeom>
          <a:solidFill>
            <a:srgbClr val="2A3577"/>
          </a:solidFill>
          <a:ln/>
        </p:spPr>
      </p:sp>
      <p:sp>
        <p:nvSpPr>
          <p:cNvPr id="18" name="Text 16"/>
          <p:cNvSpPr/>
          <p:nvPr/>
        </p:nvSpPr>
        <p:spPr>
          <a:xfrm>
            <a:off x="8867394" y="2130552"/>
            <a:ext cx="23614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2027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004554" y="2514600"/>
            <a:ext cx="208711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Тиражирование модели. Вывод неиспользуемого из BI.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48640" y="3886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НУЖНО ОТ РУКОВОДСТВА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94360" y="4398264"/>
            <a:ext cx="109728" cy="10972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2" name="Text 20"/>
          <p:cNvSpPr/>
          <p:nvPr/>
        </p:nvSpPr>
        <p:spPr>
          <a:xfrm>
            <a:off x="868680" y="42519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Мандат на решения по каталогу метрик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594360" y="4800600"/>
            <a:ext cx="109728" cy="10972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4" name="Text 22"/>
          <p:cNvSpPr/>
          <p:nvPr/>
        </p:nvSpPr>
        <p:spPr>
          <a:xfrm>
            <a:off x="868680" y="4654296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Мандат на порядок в справочниках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594360" y="5202936"/>
            <a:ext cx="109728" cy="10972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6" name="Text 24"/>
          <p:cNvSpPr/>
          <p:nvPr/>
        </p:nvSpPr>
        <p:spPr>
          <a:xfrm>
            <a:off x="868680" y="5056632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Мандат на перенос / вывод отчётов из BI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B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Стратегия развития аналитических решений блока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36599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B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2026-07-29T10:10:08Z</dcterms:created>
  <dcterms:modified xsi:type="dcterms:W3CDTF">2026-07-29T10:10:08Z</dcterms:modified>
</cp:coreProperties>
</file>