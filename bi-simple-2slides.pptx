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9144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руководитель хочет от аналитики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28600" y="420624"/>
            <a:ext cx="86868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493776"/>
            <a:ext cx="2633472" cy="2176272"/>
          </a:xfrm>
          <a:prstGeom prst="roundRect">
            <a:avLst>
              <a:gd name="adj" fmla="val 3361"/>
            </a:avLst>
          </a:prstGeom>
          <a:solidFill>
            <a:srgbClr val="E3EEF8"/>
          </a:solidFill>
          <a:ln w="19050">
            <a:solidFill>
              <a:srgbClr val="1B5E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493776"/>
            <a:ext cx="2633472" cy="420624"/>
          </a:xfrm>
          <a:prstGeom prst="roundRect">
            <a:avLst>
              <a:gd name="adj" fmla="val 17391"/>
            </a:avLst>
          </a:prstGeom>
          <a:solidFill>
            <a:srgbClr val="1B5E99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" y="768096"/>
            <a:ext cx="2633472" cy="146304"/>
          </a:xfrm>
          <a:prstGeom prst="rect">
            <a:avLst/>
          </a:prstGeom>
          <a:solidFill>
            <a:srgbClr val="1B5E99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" y="548640"/>
            <a:ext cx="2450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Всё под контролем?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6616" y="987552"/>
            <a:ext cx="241401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взгляд на экран — и понятно: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зелёно, где горит, где риск.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" y="1664208"/>
            <a:ext cx="2414016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7620">
            <a:solidFill>
              <a:srgbClr val="1B5E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1700784"/>
            <a:ext cx="23042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«Выручка в плане, но конверсия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падает третью неделю подряд»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8328" y="2395728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E3F2E8"/>
          </a:solidFill>
          <a:ln w="10160">
            <a:solidFill>
              <a:srgbClr val="1D7A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239572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7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Есть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081528" y="493776"/>
            <a:ext cx="2633472" cy="2176272"/>
          </a:xfrm>
          <a:prstGeom prst="roundRect">
            <a:avLst>
              <a:gd name="adj" fmla="val 3361"/>
            </a:avLst>
          </a:prstGeom>
          <a:solidFill>
            <a:srgbClr val="FAF2DC"/>
          </a:solidFill>
          <a:ln w="19050">
            <a:solidFill>
              <a:srgbClr val="B97A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81528" y="493776"/>
            <a:ext cx="2633472" cy="420624"/>
          </a:xfrm>
          <a:prstGeom prst="roundRect">
            <a:avLst>
              <a:gd name="adj" fmla="val 17391"/>
            </a:avLst>
          </a:prstGeom>
          <a:solidFill>
            <a:srgbClr val="B97A00"/>
          </a:solidFill>
          <a:ln/>
        </p:spPr>
      </p:sp>
      <p:sp>
        <p:nvSpPr>
          <p:cNvPr id="16" name="Shape 14"/>
          <p:cNvSpPr/>
          <p:nvPr/>
        </p:nvSpPr>
        <p:spPr>
          <a:xfrm>
            <a:off x="3081528" y="768096"/>
            <a:ext cx="2633472" cy="146304"/>
          </a:xfrm>
          <a:prstGeom prst="rect">
            <a:avLst/>
          </a:prstGeom>
          <a:solidFill>
            <a:srgbClr val="B97A00"/>
          </a:solidFill>
          <a:ln/>
        </p:spPr>
      </p:sp>
      <p:sp>
        <p:nvSpPr>
          <p:cNvPr id="17" name="Text 15"/>
          <p:cNvSpPr/>
          <p:nvPr/>
        </p:nvSpPr>
        <p:spPr>
          <a:xfrm>
            <a:off x="3209544" y="548640"/>
            <a:ext cx="2450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Узнать раньше чем грянет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9544" y="987552"/>
            <a:ext cx="241401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сама сообщает об аномалии.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нужно заходить и искать — пришёл сигнал.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91256" y="1664208"/>
            <a:ext cx="2414016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7620">
            <a:solidFill>
              <a:srgbClr val="B97A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1700784"/>
            <a:ext cx="23042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«NPS упал на 8 пунктов за неделю —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смотри розницу»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91256" y="2395728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FAE8E8"/>
          </a:solidFill>
          <a:ln w="10160">
            <a:solidFill>
              <a:srgbClr val="8A2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91256" y="239572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943600" y="493776"/>
            <a:ext cx="2633472" cy="2176272"/>
          </a:xfrm>
          <a:prstGeom prst="roundRect">
            <a:avLst>
              <a:gd name="adj" fmla="val 3361"/>
            </a:avLst>
          </a:prstGeom>
          <a:solidFill>
            <a:srgbClr val="E3F2E8"/>
          </a:solidFill>
          <a:ln w="19050">
            <a:solidFill>
              <a:srgbClr val="1D7A4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493776"/>
            <a:ext cx="2633472" cy="420624"/>
          </a:xfrm>
          <a:prstGeom prst="roundRect">
            <a:avLst>
              <a:gd name="adj" fmla="val 17391"/>
            </a:avLst>
          </a:prstGeom>
          <a:solidFill>
            <a:srgbClr val="1D7A4E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0" y="768096"/>
            <a:ext cx="2633472" cy="146304"/>
          </a:xfrm>
          <a:prstGeom prst="rect">
            <a:avLst/>
          </a:prstGeom>
          <a:solidFill>
            <a:srgbClr val="1D7A4E"/>
          </a:solidFill>
          <a:ln/>
        </p:spPr>
      </p:sp>
      <p:sp>
        <p:nvSpPr>
          <p:cNvPr id="26" name="Text 24"/>
          <p:cNvSpPr/>
          <p:nvPr/>
        </p:nvSpPr>
        <p:spPr>
          <a:xfrm>
            <a:off x="6071616" y="548640"/>
            <a:ext cx="2450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так вышло?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71616" y="987552"/>
            <a:ext cx="241401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просто цифра — а объяснение.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Какой юнит, продукт, канал повлиял.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53328" y="1664208"/>
            <a:ext cx="2414016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7620">
            <a:solidFill>
              <a:srgbClr val="1D7A4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08192" y="1700784"/>
            <a:ext cx="23042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«Маржа упала из-за роста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стоимости привлечения в B2C»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53328" y="2395728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FAE8E8"/>
          </a:solidFill>
          <a:ln w="10160">
            <a:solidFill>
              <a:srgbClr val="8A20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53328" y="239572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664208" y="2816352"/>
            <a:ext cx="2633472" cy="2176272"/>
          </a:xfrm>
          <a:prstGeom prst="roundRect">
            <a:avLst>
              <a:gd name="adj" fmla="val 3361"/>
            </a:avLst>
          </a:prstGeom>
          <a:solidFill>
            <a:srgbClr val="EDE6F7"/>
          </a:solidFill>
          <a:ln w="19050">
            <a:solidFill>
              <a:srgbClr val="5C3A8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664208" y="2816352"/>
            <a:ext cx="2633472" cy="420624"/>
          </a:xfrm>
          <a:prstGeom prst="roundRect">
            <a:avLst>
              <a:gd name="adj" fmla="val 17391"/>
            </a:avLst>
          </a:prstGeom>
          <a:solidFill>
            <a:srgbClr val="5C3A8A"/>
          </a:solidFill>
          <a:ln/>
        </p:spPr>
      </p:sp>
      <p:sp>
        <p:nvSpPr>
          <p:cNvPr id="34" name="Shape 32"/>
          <p:cNvSpPr/>
          <p:nvPr/>
        </p:nvSpPr>
        <p:spPr>
          <a:xfrm>
            <a:off x="1664208" y="3090672"/>
            <a:ext cx="2633472" cy="146304"/>
          </a:xfrm>
          <a:prstGeom prst="rect">
            <a:avLst/>
          </a:prstGeom>
          <a:solidFill>
            <a:srgbClr val="5C3A8A"/>
          </a:solidFill>
          <a:ln/>
        </p:spPr>
      </p:sp>
      <p:sp>
        <p:nvSpPr>
          <p:cNvPr id="35" name="Text 33"/>
          <p:cNvSpPr/>
          <p:nvPr/>
        </p:nvSpPr>
        <p:spPr>
          <a:xfrm>
            <a:off x="1792224" y="2871216"/>
            <a:ext cx="2450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я сейчас стою?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792224" y="3310128"/>
            <a:ext cx="241401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Моё место в общей картине банка.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Мой вклад, моё отклонение от плана.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773936" y="3986784"/>
            <a:ext cx="2414016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7620">
            <a:solidFill>
              <a:srgbClr val="5C3A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28800" y="4023360"/>
            <a:ext cx="23042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«Юнит B2B — 94% плана,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лучший результат за квартал»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773936" y="4718304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FAF2DC"/>
          </a:solidFill>
          <a:ln w="10160">
            <a:solidFill>
              <a:srgbClr val="B97A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773936" y="4718304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9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Частично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983480" y="2816352"/>
            <a:ext cx="2633472" cy="2176272"/>
          </a:xfrm>
          <a:prstGeom prst="roundRect">
            <a:avLst>
              <a:gd name="adj" fmla="val 3361"/>
            </a:avLst>
          </a:prstGeom>
          <a:solidFill>
            <a:srgbClr val="FAE8E8"/>
          </a:solidFill>
          <a:ln w="19050">
            <a:solidFill>
              <a:srgbClr val="8A202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83480" y="2816352"/>
            <a:ext cx="2633472" cy="420624"/>
          </a:xfrm>
          <a:prstGeom prst="roundRect">
            <a:avLst>
              <a:gd name="adj" fmla="val 17391"/>
            </a:avLst>
          </a:prstGeom>
          <a:solidFill>
            <a:srgbClr val="8A2020"/>
          </a:solidFill>
          <a:ln/>
        </p:spPr>
      </p:sp>
      <p:sp>
        <p:nvSpPr>
          <p:cNvPr id="43" name="Shape 41"/>
          <p:cNvSpPr/>
          <p:nvPr/>
        </p:nvSpPr>
        <p:spPr>
          <a:xfrm>
            <a:off x="4983480" y="3090672"/>
            <a:ext cx="2633472" cy="146304"/>
          </a:xfrm>
          <a:prstGeom prst="rect">
            <a:avLst/>
          </a:prstGeom>
          <a:solidFill>
            <a:srgbClr val="8A2020"/>
          </a:solidFill>
          <a:ln/>
        </p:spPr>
      </p:sp>
      <p:sp>
        <p:nvSpPr>
          <p:cNvPr id="44" name="Text 42"/>
          <p:cNvSpPr/>
          <p:nvPr/>
        </p:nvSpPr>
        <p:spPr>
          <a:xfrm>
            <a:off x="5111496" y="2871216"/>
            <a:ext cx="2450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делать дальше?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111496" y="3310128"/>
            <a:ext cx="241401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подсказывают решение.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формулирует следующий шаг.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093208" y="3986784"/>
            <a:ext cx="2414016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7620">
            <a:solidFill>
              <a:srgbClr val="8A202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48072" y="4023360"/>
            <a:ext cx="23042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«Рекомендация: усилить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канал реферальных продаж»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093208" y="4718304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FAE8E8"/>
          </a:solidFill>
          <a:ln w="10160">
            <a:solidFill>
              <a:srgbClr val="8A202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93208" y="4718304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28600" y="4974336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Курсив — пример того что должна говорить система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943600" y="4974336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7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Есть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949440" y="4974336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9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Частично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955280" y="4974336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A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Нет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9144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делаем дальше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28600" y="420624"/>
            <a:ext cx="86868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493776"/>
            <a:ext cx="2724912" cy="603504"/>
          </a:xfrm>
          <a:prstGeom prst="roundRect">
            <a:avLst>
              <a:gd name="adj" fmla="val 12121"/>
            </a:avLst>
          </a:prstGeom>
          <a:solidFill>
            <a:srgbClr val="1D7A4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585216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5852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7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566928"/>
            <a:ext cx="2084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Быстрый старт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822960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Делаем лучше то что есть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1152144"/>
            <a:ext cx="2724912" cy="1536192"/>
          </a:xfrm>
          <a:prstGeom prst="roundRect">
            <a:avLst>
              <a:gd name="adj" fmla="val 3571"/>
            </a:avLst>
          </a:prstGeom>
          <a:solidFill>
            <a:srgbClr val="E3F2E8"/>
          </a:solidFill>
          <a:ln w="12700">
            <a:solidFill>
              <a:srgbClr val="1D7A4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" y="1261872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1D7A4E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" y="126187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9224" y="1289304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Алерты и сигналы в мессенджер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8328" y="1609344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1D7A4E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" y="160934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9224" y="1636776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AI-нарратив к аномалиям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8328" y="1956816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1D7A4E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" y="195681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9224" y="1984248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Свежесть данных до вчера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8328" y="2304288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1D7A4E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" y="230428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9224" y="2331720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Drill-down по целям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" y="2743200"/>
            <a:ext cx="2724912" cy="438912"/>
          </a:xfrm>
          <a:prstGeom prst="roundRect">
            <a:avLst>
              <a:gd name="adj" fmla="val 12500"/>
            </a:avLst>
          </a:prstGeom>
          <a:solidFill>
            <a:srgbClr val="E3F2E8"/>
          </a:solidFill>
          <a:ln w="12700">
            <a:solidFill>
              <a:srgbClr val="1D7A4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" y="2743200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7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Результат через 1–3 месяца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3236976"/>
            <a:ext cx="2724912" cy="365760"/>
          </a:xfrm>
          <a:prstGeom prst="roundRect">
            <a:avLst>
              <a:gd name="adj" fmla="val 15000"/>
            </a:avLst>
          </a:prstGeom>
          <a:solidFill>
            <a:srgbClr val="FAF2DC"/>
          </a:solidFill>
          <a:ln w="12700">
            <a:solidFill>
              <a:srgbClr val="B97A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" y="3236976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Потолок без фундамента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3657600"/>
            <a:ext cx="2724912" cy="329184"/>
          </a:xfrm>
          <a:prstGeom prst="roundRect">
            <a:avLst>
              <a:gd name="adj" fmla="val 16667"/>
            </a:avLst>
          </a:prstGeom>
          <a:solidFill>
            <a:srgbClr val="1D7A4E"/>
          </a:solidFill>
          <a:ln/>
        </p:spPr>
      </p:sp>
      <p:sp>
        <p:nvSpPr>
          <p:cNvPr id="28" name="Text 26"/>
          <p:cNvSpPr/>
          <p:nvPr/>
        </p:nvSpPr>
        <p:spPr>
          <a:xfrm>
            <a:off x="228600" y="3657600"/>
            <a:ext cx="2724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1–3 мес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099816" y="493776"/>
            <a:ext cx="2724912" cy="603504"/>
          </a:xfrm>
          <a:prstGeom prst="roundRect">
            <a:avLst>
              <a:gd name="adj" fmla="val 12121"/>
            </a:avLst>
          </a:prstGeom>
          <a:solidFill>
            <a:srgbClr val="1B5E99"/>
          </a:solidFill>
          <a:ln/>
        </p:spPr>
      </p:sp>
      <p:sp>
        <p:nvSpPr>
          <p:cNvPr id="30" name="Shape 28"/>
          <p:cNvSpPr/>
          <p:nvPr/>
        </p:nvSpPr>
        <p:spPr>
          <a:xfrm>
            <a:off x="3191256" y="585216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3191256" y="5852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5E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648456" y="566928"/>
            <a:ext cx="2084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Гибрид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648456" y="822960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Текущее работает, строим фундамент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099816" y="1152144"/>
            <a:ext cx="2724912" cy="1536192"/>
          </a:xfrm>
          <a:prstGeom prst="roundRect">
            <a:avLst>
              <a:gd name="adj" fmla="val 3571"/>
            </a:avLst>
          </a:prstGeom>
          <a:solidFill>
            <a:srgbClr val="E3EEF8"/>
          </a:solidFill>
          <a:ln w="12700">
            <a:solidFill>
              <a:srgbClr val="1B5E9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9544" y="1261872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1B5E99"/>
          </a:solidFill>
          <a:ln/>
        </p:spPr>
      </p:sp>
      <p:sp>
        <p:nvSpPr>
          <p:cNvPr id="36" name="Text 34"/>
          <p:cNvSpPr/>
          <p:nvPr/>
        </p:nvSpPr>
        <p:spPr>
          <a:xfrm>
            <a:off x="3209544" y="126187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520440" y="1289304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Дашборд Лидера остаётся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9544" y="1609344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1B5E99"/>
          </a:solidFill>
          <a:ln/>
        </p:spPr>
      </p:sp>
      <p:sp>
        <p:nvSpPr>
          <p:cNvPr id="39" name="Text 37"/>
          <p:cNvSpPr/>
          <p:nvPr/>
        </p:nvSpPr>
        <p:spPr>
          <a:xfrm>
            <a:off x="3209544" y="160934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520440" y="1636776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Каталог данных (DataHub)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9544" y="1956816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1B5E99"/>
          </a:solidFill>
          <a:ln/>
        </p:spPr>
      </p:sp>
      <p:sp>
        <p:nvSpPr>
          <p:cNvPr id="42" name="Text 40"/>
          <p:cNvSpPr/>
          <p:nvPr/>
        </p:nvSpPr>
        <p:spPr>
          <a:xfrm>
            <a:off x="3209544" y="195681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520440" y="1984248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Единые определения метрик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09544" y="2304288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1B5E99"/>
          </a:solidFill>
          <a:ln/>
        </p:spPr>
      </p:sp>
      <p:sp>
        <p:nvSpPr>
          <p:cNvPr id="45" name="Text 43"/>
          <p:cNvSpPr/>
          <p:nvPr/>
        </p:nvSpPr>
        <p:spPr>
          <a:xfrm>
            <a:off x="3209544" y="230428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520440" y="2331720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AI-слой через 6–12 мес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099816" y="2743200"/>
            <a:ext cx="2724912" cy="438912"/>
          </a:xfrm>
          <a:prstGeom prst="roundRect">
            <a:avLst>
              <a:gd name="adj" fmla="val 12500"/>
            </a:avLst>
          </a:prstGeom>
          <a:solidFill>
            <a:srgbClr val="E3F2E8"/>
          </a:solidFill>
          <a:ln w="12700">
            <a:solidFill>
              <a:srgbClr val="1D7A4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9544" y="2743200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7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Устойчивый результат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099816" y="3236976"/>
            <a:ext cx="2724912" cy="365760"/>
          </a:xfrm>
          <a:prstGeom prst="roundRect">
            <a:avLst>
              <a:gd name="adj" fmla="val 15000"/>
            </a:avLst>
          </a:prstGeom>
          <a:solidFill>
            <a:srgbClr val="FAF2DC"/>
          </a:solidFill>
          <a:ln w="12700">
            <a:solidFill>
              <a:srgbClr val="B97A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9544" y="3236976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Дольше, нужны ресурсы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099816" y="3657600"/>
            <a:ext cx="2724912" cy="329184"/>
          </a:xfrm>
          <a:prstGeom prst="roundRect">
            <a:avLst>
              <a:gd name="adj" fmla="val 16667"/>
            </a:avLst>
          </a:prstGeom>
          <a:solidFill>
            <a:srgbClr val="1B5E99"/>
          </a:solidFill>
          <a:ln/>
        </p:spPr>
      </p:sp>
      <p:sp>
        <p:nvSpPr>
          <p:cNvPr id="52" name="Text 50"/>
          <p:cNvSpPr/>
          <p:nvPr/>
        </p:nvSpPr>
        <p:spPr>
          <a:xfrm>
            <a:off x="3099816" y="3657600"/>
            <a:ext cx="2724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6–12 мес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971032" y="493776"/>
            <a:ext cx="2724912" cy="603504"/>
          </a:xfrm>
          <a:prstGeom prst="roundRect">
            <a:avLst>
              <a:gd name="adj" fmla="val 12121"/>
            </a:avLst>
          </a:prstGeom>
          <a:solidFill>
            <a:srgbClr val="5C3A8A"/>
          </a:solidFill>
          <a:ln/>
        </p:spPr>
      </p:sp>
      <p:sp>
        <p:nvSpPr>
          <p:cNvPr id="54" name="Shape 52"/>
          <p:cNvSpPr/>
          <p:nvPr/>
        </p:nvSpPr>
        <p:spPr>
          <a:xfrm>
            <a:off x="6062472" y="585216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6062472" y="5852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519672" y="566928"/>
            <a:ext cx="2084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Новая архитектура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6519672" y="822960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стек с нуля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971032" y="1152144"/>
            <a:ext cx="2724912" cy="1536192"/>
          </a:xfrm>
          <a:prstGeom prst="roundRect">
            <a:avLst>
              <a:gd name="adj" fmla="val 3571"/>
            </a:avLst>
          </a:prstGeom>
          <a:solidFill>
            <a:srgbClr val="EDE6F7"/>
          </a:solidFill>
          <a:ln w="12700">
            <a:solidFill>
              <a:srgbClr val="5C3A8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080760" y="1261872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5C3A8A"/>
          </a:solidFill>
          <a:ln/>
        </p:spPr>
      </p:sp>
      <p:sp>
        <p:nvSpPr>
          <p:cNvPr id="60" name="Text 58"/>
          <p:cNvSpPr/>
          <p:nvPr/>
        </p:nvSpPr>
        <p:spPr>
          <a:xfrm>
            <a:off x="6080760" y="126187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391656" y="1289304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Хранилище + каталог данных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080760" y="1609344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5C3A8A"/>
          </a:solidFill>
          <a:ln/>
        </p:spPr>
      </p:sp>
      <p:sp>
        <p:nvSpPr>
          <p:cNvPr id="63" name="Text 61"/>
          <p:cNvSpPr/>
          <p:nvPr/>
        </p:nvSpPr>
        <p:spPr>
          <a:xfrm>
            <a:off x="6080760" y="160934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391656" y="1636776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Семантика + онтология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080760" y="1956816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5C3A8A"/>
          </a:solidFill>
          <a:ln/>
        </p:spPr>
      </p:sp>
      <p:sp>
        <p:nvSpPr>
          <p:cNvPr id="66" name="Text 64"/>
          <p:cNvSpPr/>
          <p:nvPr/>
        </p:nvSpPr>
        <p:spPr>
          <a:xfrm>
            <a:off x="6080760" y="195681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391656" y="1984248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для всех уровней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080760" y="2304288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5C3A8A"/>
          </a:solidFill>
          <a:ln/>
        </p:spPr>
      </p:sp>
      <p:sp>
        <p:nvSpPr>
          <p:cNvPr id="69" name="Text 67"/>
          <p:cNvSpPr/>
          <p:nvPr/>
        </p:nvSpPr>
        <p:spPr>
          <a:xfrm>
            <a:off x="6080760" y="230428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391656" y="2331720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AI-агент на графе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971032" y="2743200"/>
            <a:ext cx="2724912" cy="438912"/>
          </a:xfrm>
          <a:prstGeom prst="roundRect">
            <a:avLst>
              <a:gd name="adj" fmla="val 12500"/>
            </a:avLst>
          </a:prstGeom>
          <a:solidFill>
            <a:srgbClr val="E3F2E8"/>
          </a:solidFill>
          <a:ln w="12700">
            <a:solidFill>
              <a:srgbClr val="1D7A4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080760" y="2743200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7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Максимальный потенциал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5971032" y="3236976"/>
            <a:ext cx="2724912" cy="365760"/>
          </a:xfrm>
          <a:prstGeom prst="roundRect">
            <a:avLst>
              <a:gd name="adj" fmla="val 15000"/>
            </a:avLst>
          </a:prstGeom>
          <a:solidFill>
            <a:srgbClr val="FAE8E8"/>
          </a:solidFill>
          <a:ln w="12700">
            <a:solidFill>
              <a:srgbClr val="8A202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080760" y="3236976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12–24 месяца, высокие инвестиции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5971032" y="3657600"/>
            <a:ext cx="2724912" cy="329184"/>
          </a:xfrm>
          <a:prstGeom prst="roundRect">
            <a:avLst>
              <a:gd name="adj" fmla="val 16667"/>
            </a:avLst>
          </a:prstGeom>
          <a:solidFill>
            <a:srgbClr val="5C3A8A"/>
          </a:solidFill>
          <a:ln/>
        </p:spPr>
      </p:sp>
      <p:sp>
        <p:nvSpPr>
          <p:cNvPr id="76" name="Text 74"/>
          <p:cNvSpPr/>
          <p:nvPr/>
        </p:nvSpPr>
        <p:spPr>
          <a:xfrm>
            <a:off x="5971032" y="3657600"/>
            <a:ext cx="2724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12–24 мес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228600" y="4828032"/>
            <a:ext cx="8686800" cy="237744"/>
          </a:xfrm>
          <a:prstGeom prst="roundRect">
            <a:avLst>
              <a:gd name="adj" fmla="val 15385"/>
            </a:avLst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нужно в любом сценарии: проактивные сигналы · свежие данные · единые цифры везде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2026-08-10T09:04:58Z</dcterms:created>
  <dcterms:modified xsi:type="dcterms:W3CDTF">2026-08-10T09:04:58Z</dcterms:modified>
</cp:coreProperties>
</file>