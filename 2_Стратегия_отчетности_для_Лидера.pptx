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a1b1ed7c-a499-b2c5-5e1a-b719b168b41c}">
          <p14:sldIdLst>
            <p14:sldId id="256"/>
          </p14:sldIdLst>
        </p14:section>
        <p14:section name="Направления" id="{f15b9785-fe07-1155-45f0-d51b24d47c42}">
          <p14:sldIdLst>
            <p14:sldId id="257"/>
          </p14:sldIdLst>
        </p14:section>
        <p14:section name="Фундамент" id="{318925a9-8a0e-1435-ce03-76715fd89103}">
          <p14:sldIdLst>
            <p14:sldId id="258"/>
          </p14:sldIdLst>
        </p14:section>
        <p14:section name="Реформа" id="{2c8536f0-b8bd-94df-73e2-e828725b9951}">
          <p14:sldIdLst>
            <p14:sldId id="259"/>
          </p14:sldIdLst>
        </p14:section>
        <p14:section name="Дорожная карта" id="{2522995b-f072-50bb-5302-e43694b6af5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Стратегия отчётности для Лидера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Стратегия отчётности для Лидера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Четыре направления на одном фундаменте: мастерданные и MCP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Четыре направления</a:t>
            </a:r>
            <a:endParaRPr lang="en-US" sz="3200" dirty="0"/>
          </a:p>
        </p:txBody>
      </p:sp>
      <p:graphicFrame>
        <p:nvGraphicFramePr>
          <p:cNvPr id="3" name="di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9593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Направление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получает Лидер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Моя задача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Дерево метрик продуктов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Гипотезы и инсайты: что двигает результат и куда вкладываться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Мастерданные по продуктам, агенты для построения дерева и описания метрик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 мастердэшей к мастерданным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Одна цифра без споров и меньше затрат на отчётность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Методика расчёта новой метрики, реформа мастердэшей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Брифы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Главное по своей зоне — каждое утро, без поиска по отчётам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Отчёты и модели данных, готовые к MCP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 на вопрос по любому отчёту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 за минуты, а не недели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Глоссарий и описания отчётов для агента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Все четыре направления опираются на одно и то же: эталонные метрики и доступ агентов к ним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Всё стоит на одном фундаменте</a:t>
            </a:r>
            <a:endParaRPr lang="en-US" sz="3200" dirty="0"/>
          </a:p>
        </p:txBody>
      </p:sp>
      <p:sp>
        <p:nvSpPr>
          <p:cNvPr id="3" name="top0"/>
          <p:cNvSpPr/>
          <p:nvPr/>
        </p:nvSpPr>
        <p:spPr>
          <a:xfrm>
            <a:off x="548640" y="1417320"/>
            <a:ext cx="2587752" cy="9144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Инсайты и гипотезы</a:t>
            </a:r>
            <a:endParaRPr lang="en-US" sz="1600" dirty="0"/>
          </a:p>
        </p:txBody>
      </p:sp>
      <p:sp>
        <p:nvSpPr>
          <p:cNvPr id="5" name="top1"/>
          <p:cNvSpPr/>
          <p:nvPr/>
        </p:nvSpPr>
        <p:spPr>
          <a:xfrm>
            <a:off x="3410712" y="1417320"/>
            <a:ext cx="2587752" cy="9144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10712" y="1417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Брифы</a:t>
            </a:r>
            <a:endParaRPr lang="en-US" sz="1600" dirty="0"/>
          </a:p>
        </p:txBody>
      </p:sp>
      <p:sp>
        <p:nvSpPr>
          <p:cNvPr id="7" name="top2"/>
          <p:cNvSpPr/>
          <p:nvPr/>
        </p:nvSpPr>
        <p:spPr>
          <a:xfrm>
            <a:off x="6272784" y="1417320"/>
            <a:ext cx="2587752" cy="9144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72784" y="1417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Ответы на вопросы</a:t>
            </a:r>
            <a:endParaRPr lang="en-US" sz="1600" dirty="0"/>
          </a:p>
        </p:txBody>
      </p:sp>
      <p:sp>
        <p:nvSpPr>
          <p:cNvPr id="9" name="top3"/>
          <p:cNvSpPr/>
          <p:nvPr/>
        </p:nvSpPr>
        <p:spPr>
          <a:xfrm>
            <a:off x="9134856" y="1417320"/>
            <a:ext cx="2587752" cy="9144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34856" y="1417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Отчётность без споров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Что видит Лидер</a:t>
            </a:r>
            <a:endParaRPr lang="en-US" sz="1200" dirty="0"/>
          </a:p>
        </p:txBody>
      </p:sp>
      <p:sp>
        <p:nvSpPr>
          <p:cNvPr id="12" name="mcp"/>
          <p:cNvSpPr/>
          <p:nvPr/>
        </p:nvSpPr>
        <p:spPr>
          <a:xfrm>
            <a:off x="548640" y="2834640"/>
            <a:ext cx="11094415" cy="868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8346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MCP в BI (декабрь) —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доступ агентов к отчётам и данным</a:t>
            </a:r>
            <a:endParaRPr lang="en-US" sz="1700" dirty="0"/>
          </a:p>
        </p:txBody>
      </p:sp>
      <p:sp>
        <p:nvSpPr>
          <p:cNvPr id="14" name="base"/>
          <p:cNvSpPr/>
          <p:nvPr/>
        </p:nvSpPr>
        <p:spPr>
          <a:xfrm>
            <a:off x="548640" y="3886200"/>
            <a:ext cx="11094415" cy="10972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886200"/>
            <a:ext cx="8716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Мастерданные —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эталонные метрики · глоссарий · описания отчётов и моделей данных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814255" y="3886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моя зона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MCP даёт агенту доступ к отчёту, глоссарий — понимание, что в нём.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Нужны оба: без мастерданных агент отвечает уверенно, но неверно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Реформа мастердэшей: меньше ресурсов</a:t>
            </a:r>
            <a:endParaRPr lang="en-US" sz="3200" dirty="0"/>
          </a:p>
        </p:txBody>
      </p:sp>
      <p:sp>
        <p:nvSpPr>
          <p:cNvPr id="3" name="ref0"/>
          <p:cNvSpPr/>
          <p:nvPr/>
        </p:nvSpPr>
        <p:spPr>
          <a:xfrm>
            <a:off x="548640" y="1417320"/>
            <a:ext cx="6583680" cy="868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Сократить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4173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Вкладки и виджеты без просмотров отключаем по логам</a:t>
            </a:r>
            <a:endParaRPr lang="en-US" sz="1500" dirty="0"/>
          </a:p>
        </p:txBody>
      </p:sp>
      <p:sp>
        <p:nvSpPr>
          <p:cNvPr id="6" name="ref1"/>
          <p:cNvSpPr/>
          <p:nvPr/>
        </p:nvSpPr>
        <p:spPr>
          <a:xfrm>
            <a:off x="548640" y="2441448"/>
            <a:ext cx="6583680" cy="868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414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Унифицировать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4414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Один эталонный расчёт вместо нескольких копий — меньше ETL и сверок</a:t>
            </a:r>
            <a:endParaRPr lang="en-US" sz="1500" dirty="0"/>
          </a:p>
        </p:txBody>
      </p:sp>
      <p:sp>
        <p:nvSpPr>
          <p:cNvPr id="9" name="ref2"/>
          <p:cNvSpPr/>
          <p:nvPr/>
        </p:nvSpPr>
        <p:spPr>
          <a:xfrm>
            <a:off x="548640" y="3465576"/>
            <a:ext cx="6583680" cy="868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46557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Заменить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46557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Часть виджетов — брифом и ответом агента, без новой разработки</a:t>
            </a:r>
            <a:endParaRPr lang="en-US" sz="1500" dirty="0"/>
          </a:p>
        </p:txBody>
      </p:sp>
      <p:sp>
        <p:nvSpPr>
          <p:cNvPr id="12" name="ref3"/>
          <p:cNvSpPr/>
          <p:nvPr/>
        </p:nvSpPr>
        <p:spPr>
          <a:xfrm>
            <a:off x="548640" y="4489704"/>
            <a:ext cx="6583680" cy="868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8970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Измерять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48970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Трудозатраты на поддержку и число поддерживаемых расчётов — раз в квартал</a:t>
            </a:r>
            <a:endParaRPr lang="en-US" sz="1500" dirty="0"/>
          </a:p>
        </p:txBody>
      </p:sp>
      <p:sp>
        <p:nvSpPr>
          <p:cNvPr id="15" name="goal"/>
          <p:cNvSpPr/>
          <p:nvPr/>
        </p:nvSpPr>
        <p:spPr>
          <a:xfrm>
            <a:off x="7498080" y="1417320"/>
            <a:ext cx="4144975" cy="3941064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181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Цель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14884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Перевести ресурс команды с поддержки витрин на мастерданные и агентов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4206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Каждый сокращённый виджет — минус расчёт, сверка и поддержка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Дорожная карта</a:t>
            </a:r>
            <a:endParaRPr lang="en-US" sz="3200" dirty="0"/>
          </a:p>
        </p:txBody>
      </p:sp>
      <p:graphicFrame>
        <p:nvGraphicFramePr>
          <p:cNvPr id="6" name="road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2027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Дерево метрик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Выбран пилотный продукт, листья описаны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Дерево пилота собрано, первая подсветка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Первые гипотезы для Лидера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Деревья 3–5 продуктов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Мастерданные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Методика новой метрики, анализ использования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Каталог 30–50 метрик, сокращение мастердэшей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Отчёты блоков на эталоне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Поддержка через каталог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Брифы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запущен, готовим отчёты и модели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Пилотный бриф для Лидера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Брифы для заместителей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Мониторинг отклонений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Ответы на вопросы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Глоссарий пилотных метрик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Ответы по 10–20 отчётам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Расширение покрытия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Любой отчёт из каталога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Каждый квартал — видимый результат для Лидера и шаг к общей цели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 Green Minimal">
  <a:themeElements>
    <a:clrScheme name="BI Green Minimal">
      <a:dk1>
        <a:srgbClr val="111111"/>
      </a:dk1>
      <a:lt1>
        <a:srgbClr val="FFFFFF"/>
      </a:lt1>
      <a:dk2>
        <a:srgbClr val="0E4B36"/>
      </a:dk2>
      <a:lt2>
        <a:srgbClr val="F1F4F2"/>
      </a:lt2>
      <a:accent1>
        <a:srgbClr val="0E4B36"/>
      </a:accent1>
      <a:accent2>
        <a:srgbClr val="111111"/>
      </a:accent2>
      <a:accent3>
        <a:srgbClr val="6B6B6B"/>
      </a:accent3>
      <a:accent4>
        <a:srgbClr val="D5DDD8"/>
      </a:accent4>
      <a:accent5>
        <a:srgbClr val="3F7A63"/>
      </a:accent5>
      <a:accent6>
        <a:srgbClr val="A9BDB3"/>
      </a:accent6>
      <a:hlink>
        <a:srgbClr val="0E4B36"/>
      </a:hlink>
      <a:folHlink>
        <a:srgbClr val="6B6B6B"/>
      </a:folHlink>
    </a:clrScheme>
    <a:fontScheme name="BI Green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отчётности для Лидера</dc:title>
  <dc:subject>PptxGenJS Presentation</dc:subject>
  <dc:creator>PptxGenJS</dc:creator>
  <cp:lastModifiedBy>PptxGenJS</cp:lastModifiedBy>
  <cp:revision>1</cp:revision>
  <dcterms:created xsi:type="dcterms:W3CDTF">2026-10-08T15:00:19Z</dcterms:created>
  <dcterms:modified xsi:type="dcterms:W3CDTF">2026-10-08T15:00:19Z</dcterms:modified>
</cp:coreProperties>
</file>