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0A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00" cy="5143500"/>
          </a:xfrm>
          <a:prstGeom prst="rect">
            <a:avLst/>
          </a:prstGeom>
          <a:solidFill>
            <a:srgbClr val="3D1F6E"/>
          </a:solidFill>
          <a:ln w="12700">
            <a:solidFill>
              <a:srgbClr val="3D1F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Функциональные требования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 современной BI-отчётности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5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основе трендов BI 2025–2026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5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 Next · Databricks · Agentforce · PDF-бенчмарк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 rot="2700000">
            <a:off x="6217920" y="548640"/>
            <a:ext cx="101600" cy="10160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700000">
            <a:off x="6382512" y="777240"/>
            <a:ext cx="63500" cy="6350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700000">
            <a:off x="6537960" y="621792"/>
            <a:ext cx="76200" cy="7620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2700000">
            <a:off x="6126480" y="822960"/>
            <a:ext cx="50800" cy="5080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700000">
            <a:off x="7498080" y="1645920"/>
            <a:ext cx="101600" cy="10160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7662672" y="1874520"/>
            <a:ext cx="63500" cy="6350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2700000">
            <a:off x="7818120" y="1719072"/>
            <a:ext cx="76200" cy="7620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2700000">
            <a:off x="7406640" y="1920240"/>
            <a:ext cx="50800" cy="5080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2700000">
            <a:off x="6766560" y="2926080"/>
            <a:ext cx="101600" cy="101600"/>
          </a:xfrm>
          <a:prstGeom prst="rect">
            <a:avLst/>
          </a:prstGeom>
          <a:solidFill>
            <a:srgbClr val="F5894A"/>
          </a:solidFill>
          <a:ln w="12700">
            <a:solidFill>
              <a:srgbClr val="F589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2700000">
            <a:off x="6931152" y="3154680"/>
            <a:ext cx="63500" cy="63500"/>
          </a:xfrm>
          <a:prstGeom prst="rect">
            <a:avLst/>
          </a:prstGeom>
          <a:solidFill>
            <a:srgbClr val="F5894A"/>
          </a:solidFill>
          <a:ln w="12700">
            <a:solidFill>
              <a:srgbClr val="F589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2700000">
            <a:off x="7086600" y="2999232"/>
            <a:ext cx="76200" cy="76200"/>
          </a:xfrm>
          <a:prstGeom prst="rect">
            <a:avLst/>
          </a:prstGeom>
          <a:solidFill>
            <a:srgbClr val="F5894A"/>
          </a:solidFill>
          <a:ln w="12700">
            <a:solidFill>
              <a:srgbClr val="F589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2700000">
            <a:off x="6675120" y="3200400"/>
            <a:ext cx="50800" cy="50800"/>
          </a:xfrm>
          <a:prstGeom prst="rect">
            <a:avLst/>
          </a:prstGeom>
          <a:solidFill>
            <a:srgbClr val="F5894A"/>
          </a:solidFill>
          <a:ln w="12700">
            <a:solidFill>
              <a:srgbClr val="F589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0" y="4389120"/>
            <a:ext cx="2743200" cy="548640"/>
          </a:xfrm>
          <a:prstGeom prst="rect">
            <a:avLst/>
          </a:prstGeom>
          <a:solidFill>
            <a:srgbClr val="2A1255"/>
          </a:solidFill>
          <a:ln w="12700">
            <a:solidFill>
              <a:srgbClr val="2A12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4389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функциональных блоков · Must / Should / Nice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937760"/>
            <a:ext cx="9144000" cy="210312"/>
          </a:xfrm>
          <a:prstGeom prst="rect">
            <a:avLst/>
          </a:prstGeom>
          <a:solidFill>
            <a:srgbClr val="2A1255"/>
          </a:solidFill>
          <a:ln w="12700">
            <a:solidFill>
              <a:srgbClr val="2A1255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1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функциональных блоков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Полная карта требований к современной BI-платформе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9728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371600"/>
            <a:ext cx="1920240" cy="16459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430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1430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Семантический слой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21208" y="1627632"/>
            <a:ext cx="475488" cy="201168"/>
          </a:xfrm>
          <a:prstGeom prst="roundRect">
            <a:avLst>
              <a:gd name="adj" fmla="val 22727"/>
            </a:avLst>
          </a:prstGeom>
          <a:solidFill>
            <a:srgbClr val="F75F5F"/>
          </a:solidFill>
          <a:ln w="12700">
            <a:solidFill>
              <a:srgbClr val="F75F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162763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Must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033272" y="1627632"/>
            <a:ext cx="475488" cy="201168"/>
          </a:xfrm>
          <a:prstGeom prst="roundRect">
            <a:avLst>
              <a:gd name="adj" fmla="val 22727"/>
            </a:avLst>
          </a:prstGeom>
          <a:solidFill>
            <a:srgbClr val="F7C04F"/>
          </a:solidFill>
          <a:ln w="12700">
            <a:solidFill>
              <a:srgbClr val="F7C0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162763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Should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2920" y="190195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5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Единые метрики,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5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каталог, lineage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14600" y="109728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A259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14600" y="109728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A259FF"/>
          </a:solidFill>
          <a:ln w="12700">
            <a:solidFill>
              <a:srgbClr val="A259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14600" y="1371600"/>
            <a:ext cx="1920240" cy="164592"/>
          </a:xfrm>
          <a:prstGeom prst="rect">
            <a:avLst/>
          </a:prstGeom>
          <a:solidFill>
            <a:srgbClr val="A259FF"/>
          </a:solidFill>
          <a:ln w="12700">
            <a:solidFill>
              <a:srgbClr val="A259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06040" y="11430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017520" y="11430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Self-Service BI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624328" y="1627632"/>
            <a:ext cx="475488" cy="201168"/>
          </a:xfrm>
          <a:prstGeom prst="roundRect">
            <a:avLst>
              <a:gd name="adj" fmla="val 22727"/>
            </a:avLst>
          </a:prstGeom>
          <a:solidFill>
            <a:srgbClr val="F75F5F"/>
          </a:solidFill>
          <a:ln w="12700">
            <a:solidFill>
              <a:srgbClr val="F75F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24328" y="162763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Must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136392" y="1627632"/>
            <a:ext cx="475488" cy="201168"/>
          </a:xfrm>
          <a:prstGeom prst="roundRect">
            <a:avLst>
              <a:gd name="adj" fmla="val 22727"/>
            </a:avLst>
          </a:prstGeom>
          <a:solidFill>
            <a:srgbClr val="F7C04F"/>
          </a:solidFill>
          <a:ln w="12700">
            <a:solidFill>
              <a:srgbClr val="F7C0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36392" y="162763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Should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606040" y="190195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5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Drag-drop,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5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шаблоны, роли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17720" y="109728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4F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7720" y="109728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4FD6A0"/>
          </a:solidFill>
          <a:ln w="12700">
            <a:solidFill>
              <a:srgbClr val="4F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17720" y="1371600"/>
            <a:ext cx="1920240" cy="164592"/>
          </a:xfrm>
          <a:prstGeom prst="rect">
            <a:avLst/>
          </a:prstGeom>
          <a:solidFill>
            <a:srgbClr val="4FD6A0"/>
          </a:solidFill>
          <a:ln w="12700">
            <a:solidFill>
              <a:srgbClr val="4F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11430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120640" y="11430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и ML — инсайты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27448" y="1627632"/>
            <a:ext cx="475488" cy="201168"/>
          </a:xfrm>
          <a:prstGeom prst="roundRect">
            <a:avLst>
              <a:gd name="adj" fmla="val 22727"/>
            </a:avLst>
          </a:prstGeom>
          <a:solidFill>
            <a:srgbClr val="F75F5F"/>
          </a:solidFill>
          <a:ln w="12700">
            <a:solidFill>
              <a:srgbClr val="F75F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27448" y="162763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Must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239512" y="1627632"/>
            <a:ext cx="475488" cy="201168"/>
          </a:xfrm>
          <a:prstGeom prst="roundRect">
            <a:avLst>
              <a:gd name="adj" fmla="val 22727"/>
            </a:avLst>
          </a:prstGeom>
          <a:solidFill>
            <a:srgbClr val="F7C04F"/>
          </a:solidFill>
          <a:ln w="12700">
            <a:solidFill>
              <a:srgbClr val="F7C04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39512" y="162763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Should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751576" y="1627632"/>
            <a:ext cx="475488" cy="201168"/>
          </a:xfrm>
          <a:prstGeom prst="roundRect">
            <a:avLst>
              <a:gd name="adj" fmla="val 22727"/>
            </a:avLst>
          </a:prstGeom>
          <a:solidFill>
            <a:srgbClr val="4FD6A0"/>
          </a:solidFill>
          <a:ln w="12700">
            <a:solidFill>
              <a:srgbClr val="4FD6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51576" y="162763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Nice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709160" y="190195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5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Чат, аномалии,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5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предикты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720840" y="109728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7C04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20840" y="109728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F7C04F"/>
          </a:solidFill>
          <a:ln w="12700">
            <a:solidFill>
              <a:srgbClr val="F7C04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20840" y="1371600"/>
            <a:ext cx="1920240" cy="164592"/>
          </a:xfrm>
          <a:prstGeom prst="rect">
            <a:avLst/>
          </a:prstGeom>
          <a:solidFill>
            <a:srgbClr val="F7C04F"/>
          </a:solidFill>
          <a:ln w="12700">
            <a:solidFill>
              <a:srgbClr val="F7C04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12280" y="11430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223760" y="11430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Алерты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830568" y="1627632"/>
            <a:ext cx="475488" cy="201168"/>
          </a:xfrm>
          <a:prstGeom prst="roundRect">
            <a:avLst>
              <a:gd name="adj" fmla="val 22727"/>
            </a:avLst>
          </a:prstGeom>
          <a:solidFill>
            <a:srgbClr val="F75F5F"/>
          </a:solidFill>
          <a:ln w="12700">
            <a:solidFill>
              <a:srgbClr val="F75F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30568" y="162763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Must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342632" y="1627632"/>
            <a:ext cx="475488" cy="201168"/>
          </a:xfrm>
          <a:prstGeom prst="roundRect">
            <a:avLst>
              <a:gd name="adj" fmla="val 22727"/>
            </a:avLst>
          </a:prstGeom>
          <a:solidFill>
            <a:srgbClr val="F7C04F"/>
          </a:solidFill>
          <a:ln w="12700">
            <a:solidFill>
              <a:srgbClr val="F7C04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42632" y="162763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Should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812280" y="190195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5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Лента, пороги,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5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маршрутизация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11480" y="269748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75F5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11480" y="269748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F75F5F"/>
          </a:solidFill>
          <a:ln w="12700">
            <a:solidFill>
              <a:srgbClr val="F75F5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11480" y="2971800"/>
            <a:ext cx="1920240" cy="164592"/>
          </a:xfrm>
          <a:prstGeom prst="rect">
            <a:avLst/>
          </a:prstGeom>
          <a:solidFill>
            <a:srgbClr val="F75F5F"/>
          </a:solidFill>
          <a:ln w="12700">
            <a:solidFill>
              <a:srgbClr val="F75F5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" y="27432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914400" y="27432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21208" y="3227832"/>
            <a:ext cx="475488" cy="201168"/>
          </a:xfrm>
          <a:prstGeom prst="roundRect">
            <a:avLst>
              <a:gd name="adj" fmla="val 22727"/>
            </a:avLst>
          </a:prstGeom>
          <a:solidFill>
            <a:srgbClr val="F75F5F"/>
          </a:solidFill>
          <a:ln w="12700">
            <a:solidFill>
              <a:srgbClr val="F75F5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1208" y="322783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Must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033272" y="3227832"/>
            <a:ext cx="475488" cy="201168"/>
          </a:xfrm>
          <a:prstGeom prst="roundRect">
            <a:avLst>
              <a:gd name="adj" fmla="val 22727"/>
            </a:avLst>
          </a:prstGeom>
          <a:solidFill>
            <a:srgbClr val="4FD6A0"/>
          </a:solidFill>
          <a:ln w="12700">
            <a:solidFill>
              <a:srgbClr val="4FD6A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33272" y="322783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Nice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02920" y="350215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5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Свежесть данных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5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дата в бублике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514600" y="269748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5AB4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514600" y="269748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5AB4FF"/>
          </a:solidFill>
          <a:ln w="12700">
            <a:solidFill>
              <a:srgbClr val="5AB4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514600" y="2971800"/>
            <a:ext cx="1920240" cy="164592"/>
          </a:xfrm>
          <a:prstGeom prst="rect">
            <a:avLst/>
          </a:prstGeom>
          <a:solidFill>
            <a:srgbClr val="5AB4FF"/>
          </a:solidFill>
          <a:ln w="12700">
            <a:solidFill>
              <a:srgbClr val="5AB4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606040" y="27432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3017520" y="27432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Storytelling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2624328" y="3227832"/>
            <a:ext cx="475488" cy="201168"/>
          </a:xfrm>
          <a:prstGeom prst="roundRect">
            <a:avLst>
              <a:gd name="adj" fmla="val 22727"/>
            </a:avLst>
          </a:prstGeom>
          <a:solidFill>
            <a:srgbClr val="F75F5F"/>
          </a:solidFill>
          <a:ln w="12700">
            <a:solidFill>
              <a:srgbClr val="F75F5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624328" y="322783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Must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3136392" y="3227832"/>
            <a:ext cx="475488" cy="201168"/>
          </a:xfrm>
          <a:prstGeom prst="roundRect">
            <a:avLst>
              <a:gd name="adj" fmla="val 22727"/>
            </a:avLst>
          </a:prstGeom>
          <a:solidFill>
            <a:srgbClr val="F7C04F"/>
          </a:solidFill>
          <a:ln w="12700">
            <a:solidFill>
              <a:srgbClr val="F7C04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136392" y="322783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Should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3648456" y="3227832"/>
            <a:ext cx="475488" cy="201168"/>
          </a:xfrm>
          <a:prstGeom prst="roundRect">
            <a:avLst>
              <a:gd name="adj" fmla="val 22727"/>
            </a:avLst>
          </a:prstGeom>
          <a:solidFill>
            <a:srgbClr val="4FD6A0"/>
          </a:solidFill>
          <a:ln w="12700">
            <a:solidFill>
              <a:srgbClr val="4FD6A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648456" y="322783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Nice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2606040" y="350215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5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AI-нарратив,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5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лента новостей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4617720" y="269748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F8C5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617720" y="269748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FF8C5A"/>
          </a:solidFill>
          <a:ln w="12700">
            <a:solidFill>
              <a:srgbClr val="FF8C5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617720" y="2971800"/>
            <a:ext cx="1920240" cy="164592"/>
          </a:xfrm>
          <a:prstGeom prst="rect">
            <a:avLst/>
          </a:prstGeom>
          <a:solidFill>
            <a:srgbClr val="FF8C5A"/>
          </a:solidFill>
          <a:ln w="12700">
            <a:solidFill>
              <a:srgbClr val="FF8C5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709160" y="27432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73" name="Text 71"/>
          <p:cNvSpPr/>
          <p:nvPr/>
        </p:nvSpPr>
        <p:spPr>
          <a:xfrm>
            <a:off x="5120640" y="27432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4727448" y="3227832"/>
            <a:ext cx="475488" cy="201168"/>
          </a:xfrm>
          <a:prstGeom prst="roundRect">
            <a:avLst>
              <a:gd name="adj" fmla="val 22727"/>
            </a:avLst>
          </a:prstGeom>
          <a:solidFill>
            <a:srgbClr val="F75F5F"/>
          </a:solidFill>
          <a:ln w="12700">
            <a:solidFill>
              <a:srgbClr val="F75F5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727448" y="322783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Must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5239512" y="3227832"/>
            <a:ext cx="475488" cy="201168"/>
          </a:xfrm>
          <a:prstGeom prst="roundRect">
            <a:avLst>
              <a:gd name="adj" fmla="val 22727"/>
            </a:avLst>
          </a:prstGeom>
          <a:solidFill>
            <a:srgbClr val="F7C04F"/>
          </a:solidFill>
          <a:ln w="12700">
            <a:solidFill>
              <a:srgbClr val="F7C04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239512" y="322783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Should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4709160" y="350215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5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Доступ, качество,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5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аудит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6720840" y="269748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8C8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720840" y="269748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C8C8FF"/>
          </a:solidFill>
          <a:ln w="12700">
            <a:solidFill>
              <a:srgbClr val="C8C8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720840" y="2971800"/>
            <a:ext cx="1920240" cy="164592"/>
          </a:xfrm>
          <a:prstGeom prst="rect">
            <a:avLst/>
          </a:prstGeom>
          <a:solidFill>
            <a:srgbClr val="C8C8FF"/>
          </a:solidFill>
          <a:ln w="12700">
            <a:solidFill>
              <a:srgbClr val="C8C8F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812280" y="27432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00" dirty="0"/>
          </a:p>
        </p:txBody>
      </p:sp>
      <p:sp>
        <p:nvSpPr>
          <p:cNvPr id="83" name="Text 81"/>
          <p:cNvSpPr/>
          <p:nvPr/>
        </p:nvSpPr>
        <p:spPr>
          <a:xfrm>
            <a:off x="7223760" y="27432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Коллаборация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6830568" y="3227832"/>
            <a:ext cx="475488" cy="201168"/>
          </a:xfrm>
          <a:prstGeom prst="roundRect">
            <a:avLst>
              <a:gd name="adj" fmla="val 22727"/>
            </a:avLst>
          </a:prstGeom>
          <a:solidFill>
            <a:srgbClr val="F75F5F"/>
          </a:solidFill>
          <a:ln w="12700">
            <a:solidFill>
              <a:srgbClr val="F75F5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830568" y="322783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Must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7342632" y="3227832"/>
            <a:ext cx="475488" cy="201168"/>
          </a:xfrm>
          <a:prstGeom prst="roundRect">
            <a:avLst>
              <a:gd name="adj" fmla="val 22727"/>
            </a:avLst>
          </a:prstGeom>
          <a:solidFill>
            <a:srgbClr val="F7C04F"/>
          </a:solidFill>
          <a:ln w="12700">
            <a:solidFill>
              <a:srgbClr val="F7C04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342632" y="322783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Should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6812280" y="350215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5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Комменты,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5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links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457200" y="4617720"/>
            <a:ext cx="274320" cy="201168"/>
          </a:xfrm>
          <a:prstGeom prst="roundRect">
            <a:avLst>
              <a:gd name="adj" fmla="val 18182"/>
            </a:avLst>
          </a:prstGeom>
          <a:solidFill>
            <a:srgbClr val="F75F5F"/>
          </a:solidFill>
          <a:ln w="12700">
            <a:solidFill>
              <a:srgbClr val="F75F5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77240" y="46177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— обязательно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2468880" y="4617720"/>
            <a:ext cx="274320" cy="201168"/>
          </a:xfrm>
          <a:prstGeom prst="roundRect">
            <a:avLst>
              <a:gd name="adj" fmla="val 18182"/>
            </a:avLst>
          </a:prstGeom>
          <a:solidFill>
            <a:srgbClr val="F7C04F"/>
          </a:solidFill>
          <a:ln w="12700">
            <a:solidFill>
              <a:srgbClr val="F7C04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788920" y="46177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 — желательно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4480560" y="4617720"/>
            <a:ext cx="274320" cy="201168"/>
          </a:xfrm>
          <a:prstGeom prst="roundRect">
            <a:avLst>
              <a:gd name="adj" fmla="val 18182"/>
            </a:avLst>
          </a:prstGeom>
          <a:solidFill>
            <a:srgbClr val="4FD6A0"/>
          </a:solidFill>
          <a:ln w="12700">
            <a:solidFill>
              <a:srgbClr val="4FD6A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800600" y="46177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Nice — перспектива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0A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00" cy="5143500"/>
          </a:xfrm>
          <a:prstGeom prst="rect">
            <a:avLst/>
          </a:prstGeom>
          <a:solidFill>
            <a:srgbClr val="3D1F6E"/>
          </a:solidFill>
          <a:ln w="12700">
            <a:solidFill>
              <a:srgbClr val="3D1F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4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0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Семантический слой и единые метрики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560" y="45720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Tableau Next Workspace (скрин 1) · наша архитектура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 rot="2700000">
            <a:off x="7498080" y="182880"/>
            <a:ext cx="101600" cy="1016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700000">
            <a:off x="7662672" y="411480"/>
            <a:ext cx="63500" cy="635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2700000">
            <a:off x="7818120" y="256032"/>
            <a:ext cx="76200" cy="762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700000">
            <a:off x="7406640" y="457200"/>
            <a:ext cx="50800" cy="508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804672"/>
            <a:ext cx="7863840" cy="384048"/>
          </a:xfrm>
          <a:prstGeom prst="roundRect">
            <a:avLst>
              <a:gd name="adj" fmla="val 11905"/>
            </a:avLst>
          </a:prstGeom>
          <a:solidFill>
            <a:srgbClr val="1E1050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804672"/>
            <a:ext cx="54864" cy="38404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" y="850392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0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Единое определение каждой метрики — одна цифра выручки везде, без расхождений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17536" y="886968"/>
            <a:ext cx="530352" cy="219456"/>
          </a:xfrm>
          <a:prstGeom prst="roundRect">
            <a:avLst>
              <a:gd name="adj" fmla="val 20833"/>
            </a:avLst>
          </a:prstGeom>
          <a:solidFill>
            <a:srgbClr val="F75F5F"/>
          </a:solidFill>
          <a:ln w="12700">
            <a:solidFill>
              <a:srgbClr val="F75F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17536" y="88696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1261872"/>
            <a:ext cx="7863840" cy="384048"/>
          </a:xfrm>
          <a:prstGeom prst="roundRect">
            <a:avLst>
              <a:gd name="adj" fmla="val 11905"/>
            </a:avLst>
          </a:prstGeom>
          <a:solidFill>
            <a:srgbClr val="1E1050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1261872"/>
            <a:ext cx="54864" cy="38404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" y="1307592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0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Семантические модели независимы от визуализации — меняешь логику в одном месте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17536" y="1344168"/>
            <a:ext cx="530352" cy="219456"/>
          </a:xfrm>
          <a:prstGeom prst="roundRect">
            <a:avLst>
              <a:gd name="adj" fmla="val 20833"/>
            </a:avLst>
          </a:prstGeom>
          <a:solidFill>
            <a:srgbClr val="F75F5F"/>
          </a:solidFill>
          <a:ln w="12700">
            <a:solidFill>
              <a:srgbClr val="F75F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17536" y="134416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1719072"/>
            <a:ext cx="7863840" cy="384048"/>
          </a:xfrm>
          <a:prstGeom prst="roundRect">
            <a:avLst>
              <a:gd name="adj" fmla="val 11905"/>
            </a:avLst>
          </a:prstGeom>
          <a:solidFill>
            <a:srgbClr val="1E1050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1719072"/>
            <a:ext cx="54864" cy="38404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5216" y="1764792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0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Каталог метрик с описанием, owner, формулой и lineage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717536" y="1801368"/>
            <a:ext cx="530352" cy="219456"/>
          </a:xfrm>
          <a:prstGeom prst="roundRect">
            <a:avLst>
              <a:gd name="adj" fmla="val 20833"/>
            </a:avLst>
          </a:prstGeom>
          <a:solidFill>
            <a:srgbClr val="F7C04F"/>
          </a:solidFill>
          <a:ln w="12700">
            <a:solidFill>
              <a:srgbClr val="F7C0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17536" y="180136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2176272"/>
            <a:ext cx="7863840" cy="384048"/>
          </a:xfrm>
          <a:prstGeom prst="roundRect">
            <a:avLst>
              <a:gd name="adj" fmla="val 11905"/>
            </a:avLst>
          </a:prstGeom>
          <a:solidFill>
            <a:srgbClr val="1E1050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2176272"/>
            <a:ext cx="54864" cy="38404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5216" y="2221992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0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Онтология связей между показателями — основа дерева метрик и AI-навигации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717536" y="2258568"/>
            <a:ext cx="530352" cy="219456"/>
          </a:xfrm>
          <a:prstGeom prst="roundRect">
            <a:avLst>
              <a:gd name="adj" fmla="val 20833"/>
            </a:avLst>
          </a:prstGeom>
          <a:solidFill>
            <a:srgbClr val="F7C04F"/>
          </a:solidFill>
          <a:ln w="12700">
            <a:solidFill>
              <a:srgbClr val="F7C04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17536" y="225856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2724912"/>
            <a:ext cx="7863840" cy="347472"/>
          </a:xfrm>
          <a:prstGeom prst="roundRect">
            <a:avLst>
              <a:gd name="adj" fmla="val 15789"/>
            </a:avLst>
          </a:prstGeom>
          <a:solidFill>
            <a:srgbClr val="0D0730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277063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5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Это фундамент всей платформы. Без него AI-чат, алерты и дашборды считают разные цифры.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4937760"/>
            <a:ext cx="9144000" cy="210312"/>
          </a:xfrm>
          <a:prstGeom prst="rect">
            <a:avLst/>
          </a:prstGeom>
          <a:solidFill>
            <a:srgbClr val="0D0730"/>
          </a:solidFill>
          <a:ln w="12700">
            <a:solidFill>
              <a:srgbClr val="0D073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6459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A259FF"/>
          </a:solidFill>
          <a:ln w="12700">
            <a:solidFill>
              <a:srgbClr val="A259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51560" y="164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1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Self-Service BI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45720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PDF слайд 13 — Rise of Self-Service BI · PDF слайд 23 — Low-Code / No-Code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804672"/>
            <a:ext cx="78638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A259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804672"/>
            <a:ext cx="54864" cy="384048"/>
          </a:xfrm>
          <a:prstGeom prst="rect">
            <a:avLst/>
          </a:prstGeom>
          <a:solidFill>
            <a:srgbClr val="A259FF"/>
          </a:solidFill>
          <a:ln w="12700">
            <a:solidFill>
              <a:srgbClr val="A259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" y="850392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Нетехнический пользователь строит отчёт без IT-запроса и без SQL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17536" y="886968"/>
            <a:ext cx="530352" cy="219456"/>
          </a:xfrm>
          <a:prstGeom prst="roundRect">
            <a:avLst>
              <a:gd name="adj" fmla="val 20833"/>
            </a:avLst>
          </a:prstGeom>
          <a:solidFill>
            <a:srgbClr val="F75F5F"/>
          </a:solidFill>
          <a:ln w="12700">
            <a:solidFill>
              <a:srgbClr val="F75F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17536" y="88696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261872"/>
            <a:ext cx="78638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A259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261872"/>
            <a:ext cx="54864" cy="384048"/>
          </a:xfrm>
          <a:prstGeom prst="rect">
            <a:avLst/>
          </a:prstGeom>
          <a:solidFill>
            <a:srgbClr val="A259FF"/>
          </a:solidFill>
          <a:ln w="12700">
            <a:solidFill>
              <a:srgbClr val="A259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" y="1307592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Drag-and-drop интерфейс создания визуализаций (PDF слайд 23)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17536" y="1344168"/>
            <a:ext cx="530352" cy="219456"/>
          </a:xfrm>
          <a:prstGeom prst="roundRect">
            <a:avLst>
              <a:gd name="adj" fmla="val 20833"/>
            </a:avLst>
          </a:prstGeom>
          <a:solidFill>
            <a:srgbClr val="F75F5F"/>
          </a:solidFill>
          <a:ln w="12700">
            <a:solidFill>
              <a:srgbClr val="F75F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17536" y="134416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1719072"/>
            <a:ext cx="78638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A259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1719072"/>
            <a:ext cx="54864" cy="384048"/>
          </a:xfrm>
          <a:prstGeom prst="rect">
            <a:avLst/>
          </a:prstGeom>
          <a:solidFill>
            <a:srgbClr val="A259FF"/>
          </a:solidFill>
          <a:ln w="12700">
            <a:solidFill>
              <a:srgbClr val="A259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" y="1764792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Заготовленные шаблоны страниц и отчётов для типовых задач лидера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17536" y="1801368"/>
            <a:ext cx="530352" cy="219456"/>
          </a:xfrm>
          <a:prstGeom prst="roundRect">
            <a:avLst>
              <a:gd name="adj" fmla="val 20833"/>
            </a:avLst>
          </a:prstGeom>
          <a:solidFill>
            <a:srgbClr val="F75F5F"/>
          </a:solidFill>
          <a:ln w="12700">
            <a:solidFill>
              <a:srgbClr val="F75F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17536" y="180136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176272"/>
            <a:ext cx="78638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A259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176272"/>
            <a:ext cx="54864" cy="384048"/>
          </a:xfrm>
          <a:prstGeom prst="rect">
            <a:avLst/>
          </a:prstGeom>
          <a:solidFill>
            <a:srgbClr val="A259FF"/>
          </a:solidFill>
          <a:ln w="12700">
            <a:solidFill>
              <a:srgbClr val="A259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" y="2221992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Персонализация — каждый видит метрики своей зоны ответственности (PDF слайд 21)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17536" y="2258568"/>
            <a:ext cx="530352" cy="219456"/>
          </a:xfrm>
          <a:prstGeom prst="roundRect">
            <a:avLst>
              <a:gd name="adj" fmla="val 20833"/>
            </a:avLst>
          </a:prstGeom>
          <a:solidFill>
            <a:srgbClr val="F7C04F"/>
          </a:solidFill>
          <a:ln w="12700">
            <a:solidFill>
              <a:srgbClr val="F7C0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17536" y="225856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2724912"/>
            <a:ext cx="7863840" cy="347472"/>
          </a:xfrm>
          <a:prstGeom prst="roundRect">
            <a:avLst>
              <a:gd name="adj" fmla="val 15789"/>
            </a:avLst>
          </a:prstGeom>
          <a:solidFill>
            <a:srgbClr val="EDE8F5"/>
          </a:solidFill>
          <a:ln w="12700">
            <a:solidFill>
              <a:srgbClr val="A259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277063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4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Снижает нагрузку на IT и ускоряет принятие решений на всех уровнях.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0A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00" cy="5143500"/>
          </a:xfrm>
          <a:prstGeom prst="rect">
            <a:avLst/>
          </a:prstGeom>
          <a:solidFill>
            <a:srgbClr val="3D1F6E"/>
          </a:solidFill>
          <a:ln w="12700">
            <a:solidFill>
              <a:srgbClr val="3D1F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D6A0"/>
          </a:solidFill>
          <a:ln w="12700">
            <a:solidFill>
              <a:srgbClr val="4FD6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4FD6A0"/>
          </a:solidFill>
          <a:ln w="12700">
            <a:solidFill>
              <a:srgbClr val="4FD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4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0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и ML — анализ и инсайты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560" y="45720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PDF слайд 14 — AI &amp; ML Integration · Agentforce for Analytics (скрин 2)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 rot="2700000">
            <a:off x="7498080" y="182880"/>
            <a:ext cx="101600" cy="101600"/>
          </a:xfrm>
          <a:prstGeom prst="rect">
            <a:avLst/>
          </a:prstGeom>
          <a:solidFill>
            <a:srgbClr val="4FD6A0"/>
          </a:solidFill>
          <a:ln w="12700">
            <a:solidFill>
              <a:srgbClr val="4FD6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700000">
            <a:off x="7662672" y="411480"/>
            <a:ext cx="63500" cy="63500"/>
          </a:xfrm>
          <a:prstGeom prst="rect">
            <a:avLst/>
          </a:prstGeom>
          <a:solidFill>
            <a:srgbClr val="4FD6A0"/>
          </a:solidFill>
          <a:ln w="12700">
            <a:solidFill>
              <a:srgbClr val="4FD6A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2700000">
            <a:off x="7818120" y="256032"/>
            <a:ext cx="76200" cy="76200"/>
          </a:xfrm>
          <a:prstGeom prst="rect">
            <a:avLst/>
          </a:prstGeom>
          <a:solidFill>
            <a:srgbClr val="4FD6A0"/>
          </a:solidFill>
          <a:ln w="12700">
            <a:solidFill>
              <a:srgbClr val="4FD6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700000">
            <a:off x="7406640" y="457200"/>
            <a:ext cx="50800" cy="50800"/>
          </a:xfrm>
          <a:prstGeom prst="rect">
            <a:avLst/>
          </a:prstGeom>
          <a:solidFill>
            <a:srgbClr val="4FD6A0"/>
          </a:solidFill>
          <a:ln w="12700">
            <a:solidFill>
              <a:srgbClr val="4FD6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804672"/>
            <a:ext cx="7863840" cy="384048"/>
          </a:xfrm>
          <a:prstGeom prst="roundRect">
            <a:avLst>
              <a:gd name="adj" fmla="val 11905"/>
            </a:avLst>
          </a:prstGeom>
          <a:solidFill>
            <a:srgbClr val="1E1050"/>
          </a:solidFill>
          <a:ln w="12700">
            <a:solidFill>
              <a:srgbClr val="4FD6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804672"/>
            <a:ext cx="54864" cy="384048"/>
          </a:xfrm>
          <a:prstGeom prst="rect">
            <a:avLst/>
          </a:prstGeom>
          <a:solidFill>
            <a:srgbClr val="4FD6A0"/>
          </a:solidFill>
          <a:ln w="12700">
            <a:solidFill>
              <a:srgbClr val="4F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" y="850392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0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Чат-аналитика — вопрос на русском → визуал + AI Reasoning (как Agentforce)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17536" y="886968"/>
            <a:ext cx="530352" cy="219456"/>
          </a:xfrm>
          <a:prstGeom prst="roundRect">
            <a:avLst>
              <a:gd name="adj" fmla="val 20833"/>
            </a:avLst>
          </a:prstGeom>
          <a:solidFill>
            <a:srgbClr val="F75F5F"/>
          </a:solidFill>
          <a:ln w="12700">
            <a:solidFill>
              <a:srgbClr val="F75F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17536" y="88696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1261872"/>
            <a:ext cx="7863840" cy="384048"/>
          </a:xfrm>
          <a:prstGeom prst="roundRect">
            <a:avLst>
              <a:gd name="adj" fmla="val 11905"/>
            </a:avLst>
          </a:prstGeom>
          <a:solidFill>
            <a:srgbClr val="1E1050"/>
          </a:solidFill>
          <a:ln w="12700">
            <a:solidFill>
              <a:srgbClr val="4FD6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1261872"/>
            <a:ext cx="54864" cy="384048"/>
          </a:xfrm>
          <a:prstGeom prst="rect">
            <a:avLst/>
          </a:prstGeom>
          <a:solidFill>
            <a:srgbClr val="4FD6A0"/>
          </a:solidFill>
          <a:ln w="12700">
            <a:solidFill>
              <a:srgbClr val="4FD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" y="1307592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0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Автоматическое обнаружение аномалий — статистический коридор ±2σ по скользящему окну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17536" y="1344168"/>
            <a:ext cx="530352" cy="219456"/>
          </a:xfrm>
          <a:prstGeom prst="roundRect">
            <a:avLst>
              <a:gd name="adj" fmla="val 20833"/>
            </a:avLst>
          </a:prstGeom>
          <a:solidFill>
            <a:srgbClr val="F75F5F"/>
          </a:solidFill>
          <a:ln w="12700">
            <a:solidFill>
              <a:srgbClr val="F75F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17536" y="134416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1719072"/>
            <a:ext cx="7863840" cy="384048"/>
          </a:xfrm>
          <a:prstGeom prst="roundRect">
            <a:avLst>
              <a:gd name="adj" fmla="val 11905"/>
            </a:avLst>
          </a:prstGeom>
          <a:solidFill>
            <a:srgbClr val="1E1050"/>
          </a:solidFill>
          <a:ln w="12700">
            <a:solidFill>
              <a:srgbClr val="4FD6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1719072"/>
            <a:ext cx="54864" cy="384048"/>
          </a:xfrm>
          <a:prstGeom prst="rect">
            <a:avLst/>
          </a:prstGeom>
          <a:solidFill>
            <a:srgbClr val="4FD6A0"/>
          </a:solidFill>
          <a:ln w="12700">
            <a:solidFill>
              <a:srgbClr val="4FD6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5216" y="1764792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0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Предиктивная аналитика — прогноз метрик на следующий период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717536" y="1801368"/>
            <a:ext cx="530352" cy="219456"/>
          </a:xfrm>
          <a:prstGeom prst="roundRect">
            <a:avLst>
              <a:gd name="adj" fmla="val 20833"/>
            </a:avLst>
          </a:prstGeom>
          <a:solidFill>
            <a:srgbClr val="F7C04F"/>
          </a:solidFill>
          <a:ln w="12700">
            <a:solidFill>
              <a:srgbClr val="F7C0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17536" y="180136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2176272"/>
            <a:ext cx="7863840" cy="384048"/>
          </a:xfrm>
          <a:prstGeom prst="roundRect">
            <a:avLst>
              <a:gd name="adj" fmla="val 11905"/>
            </a:avLst>
          </a:prstGeom>
          <a:solidFill>
            <a:srgbClr val="1E1050"/>
          </a:solidFill>
          <a:ln w="12700">
            <a:solidFill>
              <a:srgbClr val="4FD6A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2176272"/>
            <a:ext cx="54864" cy="384048"/>
          </a:xfrm>
          <a:prstGeom prst="rect">
            <a:avLst/>
          </a:prstGeom>
          <a:solidFill>
            <a:srgbClr val="4FD6A0"/>
          </a:solidFill>
          <a:ln w="12700">
            <a:solidFill>
              <a:srgbClr val="4FD6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5216" y="2221992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0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Influencers — AI объясняет какие факторы влияют на изменение метрики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717536" y="2258568"/>
            <a:ext cx="530352" cy="219456"/>
          </a:xfrm>
          <a:prstGeom prst="roundRect">
            <a:avLst>
              <a:gd name="adj" fmla="val 20833"/>
            </a:avLst>
          </a:prstGeom>
          <a:solidFill>
            <a:srgbClr val="4FD6A0"/>
          </a:solidFill>
          <a:ln w="12700">
            <a:solidFill>
              <a:srgbClr val="4FD6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17536" y="225856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2724912"/>
            <a:ext cx="7863840" cy="347472"/>
          </a:xfrm>
          <a:prstGeom prst="roundRect">
            <a:avLst>
              <a:gd name="adj" fmla="val 15789"/>
            </a:avLst>
          </a:prstGeom>
          <a:solidFill>
            <a:srgbClr val="0D0730"/>
          </a:solidFill>
          <a:ln w="12700">
            <a:solidFill>
              <a:srgbClr val="4FD6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277063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5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Agentforce показывает Sources и AI Reasoning — пользователь видит на каких данных основан ответ.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4937760"/>
            <a:ext cx="9144000" cy="210312"/>
          </a:xfrm>
          <a:prstGeom prst="rect">
            <a:avLst/>
          </a:prstGeom>
          <a:solidFill>
            <a:srgbClr val="0D0730"/>
          </a:solidFill>
          <a:ln w="12700">
            <a:solidFill>
              <a:srgbClr val="0D073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6459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7C04F"/>
          </a:solidFill>
          <a:ln w="12700">
            <a:solidFill>
              <a:srgbClr val="F7C0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51560" y="164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1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Алерты и проактивные уведомления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45720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Netflix pipeline alerting (move(data) 2025) · наша архитектура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804672"/>
            <a:ext cx="78638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F7C0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804672"/>
            <a:ext cx="54864" cy="384048"/>
          </a:xfrm>
          <a:prstGeom prst="rect">
            <a:avLst/>
          </a:prstGeom>
          <a:solidFill>
            <a:srgbClr val="F7C04F"/>
          </a:solidFill>
          <a:ln w="12700">
            <a:solidFill>
              <a:srgbClr val="F7C0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" y="850392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Ежедневная лента событий — аномалии + отклонения план/факт в одном месте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17536" y="886968"/>
            <a:ext cx="530352" cy="219456"/>
          </a:xfrm>
          <a:prstGeom prst="roundRect">
            <a:avLst>
              <a:gd name="adj" fmla="val 20833"/>
            </a:avLst>
          </a:prstGeom>
          <a:solidFill>
            <a:srgbClr val="F75F5F"/>
          </a:solidFill>
          <a:ln w="12700">
            <a:solidFill>
              <a:srgbClr val="F75F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17536" y="88696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261872"/>
            <a:ext cx="78638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F7C0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261872"/>
            <a:ext cx="54864" cy="384048"/>
          </a:xfrm>
          <a:prstGeom prst="rect">
            <a:avLst/>
          </a:prstGeom>
          <a:solidFill>
            <a:srgbClr val="F7C04F"/>
          </a:solidFill>
          <a:ln w="12700">
            <a:solidFill>
              <a:srgbClr val="F7C0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" y="1307592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Настраиваемые пороги — у каждой метрики свой критерий срабатывания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17536" y="1344168"/>
            <a:ext cx="530352" cy="219456"/>
          </a:xfrm>
          <a:prstGeom prst="roundRect">
            <a:avLst>
              <a:gd name="adj" fmla="val 20833"/>
            </a:avLst>
          </a:prstGeom>
          <a:solidFill>
            <a:srgbClr val="F75F5F"/>
          </a:solidFill>
          <a:ln w="12700">
            <a:solidFill>
              <a:srgbClr val="F75F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17536" y="134416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1719072"/>
            <a:ext cx="78638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F7C0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1719072"/>
            <a:ext cx="54864" cy="384048"/>
          </a:xfrm>
          <a:prstGeom prst="rect">
            <a:avLst/>
          </a:prstGeom>
          <a:solidFill>
            <a:srgbClr val="F7C04F"/>
          </a:solidFill>
          <a:ln w="12700">
            <a:solidFill>
              <a:srgbClr val="F7C0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" y="1764792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Маршрутизация — алерт летит конкретному ответственному, не всем подряд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17536" y="1801368"/>
            <a:ext cx="530352" cy="219456"/>
          </a:xfrm>
          <a:prstGeom prst="roundRect">
            <a:avLst>
              <a:gd name="adj" fmla="val 20833"/>
            </a:avLst>
          </a:prstGeom>
          <a:solidFill>
            <a:srgbClr val="F7C04F"/>
          </a:solidFill>
          <a:ln w="12700">
            <a:solidFill>
              <a:srgbClr val="F7C0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17536" y="180136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176272"/>
            <a:ext cx="78638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F7C04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176272"/>
            <a:ext cx="54864" cy="384048"/>
          </a:xfrm>
          <a:prstGeom prst="rect">
            <a:avLst/>
          </a:prstGeom>
          <a:solidFill>
            <a:srgbClr val="F7C04F"/>
          </a:solidFill>
          <a:ln w="12700">
            <a:solidFill>
              <a:srgbClr val="F7C0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" y="2221992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Доставка в Telegram / email / push — до того как открыт дашборд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17536" y="2258568"/>
            <a:ext cx="530352" cy="219456"/>
          </a:xfrm>
          <a:prstGeom prst="roundRect">
            <a:avLst>
              <a:gd name="adj" fmla="val 20833"/>
            </a:avLst>
          </a:prstGeom>
          <a:solidFill>
            <a:srgbClr val="F7C04F"/>
          </a:solidFill>
          <a:ln w="12700">
            <a:solidFill>
              <a:srgbClr val="F7C0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17536" y="225856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2724912"/>
            <a:ext cx="7863840" cy="347472"/>
          </a:xfrm>
          <a:prstGeom prst="roundRect">
            <a:avLst>
              <a:gd name="adj" fmla="val 15789"/>
            </a:avLst>
          </a:prstGeom>
          <a:solidFill>
            <a:srgbClr val="EDE8F5"/>
          </a:solidFill>
          <a:ln w="12700">
            <a:solidFill>
              <a:srgbClr val="F7C0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277063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4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Аномалий может быть 50 в день — алерт это выбранные аномалии + приоритет + правильный адресат.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0A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00" cy="5143500"/>
          </a:xfrm>
          <a:prstGeom prst="rect">
            <a:avLst/>
          </a:prstGeom>
          <a:solidFill>
            <a:srgbClr val="3D1F6E"/>
          </a:solidFill>
          <a:ln w="12700">
            <a:solidFill>
              <a:srgbClr val="3D1F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75F5F"/>
          </a:solidFill>
          <a:ln w="12700">
            <a:solidFill>
              <a:srgbClr val="F75F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75F5F"/>
          </a:solidFill>
          <a:ln w="12700">
            <a:solidFill>
              <a:srgbClr val="F75F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4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0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аналитика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560" y="45720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PDF слайд 16 — Real-Time Analytics · наш Дашборд Лидера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 rot="2700000">
            <a:off x="7498080" y="182880"/>
            <a:ext cx="101600" cy="101600"/>
          </a:xfrm>
          <a:prstGeom prst="rect">
            <a:avLst/>
          </a:prstGeom>
          <a:solidFill>
            <a:srgbClr val="F75F5F"/>
          </a:solidFill>
          <a:ln w="12700">
            <a:solidFill>
              <a:srgbClr val="F75F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700000">
            <a:off x="7662672" y="411480"/>
            <a:ext cx="63500" cy="63500"/>
          </a:xfrm>
          <a:prstGeom prst="rect">
            <a:avLst/>
          </a:prstGeom>
          <a:solidFill>
            <a:srgbClr val="F75F5F"/>
          </a:solidFill>
          <a:ln w="12700">
            <a:solidFill>
              <a:srgbClr val="F75F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2700000">
            <a:off x="7818120" y="256032"/>
            <a:ext cx="76200" cy="76200"/>
          </a:xfrm>
          <a:prstGeom prst="rect">
            <a:avLst/>
          </a:prstGeom>
          <a:solidFill>
            <a:srgbClr val="F75F5F"/>
          </a:solidFill>
          <a:ln w="12700">
            <a:solidFill>
              <a:srgbClr val="F75F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700000">
            <a:off x="7406640" y="457200"/>
            <a:ext cx="50800" cy="50800"/>
          </a:xfrm>
          <a:prstGeom prst="rect">
            <a:avLst/>
          </a:prstGeom>
          <a:solidFill>
            <a:srgbClr val="F75F5F"/>
          </a:solidFill>
          <a:ln w="12700">
            <a:solidFill>
              <a:srgbClr val="F75F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804672"/>
            <a:ext cx="7863840" cy="384048"/>
          </a:xfrm>
          <a:prstGeom prst="roundRect">
            <a:avLst>
              <a:gd name="adj" fmla="val 11905"/>
            </a:avLst>
          </a:prstGeom>
          <a:solidFill>
            <a:srgbClr val="1E1050"/>
          </a:solidFill>
          <a:ln w="12700">
            <a:solidFill>
              <a:srgbClr val="F75F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804672"/>
            <a:ext cx="54864" cy="384048"/>
          </a:xfrm>
          <a:prstGeom prst="rect">
            <a:avLst/>
          </a:prstGeom>
          <a:solidFill>
            <a:srgbClr val="F75F5F"/>
          </a:solidFill>
          <a:ln w="12700">
            <a:solidFill>
              <a:srgbClr val="F75F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" y="850392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0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не старше 24 часов для операционных метрик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17536" y="886968"/>
            <a:ext cx="530352" cy="219456"/>
          </a:xfrm>
          <a:prstGeom prst="roundRect">
            <a:avLst>
              <a:gd name="adj" fmla="val 20833"/>
            </a:avLst>
          </a:prstGeom>
          <a:solidFill>
            <a:srgbClr val="F75F5F"/>
          </a:solidFill>
          <a:ln w="12700">
            <a:solidFill>
              <a:srgbClr val="F75F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17536" y="88696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1261872"/>
            <a:ext cx="7863840" cy="384048"/>
          </a:xfrm>
          <a:prstGeom prst="roundRect">
            <a:avLst>
              <a:gd name="adj" fmla="val 11905"/>
            </a:avLst>
          </a:prstGeom>
          <a:solidFill>
            <a:srgbClr val="1E1050"/>
          </a:solidFill>
          <a:ln w="12700">
            <a:solidFill>
              <a:srgbClr val="F75F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1261872"/>
            <a:ext cx="54864" cy="384048"/>
          </a:xfrm>
          <a:prstGeom prst="rect">
            <a:avLst/>
          </a:prstGeom>
          <a:solidFill>
            <a:srgbClr val="F75F5F"/>
          </a:solidFill>
          <a:ln w="12700">
            <a:solidFill>
              <a:srgbClr val="F75F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" y="1307592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0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Дата и время обновления данных видны прямо внутри бублика / карточки метрики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17536" y="1344168"/>
            <a:ext cx="530352" cy="219456"/>
          </a:xfrm>
          <a:prstGeom prst="roundRect">
            <a:avLst>
              <a:gd name="adj" fmla="val 20833"/>
            </a:avLst>
          </a:prstGeom>
          <a:solidFill>
            <a:srgbClr val="F75F5F"/>
          </a:solidFill>
          <a:ln w="12700">
            <a:solidFill>
              <a:srgbClr val="F75F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17536" y="134416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1719072"/>
            <a:ext cx="7863840" cy="384048"/>
          </a:xfrm>
          <a:prstGeom prst="roundRect">
            <a:avLst>
              <a:gd name="adj" fmla="val 11905"/>
            </a:avLst>
          </a:prstGeom>
          <a:solidFill>
            <a:srgbClr val="1E1050"/>
          </a:solidFill>
          <a:ln w="12700">
            <a:solidFill>
              <a:srgbClr val="F75F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1719072"/>
            <a:ext cx="54864" cy="384048"/>
          </a:xfrm>
          <a:prstGeom prst="rect">
            <a:avLst/>
          </a:prstGeom>
          <a:solidFill>
            <a:srgbClr val="F75F5F"/>
          </a:solidFill>
          <a:ln w="12700">
            <a:solidFill>
              <a:srgbClr val="F75F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5216" y="1764792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0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Стриминг для критичных метрик — операции, SLA, логистика в реальном времени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717536" y="1801368"/>
            <a:ext cx="530352" cy="219456"/>
          </a:xfrm>
          <a:prstGeom prst="roundRect">
            <a:avLst>
              <a:gd name="adj" fmla="val 20833"/>
            </a:avLst>
          </a:prstGeom>
          <a:solidFill>
            <a:srgbClr val="4FD6A0"/>
          </a:solidFill>
          <a:ln w="12700">
            <a:solidFill>
              <a:srgbClr val="4FD6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17536" y="180136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2267712"/>
            <a:ext cx="7863840" cy="347472"/>
          </a:xfrm>
          <a:prstGeom prst="roundRect">
            <a:avLst>
              <a:gd name="adj" fmla="val 15789"/>
            </a:avLst>
          </a:prstGeom>
          <a:solidFill>
            <a:srgbClr val="0D0730"/>
          </a:solidFill>
          <a:ln w="12700">
            <a:solidFill>
              <a:srgbClr val="F75F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231343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5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Дата данных внутри бублика — это уже реализовано в нашем Дашборде Лидера.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0" y="4937760"/>
            <a:ext cx="9144000" cy="210312"/>
          </a:xfrm>
          <a:prstGeom prst="rect">
            <a:avLst/>
          </a:prstGeom>
          <a:solidFill>
            <a:srgbClr val="0D0730"/>
          </a:solidFill>
          <a:ln w="12700">
            <a:solidFill>
              <a:srgbClr val="0D073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6459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5AB4FF"/>
          </a:solidFill>
          <a:ln w="12700">
            <a:solidFill>
              <a:srgbClr val="5AB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51560" y="164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1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Storytelling и нарратив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45720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PDF слайд 19 — Data Storytelling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804672"/>
            <a:ext cx="78638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5AB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804672"/>
            <a:ext cx="54864" cy="384048"/>
          </a:xfrm>
          <a:prstGeom prst="rect">
            <a:avLst/>
          </a:prstGeom>
          <a:solidFill>
            <a:srgbClr val="5AB4FF"/>
          </a:solidFill>
          <a:ln w="12700">
            <a:solidFill>
              <a:srgbClr val="5AB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" y="850392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Лента новостей — краткие текстовые инсайты с переходом в отчёт по клику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17536" y="886968"/>
            <a:ext cx="530352" cy="219456"/>
          </a:xfrm>
          <a:prstGeom prst="roundRect">
            <a:avLst>
              <a:gd name="adj" fmla="val 20833"/>
            </a:avLst>
          </a:prstGeom>
          <a:solidFill>
            <a:srgbClr val="F75F5F"/>
          </a:solidFill>
          <a:ln w="12700">
            <a:solidFill>
              <a:srgbClr val="F75F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17536" y="88696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261872"/>
            <a:ext cx="78638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5AB4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261872"/>
            <a:ext cx="54864" cy="384048"/>
          </a:xfrm>
          <a:prstGeom prst="rect">
            <a:avLst/>
          </a:prstGeom>
          <a:solidFill>
            <a:srgbClr val="5AB4FF"/>
          </a:solidFill>
          <a:ln w="12700">
            <a:solidFill>
              <a:srgbClr val="5AB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" y="1307592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AI-нарратив — автоматический текст-объяснение к каждому отчёту и аномалии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17536" y="1344168"/>
            <a:ext cx="530352" cy="219456"/>
          </a:xfrm>
          <a:prstGeom prst="roundRect">
            <a:avLst>
              <a:gd name="adj" fmla="val 20833"/>
            </a:avLst>
          </a:prstGeom>
          <a:solidFill>
            <a:srgbClr val="F7C04F"/>
          </a:solidFill>
          <a:ln w="12700">
            <a:solidFill>
              <a:srgbClr val="F7C0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17536" y="134416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1719072"/>
            <a:ext cx="78638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5AB4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1719072"/>
            <a:ext cx="54864" cy="384048"/>
          </a:xfrm>
          <a:prstGeom prst="rect">
            <a:avLst/>
          </a:prstGeom>
          <a:solidFill>
            <a:srgbClr val="5AB4FF"/>
          </a:solidFill>
          <a:ln w="12700">
            <a:solidFill>
              <a:srgbClr val="5AB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" y="1764792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Контекст изменения — похожее было в марте 2024, тогда причиной было X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17536" y="1801368"/>
            <a:ext cx="530352" cy="219456"/>
          </a:xfrm>
          <a:prstGeom prst="roundRect">
            <a:avLst>
              <a:gd name="adj" fmla="val 20833"/>
            </a:avLst>
          </a:prstGeom>
          <a:solidFill>
            <a:srgbClr val="4FD6A0"/>
          </a:solidFill>
          <a:ln w="12700">
            <a:solidFill>
              <a:srgbClr val="4FD6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17536" y="180136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267712"/>
            <a:ext cx="7863840" cy="347472"/>
          </a:xfrm>
          <a:prstGeom prst="roundRect">
            <a:avLst>
              <a:gd name="adj" fmla="val 15789"/>
            </a:avLst>
          </a:prstGeom>
          <a:solidFill>
            <a:srgbClr val="EDE8F5"/>
          </a:solidFill>
          <a:ln w="12700">
            <a:solidFill>
              <a:srgbClr val="5AB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231343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4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«It's not just about presenting numbers» — данные без нарратива не меняют решения.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0A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00" cy="5143500"/>
          </a:xfrm>
          <a:prstGeom prst="rect">
            <a:avLst/>
          </a:prstGeom>
          <a:solidFill>
            <a:srgbClr val="3D1F6E"/>
          </a:solidFill>
          <a:ln w="12700">
            <a:solidFill>
              <a:srgbClr val="3D1F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8C5A"/>
          </a:solidFill>
          <a:ln w="12700">
            <a:solidFill>
              <a:srgbClr val="FF8C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F8C5A"/>
          </a:solidFill>
          <a:ln w="12700">
            <a:solidFill>
              <a:srgbClr val="FF8C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4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0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Governance, качество данных и безопасность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560" y="45720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PDF слайды 15, 20 — Data Governance &amp; Data Quality Management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 rot="2700000">
            <a:off x="7498080" y="182880"/>
            <a:ext cx="101600" cy="101600"/>
          </a:xfrm>
          <a:prstGeom prst="rect">
            <a:avLst/>
          </a:prstGeom>
          <a:solidFill>
            <a:srgbClr val="FF8C5A"/>
          </a:solidFill>
          <a:ln w="12700">
            <a:solidFill>
              <a:srgbClr val="FF8C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700000">
            <a:off x="7662672" y="411480"/>
            <a:ext cx="63500" cy="63500"/>
          </a:xfrm>
          <a:prstGeom prst="rect">
            <a:avLst/>
          </a:prstGeom>
          <a:solidFill>
            <a:srgbClr val="FF8C5A"/>
          </a:solidFill>
          <a:ln w="12700">
            <a:solidFill>
              <a:srgbClr val="FF8C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2700000">
            <a:off x="7818120" y="256032"/>
            <a:ext cx="76200" cy="76200"/>
          </a:xfrm>
          <a:prstGeom prst="rect">
            <a:avLst/>
          </a:prstGeom>
          <a:solidFill>
            <a:srgbClr val="FF8C5A"/>
          </a:solidFill>
          <a:ln w="12700">
            <a:solidFill>
              <a:srgbClr val="FF8C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700000">
            <a:off x="7406640" y="457200"/>
            <a:ext cx="50800" cy="50800"/>
          </a:xfrm>
          <a:prstGeom prst="rect">
            <a:avLst/>
          </a:prstGeom>
          <a:solidFill>
            <a:srgbClr val="FF8C5A"/>
          </a:solidFill>
          <a:ln w="12700">
            <a:solidFill>
              <a:srgbClr val="FF8C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804672"/>
            <a:ext cx="7863840" cy="384048"/>
          </a:xfrm>
          <a:prstGeom prst="roundRect">
            <a:avLst>
              <a:gd name="adj" fmla="val 11905"/>
            </a:avLst>
          </a:prstGeom>
          <a:solidFill>
            <a:srgbClr val="1E1050"/>
          </a:solidFill>
          <a:ln w="12700">
            <a:solidFill>
              <a:srgbClr val="FF8C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804672"/>
            <a:ext cx="54864" cy="384048"/>
          </a:xfrm>
          <a:prstGeom prst="rect">
            <a:avLst/>
          </a:prstGeom>
          <a:solidFill>
            <a:srgbClr val="FF8C5A"/>
          </a:solidFill>
          <a:ln w="12700">
            <a:solidFill>
              <a:srgbClr val="FF8C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" y="850392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0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Ролевой доступ — пользователь видит только данные своей зоны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17536" y="886968"/>
            <a:ext cx="530352" cy="219456"/>
          </a:xfrm>
          <a:prstGeom prst="roundRect">
            <a:avLst>
              <a:gd name="adj" fmla="val 20833"/>
            </a:avLst>
          </a:prstGeom>
          <a:solidFill>
            <a:srgbClr val="F75F5F"/>
          </a:solidFill>
          <a:ln w="12700">
            <a:solidFill>
              <a:srgbClr val="F75F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17536" y="88696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1261872"/>
            <a:ext cx="7863840" cy="384048"/>
          </a:xfrm>
          <a:prstGeom prst="roundRect">
            <a:avLst>
              <a:gd name="adj" fmla="val 11905"/>
            </a:avLst>
          </a:prstGeom>
          <a:solidFill>
            <a:srgbClr val="1E1050"/>
          </a:solidFill>
          <a:ln w="12700">
            <a:solidFill>
              <a:srgbClr val="FF8C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1261872"/>
            <a:ext cx="54864" cy="384048"/>
          </a:xfrm>
          <a:prstGeom prst="rect">
            <a:avLst/>
          </a:prstGeom>
          <a:solidFill>
            <a:srgbClr val="FF8C5A"/>
          </a:solidFill>
          <a:ln w="12700">
            <a:solidFill>
              <a:srgbClr val="FF8C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" y="1307592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0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Мониторинг качества данных — сигнал если источник не обновился вовремя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17536" y="1344168"/>
            <a:ext cx="530352" cy="219456"/>
          </a:xfrm>
          <a:prstGeom prst="roundRect">
            <a:avLst>
              <a:gd name="adj" fmla="val 20833"/>
            </a:avLst>
          </a:prstGeom>
          <a:solidFill>
            <a:srgbClr val="F75F5F"/>
          </a:solidFill>
          <a:ln w="12700">
            <a:solidFill>
              <a:srgbClr val="F75F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17536" y="134416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1719072"/>
            <a:ext cx="7863840" cy="384048"/>
          </a:xfrm>
          <a:prstGeom prst="roundRect">
            <a:avLst>
              <a:gd name="adj" fmla="val 11905"/>
            </a:avLst>
          </a:prstGeom>
          <a:solidFill>
            <a:srgbClr val="1E1050"/>
          </a:solidFill>
          <a:ln w="12700">
            <a:solidFill>
              <a:srgbClr val="FF8C5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1719072"/>
            <a:ext cx="54864" cy="384048"/>
          </a:xfrm>
          <a:prstGeom prst="rect">
            <a:avLst/>
          </a:prstGeom>
          <a:solidFill>
            <a:srgbClr val="FF8C5A"/>
          </a:solidFill>
          <a:ln w="12700">
            <a:solidFill>
              <a:srgbClr val="FF8C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5216" y="1764792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0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lineage — откуда взята цифра, через какой пайплайн прошла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717536" y="1801368"/>
            <a:ext cx="530352" cy="219456"/>
          </a:xfrm>
          <a:prstGeom prst="roundRect">
            <a:avLst>
              <a:gd name="adj" fmla="val 20833"/>
            </a:avLst>
          </a:prstGeom>
          <a:solidFill>
            <a:srgbClr val="F7C04F"/>
          </a:solidFill>
          <a:ln w="12700">
            <a:solidFill>
              <a:srgbClr val="F7C0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17536" y="180136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2176272"/>
            <a:ext cx="7863840" cy="384048"/>
          </a:xfrm>
          <a:prstGeom prst="roundRect">
            <a:avLst>
              <a:gd name="adj" fmla="val 11905"/>
            </a:avLst>
          </a:prstGeom>
          <a:solidFill>
            <a:srgbClr val="1E1050"/>
          </a:solidFill>
          <a:ln w="12700">
            <a:solidFill>
              <a:srgbClr val="FF8C5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2176272"/>
            <a:ext cx="54864" cy="384048"/>
          </a:xfrm>
          <a:prstGeom prst="rect">
            <a:avLst/>
          </a:prstGeom>
          <a:solidFill>
            <a:srgbClr val="FF8C5A"/>
          </a:solidFill>
          <a:ln w="12700">
            <a:solidFill>
              <a:srgbClr val="FF8C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5216" y="2221992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0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Аудит действий — кто и когда смотрел, фильтровал, экспортировал данные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717536" y="2258568"/>
            <a:ext cx="530352" cy="219456"/>
          </a:xfrm>
          <a:prstGeom prst="roundRect">
            <a:avLst>
              <a:gd name="adj" fmla="val 20833"/>
            </a:avLst>
          </a:prstGeom>
          <a:solidFill>
            <a:srgbClr val="F7C04F"/>
          </a:solidFill>
          <a:ln w="12700">
            <a:solidFill>
              <a:srgbClr val="F7C04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17536" y="225856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2724912"/>
            <a:ext cx="7863840" cy="347472"/>
          </a:xfrm>
          <a:prstGeom prst="roundRect">
            <a:avLst>
              <a:gd name="adj" fmla="val 15789"/>
            </a:avLst>
          </a:prstGeom>
          <a:solidFill>
            <a:srgbClr val="0D0730"/>
          </a:solidFill>
          <a:ln w="12700">
            <a:solidFill>
              <a:srgbClr val="FF8C5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277063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5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Modern BI platforms are investing in data cleansing &amp; validation (PDF слайд 20).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4937760"/>
            <a:ext cx="9144000" cy="210312"/>
          </a:xfrm>
          <a:prstGeom prst="rect">
            <a:avLst/>
          </a:prstGeom>
          <a:solidFill>
            <a:srgbClr val="0D0730"/>
          </a:solidFill>
          <a:ln w="12700">
            <a:solidFill>
              <a:srgbClr val="0D073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6459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9B8FFF"/>
          </a:solidFill>
          <a:ln w="12700">
            <a:solidFill>
              <a:srgbClr val="9B8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51560" y="164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1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Коллаборация и Embedded-аналитика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45720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PDF слайды 17, 22 — Embedded Analytics &amp; Collaboration Features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804672"/>
            <a:ext cx="78638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9B8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804672"/>
            <a:ext cx="54864" cy="384048"/>
          </a:xfrm>
          <a:prstGeom prst="rect">
            <a:avLst/>
          </a:prstGeom>
          <a:solidFill>
            <a:srgbClr val="9B8FFF"/>
          </a:solidFill>
          <a:ln w="12700">
            <a:solidFill>
              <a:srgbClr val="9B8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" y="850392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links — ссылка на конкретный экран с фильтрами для передачи коллеге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17536" y="886968"/>
            <a:ext cx="530352" cy="219456"/>
          </a:xfrm>
          <a:prstGeom prst="roundRect">
            <a:avLst>
              <a:gd name="adj" fmla="val 20833"/>
            </a:avLst>
          </a:prstGeom>
          <a:solidFill>
            <a:srgbClr val="F75F5F"/>
          </a:solidFill>
          <a:ln w="12700">
            <a:solidFill>
              <a:srgbClr val="F75F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17536" y="88696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261872"/>
            <a:ext cx="78638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9B8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261872"/>
            <a:ext cx="54864" cy="384048"/>
          </a:xfrm>
          <a:prstGeom prst="rect">
            <a:avLst/>
          </a:prstGeom>
          <a:solidFill>
            <a:srgbClr val="9B8FFF"/>
          </a:solidFill>
          <a:ln w="12700">
            <a:solidFill>
              <a:srgbClr val="9B8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" y="1307592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Экспорт в Excel / PDF по расписанию или вручную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17536" y="1344168"/>
            <a:ext cx="530352" cy="219456"/>
          </a:xfrm>
          <a:prstGeom prst="roundRect">
            <a:avLst>
              <a:gd name="adj" fmla="val 20833"/>
            </a:avLst>
          </a:prstGeom>
          <a:solidFill>
            <a:srgbClr val="F75F5F"/>
          </a:solidFill>
          <a:ln w="12700">
            <a:solidFill>
              <a:srgbClr val="F75F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17536" y="134416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1719072"/>
            <a:ext cx="78638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9B8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1719072"/>
            <a:ext cx="54864" cy="384048"/>
          </a:xfrm>
          <a:prstGeom prst="rect">
            <a:avLst/>
          </a:prstGeom>
          <a:solidFill>
            <a:srgbClr val="9B8FFF"/>
          </a:solidFill>
          <a:ln w="12700">
            <a:solidFill>
              <a:srgbClr val="9B8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" y="1764792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Комментарии прямо в дашборде — обсуждение цифр без переключения в чат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17536" y="1801368"/>
            <a:ext cx="530352" cy="219456"/>
          </a:xfrm>
          <a:prstGeom prst="roundRect">
            <a:avLst>
              <a:gd name="adj" fmla="val 20833"/>
            </a:avLst>
          </a:prstGeom>
          <a:solidFill>
            <a:srgbClr val="F7C04F"/>
          </a:solidFill>
          <a:ln w="12700">
            <a:solidFill>
              <a:srgbClr val="F7C0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17536" y="180136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176272"/>
            <a:ext cx="78638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9B8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176272"/>
            <a:ext cx="54864" cy="384048"/>
          </a:xfrm>
          <a:prstGeom prst="rect">
            <a:avLst/>
          </a:prstGeom>
          <a:solidFill>
            <a:srgbClr val="9B8FFF"/>
          </a:solidFill>
          <a:ln w="12700">
            <a:solidFill>
              <a:srgbClr val="9B8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" y="2221992"/>
            <a:ext cx="7086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D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Встройка в корп-портал — дашборд без редиректа в отдельную систему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17536" y="2258568"/>
            <a:ext cx="530352" cy="219456"/>
          </a:xfrm>
          <a:prstGeom prst="roundRect">
            <a:avLst>
              <a:gd name="adj" fmla="val 20833"/>
            </a:avLst>
          </a:prstGeom>
          <a:solidFill>
            <a:srgbClr val="F7C04F"/>
          </a:solidFill>
          <a:ln w="12700">
            <a:solidFill>
              <a:srgbClr val="F7C0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17536" y="225856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2724912"/>
            <a:ext cx="7863840" cy="347472"/>
          </a:xfrm>
          <a:prstGeom prst="roundRect">
            <a:avLst>
              <a:gd name="adj" fmla="val 15789"/>
            </a:avLst>
          </a:prstGeom>
          <a:solidFill>
            <a:srgbClr val="EDE8F5"/>
          </a:solidFill>
          <a:ln w="12700">
            <a:solidFill>
              <a:srgbClr val="9B8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277063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4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Collaboration is essential for turning insights into action (PDF слайд 22).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0A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00" cy="5143500"/>
          </a:xfrm>
          <a:prstGeom prst="rect">
            <a:avLst/>
          </a:prstGeom>
          <a:solidFill>
            <a:srgbClr val="3D1F6E"/>
          </a:solidFill>
          <a:ln w="12700">
            <a:solidFill>
              <a:srgbClr val="3D1F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894A"/>
          </a:solidFill>
          <a:ln w="12700">
            <a:solidFill>
              <a:srgbClr val="F589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Приоритеты реализации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строить в первую очередь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2560320" cy="594360"/>
          </a:xfrm>
          <a:prstGeom prst="roundRect">
            <a:avLst>
              <a:gd name="adj" fmla="val 12308"/>
            </a:avLst>
          </a:prstGeom>
          <a:solidFill>
            <a:srgbClr val="F75F5F"/>
          </a:solidFill>
          <a:ln w="12700">
            <a:solidFill>
              <a:srgbClr val="F75F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601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Фаза 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0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Сейчас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645920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1E1050"/>
          </a:solidFill>
          <a:ln w="12700">
            <a:solidFill>
              <a:srgbClr val="F75F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645920"/>
            <a:ext cx="45720" cy="457200"/>
          </a:xfrm>
          <a:prstGeom prst="rect">
            <a:avLst/>
          </a:prstGeom>
          <a:solidFill>
            <a:srgbClr val="F75F5F"/>
          </a:solidFill>
          <a:ln w="12700">
            <a:solidFill>
              <a:srgbClr val="F75F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700784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Семантический слой (01)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176272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1E1050"/>
          </a:solidFill>
          <a:ln w="12700">
            <a:solidFill>
              <a:srgbClr val="F75F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76272"/>
            <a:ext cx="45720" cy="457200"/>
          </a:xfrm>
          <a:prstGeom prst="rect">
            <a:avLst/>
          </a:prstGeom>
          <a:solidFill>
            <a:srgbClr val="F75F5F"/>
          </a:solidFill>
          <a:ln w="12700">
            <a:solidFill>
              <a:srgbClr val="F75F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231136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Self-Service + шаблоны (02)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706624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1E1050"/>
          </a:solidFill>
          <a:ln w="12700">
            <a:solidFill>
              <a:srgbClr val="F75F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706624"/>
            <a:ext cx="45720" cy="457200"/>
          </a:xfrm>
          <a:prstGeom prst="rect">
            <a:avLst/>
          </a:prstGeom>
          <a:solidFill>
            <a:srgbClr val="F75F5F"/>
          </a:solidFill>
          <a:ln w="12700">
            <a:solidFill>
              <a:srgbClr val="F75F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761488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Дашборд Лидера с датой данных (05)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236976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1E1050"/>
          </a:solidFill>
          <a:ln w="12700">
            <a:solidFill>
              <a:srgbClr val="F75F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36976"/>
            <a:ext cx="45720" cy="457200"/>
          </a:xfrm>
          <a:prstGeom prst="rect">
            <a:avLst/>
          </a:prstGeom>
          <a:solidFill>
            <a:srgbClr val="F75F5F"/>
          </a:solidFill>
          <a:ln w="12700">
            <a:solidFill>
              <a:srgbClr val="F75F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3291840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Алерты + лента событий (04)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960120"/>
            <a:ext cx="2560320" cy="594360"/>
          </a:xfrm>
          <a:prstGeom prst="roundRect">
            <a:avLst>
              <a:gd name="adj" fmla="val 12308"/>
            </a:avLst>
          </a:prstGeom>
          <a:solidFill>
            <a:srgbClr val="F7C04F"/>
          </a:solidFill>
          <a:ln w="12700">
            <a:solidFill>
              <a:srgbClr val="F7C0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9601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Фаза 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0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3–6 мес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00400" y="1645920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1E1050"/>
          </a:solidFill>
          <a:ln w="12700">
            <a:solidFill>
              <a:srgbClr val="F7C04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1645920"/>
            <a:ext cx="45720" cy="457200"/>
          </a:xfrm>
          <a:prstGeom prst="rect">
            <a:avLst/>
          </a:prstGeom>
          <a:solidFill>
            <a:srgbClr val="F7C04F"/>
          </a:solidFill>
          <a:ln w="12700">
            <a:solidFill>
              <a:srgbClr val="F7C0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0128" y="1700784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AI-чат аналитика (03)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0" y="2176272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1E1050"/>
          </a:solidFill>
          <a:ln w="12700">
            <a:solidFill>
              <a:srgbClr val="F7C04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2176272"/>
            <a:ext cx="45720" cy="457200"/>
          </a:xfrm>
          <a:prstGeom prst="rect">
            <a:avLst/>
          </a:prstGeom>
          <a:solidFill>
            <a:srgbClr val="F7C04F"/>
          </a:solidFill>
          <a:ln w="12700">
            <a:solidFill>
              <a:srgbClr val="F7C0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10128" y="2231136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Storytelling / нарратив (06)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0" y="2706624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1E1050"/>
          </a:solidFill>
          <a:ln w="12700">
            <a:solidFill>
              <a:srgbClr val="F7C04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2706624"/>
            <a:ext cx="45720" cy="457200"/>
          </a:xfrm>
          <a:prstGeom prst="rect">
            <a:avLst/>
          </a:prstGeom>
          <a:solidFill>
            <a:srgbClr val="F7C04F"/>
          </a:solidFill>
          <a:ln w="12700">
            <a:solidFill>
              <a:srgbClr val="F7C0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10128" y="2761488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+ качество (07)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0" y="3236976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1E1050"/>
          </a:solidFill>
          <a:ln w="12700">
            <a:solidFill>
              <a:srgbClr val="F7C04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0" y="3236976"/>
            <a:ext cx="45720" cy="457200"/>
          </a:xfrm>
          <a:prstGeom prst="rect">
            <a:avLst/>
          </a:prstGeom>
          <a:solidFill>
            <a:srgbClr val="F7C04F"/>
          </a:solidFill>
          <a:ln w="12700">
            <a:solidFill>
              <a:srgbClr val="F7C04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10128" y="3291840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Маршрутизация алертов (04)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035040" y="960120"/>
            <a:ext cx="2560320" cy="594360"/>
          </a:xfrm>
          <a:prstGeom prst="roundRect">
            <a:avLst>
              <a:gd name="adj" fmla="val 12308"/>
            </a:avLst>
          </a:prstGeom>
          <a:solidFill>
            <a:srgbClr val="4FD6A0"/>
          </a:solidFill>
          <a:ln w="12700">
            <a:solidFill>
              <a:srgbClr val="4FD6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35040" y="9601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Фаза 3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0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6–12 мес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035040" y="1645920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1E1050"/>
          </a:solidFill>
          <a:ln w="12700">
            <a:solidFill>
              <a:srgbClr val="4FD6A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35040" y="1645920"/>
            <a:ext cx="45720" cy="457200"/>
          </a:xfrm>
          <a:prstGeom prst="rect">
            <a:avLst/>
          </a:prstGeom>
          <a:solidFill>
            <a:srgbClr val="4FD6A0"/>
          </a:solidFill>
          <a:ln w="12700">
            <a:solidFill>
              <a:srgbClr val="4FD6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44768" y="1700784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Предикты и Key Influencers (03)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035040" y="2176272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1E1050"/>
          </a:solidFill>
          <a:ln w="12700">
            <a:solidFill>
              <a:srgbClr val="4FD6A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035040" y="2176272"/>
            <a:ext cx="45720" cy="457200"/>
          </a:xfrm>
          <a:prstGeom prst="rect">
            <a:avLst/>
          </a:prstGeom>
          <a:solidFill>
            <a:srgbClr val="4FD6A0"/>
          </a:solidFill>
          <a:ln w="12700">
            <a:solidFill>
              <a:srgbClr val="4FD6A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44768" y="2231136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в корп-портал (08)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035040" y="2706624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1E1050"/>
          </a:solidFill>
          <a:ln w="12700">
            <a:solidFill>
              <a:srgbClr val="4FD6A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35040" y="2706624"/>
            <a:ext cx="45720" cy="457200"/>
          </a:xfrm>
          <a:prstGeom prst="rect">
            <a:avLst/>
          </a:prstGeom>
          <a:solidFill>
            <a:srgbClr val="4FD6A0"/>
          </a:solidFill>
          <a:ln w="12700">
            <a:solidFill>
              <a:srgbClr val="4FD6A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44768" y="2761488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Стриминг / real-time (05)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035040" y="3236976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1E1050"/>
          </a:solidFill>
          <a:ln w="12700">
            <a:solidFill>
              <a:srgbClr val="4FD6A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035040" y="3236976"/>
            <a:ext cx="45720" cy="457200"/>
          </a:xfrm>
          <a:prstGeom prst="rect">
            <a:avLst/>
          </a:prstGeom>
          <a:solidFill>
            <a:srgbClr val="4FD6A0"/>
          </a:solidFill>
          <a:ln w="12700">
            <a:solidFill>
              <a:srgbClr val="4FD6A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44768" y="3291840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C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Контекст изменений (06)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0" y="4937760"/>
            <a:ext cx="9144000" cy="210312"/>
          </a:xfrm>
          <a:prstGeom prst="rect">
            <a:avLst/>
          </a:prstGeom>
          <a:solidFill>
            <a:srgbClr val="0D0730"/>
          </a:solidFill>
          <a:ln w="12700">
            <a:solidFill>
              <a:srgbClr val="0D073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2026-08-05T09:55:55Z</dcterms:created>
  <dcterms:modified xsi:type="dcterms:W3CDTF">2026-08-05T09:55:55Z</dcterms:modified>
</cp:coreProperties>
</file>