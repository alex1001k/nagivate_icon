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A4A3A"/>
          </a:solidFill>
          <a:ln/>
        </p:spPr>
      </p:sp>
      <p:sp>
        <p:nvSpPr>
          <p:cNvPr id="4" name="Text 2"/>
          <p:cNvSpPr/>
          <p:nvPr/>
        </p:nvSpPr>
        <p:spPr>
          <a:xfrm>
            <a:off x="201168" y="109728"/>
            <a:ext cx="87416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4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Наблюдать → Исследовать → Управлять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01168" y="420624"/>
            <a:ext cx="87416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это даёт пользователю и что это даёт банку — на каждом из трёх этапов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01168" y="658368"/>
            <a:ext cx="8741664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937760"/>
            <a:ext cx="9144000" cy="210312"/>
          </a:xfrm>
          <a:prstGeom prst="rect">
            <a:avLst/>
          </a:prstGeom>
          <a:solidFill>
            <a:srgbClr val="0D0730"/>
          </a:solidFill>
          <a:ln/>
        </p:spPr>
      </p:sp>
      <p:sp>
        <p:nvSpPr>
          <p:cNvPr id="8" name="Shape 6"/>
          <p:cNvSpPr/>
          <p:nvPr/>
        </p:nvSpPr>
        <p:spPr>
          <a:xfrm>
            <a:off x="201168" y="786384"/>
            <a:ext cx="2761488" cy="384048"/>
          </a:xfrm>
          <a:prstGeom prst="roundRect">
            <a:avLst>
              <a:gd name="adj" fmla="val 14286"/>
            </a:avLst>
          </a:prstGeom>
          <a:solidFill>
            <a:srgbClr val="1A4A3A"/>
          </a:solidFill>
          <a:ln/>
        </p:spPr>
      </p:sp>
      <p:sp>
        <p:nvSpPr>
          <p:cNvPr id="9" name="Text 7"/>
          <p:cNvSpPr/>
          <p:nvPr/>
        </p:nvSpPr>
        <p:spPr>
          <a:xfrm>
            <a:off x="201168" y="786384"/>
            <a:ext cx="2761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Наблюдать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37744" y="1280160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E7D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ПОЛЬЗА ПОЛЬЗОВАТЕЛЮ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01168" y="1481328"/>
            <a:ext cx="2761488" cy="914400"/>
          </a:xfrm>
          <a:prstGeom prst="roundRect">
            <a:avLst>
              <a:gd name="adj" fmla="val 6000"/>
            </a:avLst>
          </a:prstGeom>
          <a:solidFill>
            <a:srgbClr val="E8F5F0"/>
          </a:solidFill>
          <a:ln w="10160">
            <a:solidFill>
              <a:srgbClr val="2E7D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2608" y="1536192"/>
            <a:ext cx="2578608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3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Видит статус целей и отклонения за секунды — не пишет запрос аналитику</a:t>
            </a:r>
            <a:endParaRPr lang="en-US" sz="830" dirty="0"/>
          </a:p>
          <a:p>
            <a:pPr indent="0" marL="0">
              <a:lnSpc>
                <a:spcPct val="120000"/>
              </a:lnSpc>
              <a:buNone/>
            </a:pPr>
            <a:endParaRPr lang="en-US" sz="83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3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Не пропускает проблему: статус виден постоянно, а не раз в неделю на совещании</a:t>
            </a:r>
            <a:endParaRPr lang="en-US" sz="830" dirty="0"/>
          </a:p>
        </p:txBody>
      </p:sp>
      <p:sp>
        <p:nvSpPr>
          <p:cNvPr id="13" name="Text 11"/>
          <p:cNvSpPr/>
          <p:nvPr/>
        </p:nvSpPr>
        <p:spPr>
          <a:xfrm>
            <a:off x="237744" y="2505456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4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ЦЕННОСТЬ БАНКУ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01168" y="2706624"/>
            <a:ext cx="2761488" cy="914400"/>
          </a:xfrm>
          <a:prstGeom prst="roundRect">
            <a:avLst>
              <a:gd name="adj" fmla="val 6000"/>
            </a:avLst>
          </a:prstGeom>
          <a:solidFill>
            <a:srgbClr val="F3F9F6"/>
          </a:solidFill>
          <a:ln w="10160">
            <a:solidFill>
              <a:srgbClr val="1A4A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2608" y="2761488"/>
            <a:ext cx="2578608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3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Меньше часов аналитиков на подготовку регулярных отчётов вручную</a:t>
            </a:r>
            <a:endParaRPr lang="en-US" sz="830" dirty="0"/>
          </a:p>
          <a:p>
            <a:pPr indent="0" marL="0">
              <a:lnSpc>
                <a:spcPct val="120000"/>
              </a:lnSpc>
              <a:buNone/>
            </a:pPr>
            <a:endParaRPr lang="en-US" sz="83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3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Проблема замечена в день возникновения, а не через 2–3 недели на очередном ревью</a:t>
            </a:r>
            <a:endParaRPr lang="en-US" sz="830" dirty="0"/>
          </a:p>
        </p:txBody>
      </p:sp>
      <p:sp>
        <p:nvSpPr>
          <p:cNvPr id="16" name="Shape 14"/>
          <p:cNvSpPr/>
          <p:nvPr/>
        </p:nvSpPr>
        <p:spPr>
          <a:xfrm>
            <a:off x="3099816" y="786384"/>
            <a:ext cx="2761488" cy="384048"/>
          </a:xfrm>
          <a:prstGeom prst="roundRect">
            <a:avLst>
              <a:gd name="adj" fmla="val 14286"/>
            </a:avLst>
          </a:prstGeom>
          <a:solidFill>
            <a:srgbClr val="1A4A3A"/>
          </a:solidFill>
          <a:ln/>
        </p:spPr>
      </p:sp>
      <p:sp>
        <p:nvSpPr>
          <p:cNvPr id="17" name="Text 15"/>
          <p:cNvSpPr/>
          <p:nvPr/>
        </p:nvSpPr>
        <p:spPr>
          <a:xfrm>
            <a:off x="3099816" y="786384"/>
            <a:ext cx="2761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Исследовать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136392" y="1280160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E7D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ПОЛЬЗА ПОЛЬЗОВАТЕЛЮ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099816" y="1481328"/>
            <a:ext cx="2761488" cy="914400"/>
          </a:xfrm>
          <a:prstGeom prst="roundRect">
            <a:avLst>
              <a:gd name="adj" fmla="val 6000"/>
            </a:avLst>
          </a:prstGeom>
          <a:solidFill>
            <a:srgbClr val="E8F5F0"/>
          </a:solidFill>
          <a:ln w="10160">
            <a:solidFill>
              <a:srgbClr val="2E7D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91256" y="1536192"/>
            <a:ext cx="2578608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3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Получает причину отклонения сразу — не ждёт разбора от аналитика днями</a:t>
            </a:r>
            <a:endParaRPr lang="en-US" sz="830" dirty="0"/>
          </a:p>
          <a:p>
            <a:pPr indent="0" marL="0">
              <a:lnSpc>
                <a:spcPct val="120000"/>
              </a:lnSpc>
              <a:buNone/>
            </a:pPr>
            <a:endParaRPr lang="en-US" sz="83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3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Не обязан сам держать в голове как связаны метрики — система показывает факторы</a:t>
            </a:r>
            <a:endParaRPr lang="en-US" sz="830" dirty="0"/>
          </a:p>
        </p:txBody>
      </p:sp>
      <p:sp>
        <p:nvSpPr>
          <p:cNvPr id="21" name="Text 19"/>
          <p:cNvSpPr/>
          <p:nvPr/>
        </p:nvSpPr>
        <p:spPr>
          <a:xfrm>
            <a:off x="3136392" y="2505456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4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ЦЕННОСТЬ БАНКУ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099816" y="2706624"/>
            <a:ext cx="2761488" cy="914400"/>
          </a:xfrm>
          <a:prstGeom prst="roundRect">
            <a:avLst>
              <a:gd name="adj" fmla="val 6000"/>
            </a:avLst>
          </a:prstGeom>
          <a:solidFill>
            <a:srgbClr val="F3F9F6"/>
          </a:solidFill>
          <a:ln w="10160">
            <a:solidFill>
              <a:srgbClr val="1A4A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91256" y="2761488"/>
            <a:ext cx="2578608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3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Меньше потерь за то время пока проблема остаётся необъяснённой</a:t>
            </a:r>
            <a:endParaRPr lang="en-US" sz="830" dirty="0"/>
          </a:p>
          <a:p>
            <a:pPr indent="0" marL="0">
              <a:lnSpc>
                <a:spcPct val="120000"/>
              </a:lnSpc>
              <a:buNone/>
            </a:pPr>
            <a:endParaRPr lang="en-US" sz="83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3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Разбор причин не зависит от одного человека который «знает как считать»</a:t>
            </a:r>
            <a:endParaRPr lang="en-US" sz="830" dirty="0"/>
          </a:p>
        </p:txBody>
      </p:sp>
      <p:sp>
        <p:nvSpPr>
          <p:cNvPr id="24" name="Shape 22"/>
          <p:cNvSpPr/>
          <p:nvPr/>
        </p:nvSpPr>
        <p:spPr>
          <a:xfrm>
            <a:off x="5998464" y="786384"/>
            <a:ext cx="2761488" cy="384048"/>
          </a:xfrm>
          <a:prstGeom prst="roundRect">
            <a:avLst>
              <a:gd name="adj" fmla="val 14286"/>
            </a:avLst>
          </a:prstGeom>
          <a:solidFill>
            <a:srgbClr val="1A4A3A"/>
          </a:solidFill>
          <a:ln/>
        </p:spPr>
      </p:sp>
      <p:sp>
        <p:nvSpPr>
          <p:cNvPr id="25" name="Text 23"/>
          <p:cNvSpPr/>
          <p:nvPr/>
        </p:nvSpPr>
        <p:spPr>
          <a:xfrm>
            <a:off x="5998464" y="786384"/>
            <a:ext cx="2761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Управлять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035040" y="1280160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E7D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ПОЛЬЗА ПОЛЬЗОВАТЕЛЮ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998464" y="1481328"/>
            <a:ext cx="2761488" cy="914400"/>
          </a:xfrm>
          <a:prstGeom prst="roundRect">
            <a:avLst>
              <a:gd name="adj" fmla="val 6000"/>
            </a:avLst>
          </a:prstGeom>
          <a:solidFill>
            <a:srgbClr val="E8F5F0"/>
          </a:solidFill>
          <a:ln w="10160">
            <a:solidFill>
              <a:srgbClr val="2E7D5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89904" y="1536192"/>
            <a:ext cx="2578608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3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Получает не просто цифры, а готовый вариант решения с оценкой эффекта</a:t>
            </a:r>
            <a:endParaRPr lang="en-US" sz="830" dirty="0"/>
          </a:p>
          <a:p>
            <a:pPr indent="0" marL="0">
              <a:lnSpc>
                <a:spcPct val="120000"/>
              </a:lnSpc>
              <a:buNone/>
            </a:pPr>
            <a:endParaRPr lang="en-US" sz="83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3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Может сразу назначить задачу нужному исполнителю, не собирая совещание</a:t>
            </a:r>
            <a:endParaRPr lang="en-US" sz="830" dirty="0"/>
          </a:p>
        </p:txBody>
      </p:sp>
      <p:sp>
        <p:nvSpPr>
          <p:cNvPr id="29" name="Text 27"/>
          <p:cNvSpPr/>
          <p:nvPr/>
        </p:nvSpPr>
        <p:spPr>
          <a:xfrm>
            <a:off x="6035040" y="2505456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4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ЦЕННОСТЬ БАНКУ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998464" y="2706624"/>
            <a:ext cx="2761488" cy="914400"/>
          </a:xfrm>
          <a:prstGeom prst="roundRect">
            <a:avLst>
              <a:gd name="adj" fmla="val 6000"/>
            </a:avLst>
          </a:prstGeom>
          <a:solidFill>
            <a:srgbClr val="F3F9F6"/>
          </a:solidFill>
          <a:ln w="10160">
            <a:solidFill>
              <a:srgbClr val="1A4A3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89904" y="2761488"/>
            <a:ext cx="2578608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3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Решения принимаются на основании расчёта, а не интуиции конкретного руководителя</a:t>
            </a:r>
            <a:endParaRPr lang="en-US" sz="830" dirty="0"/>
          </a:p>
          <a:p>
            <a:pPr indent="0" marL="0">
              <a:lnSpc>
                <a:spcPct val="120000"/>
              </a:lnSpc>
              <a:buNone/>
            </a:pPr>
            <a:endParaRPr lang="en-US" sz="83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3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Короче цикл от сигнала до действия — меньше времени бизнес работает «в минус»</a:t>
            </a:r>
            <a:endParaRPr lang="en-US" sz="830" dirty="0"/>
          </a:p>
        </p:txBody>
      </p:sp>
      <p:sp>
        <p:nvSpPr>
          <p:cNvPr id="32" name="Shape 30"/>
          <p:cNvSpPr/>
          <p:nvPr/>
        </p:nvSpPr>
        <p:spPr>
          <a:xfrm>
            <a:off x="201168" y="3877056"/>
            <a:ext cx="8741664" cy="896112"/>
          </a:xfrm>
          <a:prstGeom prst="roundRect">
            <a:avLst>
              <a:gd name="adj" fmla="val 7143"/>
            </a:avLst>
          </a:prstGeom>
          <a:solidFill>
            <a:srgbClr val="1A4A3A"/>
          </a:solidFill>
          <a:ln/>
        </p:spPr>
      </p:sp>
      <p:sp>
        <p:nvSpPr>
          <p:cNvPr id="33" name="Text 31"/>
          <p:cNvSpPr/>
          <p:nvPr/>
        </p:nvSpPr>
        <p:spPr>
          <a:xfrm>
            <a:off x="365760" y="395020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Наращивать наблюдение без исследования и управления — во вред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457200" y="42245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D5E5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Чем больше дашбордов и алертов появляется без возможности объяснить причину и предложить действие — тем больше решений всё равно принимается на глаз. Растёт число сигналов на которые никто не реагирует — доверие к системе падает, а не растёт. Наблюдение без следующих шагов создаёт иллюзию контроля, а не сам контроль.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A4A3A"/>
          </a:solidFill>
          <a:ln/>
        </p:spPr>
      </p:sp>
      <p:sp>
        <p:nvSpPr>
          <p:cNvPr id="4" name="Text 2"/>
          <p:cNvSpPr/>
          <p:nvPr/>
        </p:nvSpPr>
        <p:spPr>
          <a:xfrm>
            <a:off x="201168" y="109728"/>
            <a:ext cx="87416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4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 задачи после объединения технологий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01168" y="420624"/>
            <a:ext cx="87416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нужно сделать дальше — и какие вопросы это ставит перед нами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01168" y="658368"/>
            <a:ext cx="8741664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937760"/>
            <a:ext cx="9144000" cy="210312"/>
          </a:xfrm>
          <a:prstGeom prst="rect">
            <a:avLst/>
          </a:prstGeom>
          <a:solidFill>
            <a:srgbClr val="0D0730"/>
          </a:solidFill>
          <a:ln/>
        </p:spPr>
      </p:sp>
      <p:sp>
        <p:nvSpPr>
          <p:cNvPr id="8" name="Shape 6"/>
          <p:cNvSpPr/>
          <p:nvPr/>
        </p:nvSpPr>
        <p:spPr>
          <a:xfrm>
            <a:off x="201168" y="786384"/>
            <a:ext cx="2761488" cy="3822192"/>
          </a:xfrm>
          <a:prstGeom prst="roundRect">
            <a:avLst>
              <a:gd name="adj" fmla="val 2649"/>
            </a:avLst>
          </a:prstGeom>
          <a:solidFill>
            <a:srgbClr val="FFFFFF"/>
          </a:solidFill>
          <a:ln w="13970">
            <a:solidFill>
              <a:srgbClr val="2E7D5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" y="786384"/>
            <a:ext cx="2761488" cy="603504"/>
          </a:xfrm>
          <a:prstGeom prst="roundRect">
            <a:avLst>
              <a:gd name="adj" fmla="val 12121"/>
            </a:avLst>
          </a:prstGeom>
          <a:solidFill>
            <a:srgbClr val="1A4A3A"/>
          </a:solidFill>
          <a:ln/>
        </p:spPr>
      </p:sp>
      <p:sp>
        <p:nvSpPr>
          <p:cNvPr id="10" name="Shape 8"/>
          <p:cNvSpPr/>
          <p:nvPr/>
        </p:nvSpPr>
        <p:spPr>
          <a:xfrm>
            <a:off x="201168" y="1152144"/>
            <a:ext cx="2761488" cy="237744"/>
          </a:xfrm>
          <a:prstGeom prst="rect">
            <a:avLst/>
          </a:prstGeom>
          <a:solidFill>
            <a:srgbClr val="1A4A3A"/>
          </a:solidFill>
          <a:ln/>
        </p:spPr>
      </p:sp>
      <p:sp>
        <p:nvSpPr>
          <p:cNvPr id="11" name="Text 9"/>
          <p:cNvSpPr/>
          <p:nvPr/>
        </p:nvSpPr>
        <p:spPr>
          <a:xfrm>
            <a:off x="310896" y="84124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10896" y="1060704"/>
            <a:ext cx="2542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Объяснить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10896" y="1243584"/>
            <a:ext cx="254203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C8E0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бизнес-контекст для связей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29184" y="1481328"/>
            <a:ext cx="25054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2E7D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ПРОБЛЕМА</a:t>
            </a:r>
            <a:endParaRPr lang="en-US" sz="780" dirty="0"/>
          </a:p>
        </p:txBody>
      </p:sp>
      <p:sp>
        <p:nvSpPr>
          <p:cNvPr id="15" name="Shape 13"/>
          <p:cNvSpPr/>
          <p:nvPr/>
        </p:nvSpPr>
        <p:spPr>
          <a:xfrm>
            <a:off x="329184" y="1664208"/>
            <a:ext cx="2505456" cy="621792"/>
          </a:xfrm>
          <a:prstGeom prst="roundRect">
            <a:avLst>
              <a:gd name="adj" fmla="val 7353"/>
            </a:avLst>
          </a:prstGeom>
          <a:solidFill>
            <a:srgbClr val="E8F5F0"/>
          </a:solidFill>
          <a:ln/>
        </p:spPr>
      </p:sp>
      <p:sp>
        <p:nvSpPr>
          <p:cNvPr id="16" name="Text 14"/>
          <p:cNvSpPr/>
          <p:nvPr/>
        </p:nvSpPr>
        <p:spPr>
          <a:xfrm>
            <a:off x="393192" y="1700784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30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Данные связаны технически, но смысл этих связей нигде не зафиксирован — знают только отдельные люди</a:t>
            </a:r>
            <a:endParaRPr lang="en-US" sz="830" dirty="0"/>
          </a:p>
        </p:txBody>
      </p:sp>
      <p:sp>
        <p:nvSpPr>
          <p:cNvPr id="17" name="Text 15"/>
          <p:cNvSpPr/>
          <p:nvPr/>
        </p:nvSpPr>
        <p:spPr>
          <a:xfrm>
            <a:off x="329184" y="2359152"/>
            <a:ext cx="25054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A4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ОТКРЫТЫЕ ВОПРОСЫ</a:t>
            </a: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329184" y="2560320"/>
            <a:ext cx="2505456" cy="448056"/>
          </a:xfrm>
          <a:prstGeom prst="roundRect">
            <a:avLst>
              <a:gd name="adj" fmla="val 8163"/>
            </a:avLst>
          </a:prstGeom>
          <a:solidFill>
            <a:srgbClr val="F7F7F7"/>
          </a:solidFill>
          <a:ln/>
        </p:spPr>
      </p:sp>
      <p:sp>
        <p:nvSpPr>
          <p:cNvPr id="19" name="Text 17"/>
          <p:cNvSpPr/>
          <p:nvPr/>
        </p:nvSpPr>
        <p:spPr>
          <a:xfrm>
            <a:off x="384048" y="2587752"/>
            <a:ext cx="239572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  Кто держатель бизнес-контекста по каждому домену данных?</a:t>
            </a:r>
            <a:endParaRPr lang="en-US" sz="790" dirty="0"/>
          </a:p>
        </p:txBody>
      </p:sp>
      <p:sp>
        <p:nvSpPr>
          <p:cNvPr id="20" name="Shape 18"/>
          <p:cNvSpPr/>
          <p:nvPr/>
        </p:nvSpPr>
        <p:spPr>
          <a:xfrm>
            <a:off x="329184" y="3063240"/>
            <a:ext cx="2505456" cy="448056"/>
          </a:xfrm>
          <a:prstGeom prst="roundRect">
            <a:avLst>
              <a:gd name="adj" fmla="val 8163"/>
            </a:avLst>
          </a:prstGeom>
          <a:solidFill>
            <a:srgbClr val="F7F7F7"/>
          </a:solidFill>
          <a:ln/>
        </p:spPr>
      </p:sp>
      <p:sp>
        <p:nvSpPr>
          <p:cNvPr id="21" name="Text 19"/>
          <p:cNvSpPr/>
          <p:nvPr/>
        </p:nvSpPr>
        <p:spPr>
          <a:xfrm>
            <a:off x="384048" y="3090672"/>
            <a:ext cx="239572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  В каком формате фиксировать связи, чтобы это не стало очередным неактуальным документом?</a:t>
            </a:r>
            <a:endParaRPr lang="en-US" sz="790" dirty="0"/>
          </a:p>
        </p:txBody>
      </p:sp>
      <p:sp>
        <p:nvSpPr>
          <p:cNvPr id="22" name="Shape 20"/>
          <p:cNvSpPr/>
          <p:nvPr/>
        </p:nvSpPr>
        <p:spPr>
          <a:xfrm>
            <a:off x="329184" y="3566160"/>
            <a:ext cx="2505456" cy="448056"/>
          </a:xfrm>
          <a:prstGeom prst="roundRect">
            <a:avLst>
              <a:gd name="adj" fmla="val 8163"/>
            </a:avLst>
          </a:prstGeom>
          <a:solidFill>
            <a:srgbClr val="F7F7F7"/>
          </a:solidFill>
          <a:ln/>
        </p:spPr>
      </p:sp>
      <p:sp>
        <p:nvSpPr>
          <p:cNvPr id="23" name="Text 21"/>
          <p:cNvSpPr/>
          <p:nvPr/>
        </p:nvSpPr>
        <p:spPr>
          <a:xfrm>
            <a:off x="384048" y="3593592"/>
            <a:ext cx="239572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  Как поддерживать актуальность при изменении источников?</a:t>
            </a:r>
            <a:endParaRPr lang="en-US" sz="790" dirty="0"/>
          </a:p>
        </p:txBody>
      </p:sp>
      <p:sp>
        <p:nvSpPr>
          <p:cNvPr id="24" name="Shape 22"/>
          <p:cNvSpPr/>
          <p:nvPr/>
        </p:nvSpPr>
        <p:spPr>
          <a:xfrm>
            <a:off x="329184" y="4069080"/>
            <a:ext cx="2505456" cy="448056"/>
          </a:xfrm>
          <a:prstGeom prst="roundRect">
            <a:avLst>
              <a:gd name="adj" fmla="val 8163"/>
            </a:avLst>
          </a:prstGeom>
          <a:solidFill>
            <a:srgbClr val="F7F7F7"/>
          </a:solidFill>
          <a:ln/>
        </p:spPr>
      </p:sp>
      <p:sp>
        <p:nvSpPr>
          <p:cNvPr id="25" name="Text 23"/>
          <p:cNvSpPr/>
          <p:nvPr/>
        </p:nvSpPr>
        <p:spPr>
          <a:xfrm>
            <a:off x="384048" y="4096512"/>
            <a:ext cx="239572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  С какого домена начать первым?</a:t>
            </a:r>
            <a:endParaRPr lang="en-US" sz="790" dirty="0"/>
          </a:p>
        </p:txBody>
      </p:sp>
      <p:sp>
        <p:nvSpPr>
          <p:cNvPr id="26" name="Shape 24"/>
          <p:cNvSpPr/>
          <p:nvPr/>
        </p:nvSpPr>
        <p:spPr>
          <a:xfrm>
            <a:off x="3099816" y="786384"/>
            <a:ext cx="2761488" cy="3822192"/>
          </a:xfrm>
          <a:prstGeom prst="roundRect">
            <a:avLst>
              <a:gd name="adj" fmla="val 2649"/>
            </a:avLst>
          </a:prstGeom>
          <a:solidFill>
            <a:srgbClr val="FFFFFF"/>
          </a:solidFill>
          <a:ln w="13970">
            <a:solidFill>
              <a:srgbClr val="2E7D5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099816" y="786384"/>
            <a:ext cx="2761488" cy="603504"/>
          </a:xfrm>
          <a:prstGeom prst="roundRect">
            <a:avLst>
              <a:gd name="adj" fmla="val 12121"/>
            </a:avLst>
          </a:prstGeom>
          <a:solidFill>
            <a:srgbClr val="1A4A3A"/>
          </a:solidFill>
          <a:ln/>
        </p:spPr>
      </p:sp>
      <p:sp>
        <p:nvSpPr>
          <p:cNvPr id="28" name="Shape 26"/>
          <p:cNvSpPr/>
          <p:nvPr/>
        </p:nvSpPr>
        <p:spPr>
          <a:xfrm>
            <a:off x="3099816" y="1152144"/>
            <a:ext cx="2761488" cy="237744"/>
          </a:xfrm>
          <a:prstGeom prst="rect">
            <a:avLst/>
          </a:prstGeom>
          <a:solidFill>
            <a:srgbClr val="1A4A3A"/>
          </a:solidFill>
          <a:ln/>
        </p:spPr>
      </p:sp>
      <p:sp>
        <p:nvSpPr>
          <p:cNvPr id="29" name="Text 27"/>
          <p:cNvSpPr/>
          <p:nvPr/>
        </p:nvSpPr>
        <p:spPr>
          <a:xfrm>
            <a:off x="3209544" y="84124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3209544" y="1060704"/>
            <a:ext cx="2542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Тиражировать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3209544" y="1243584"/>
            <a:ext cx="254203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C8E0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внутренний контур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227832" y="1481328"/>
            <a:ext cx="25054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2E7D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ПРОБЛЕМА</a:t>
            </a:r>
            <a:endParaRPr lang="en-US" sz="780" dirty="0"/>
          </a:p>
        </p:txBody>
      </p:sp>
      <p:sp>
        <p:nvSpPr>
          <p:cNvPr id="33" name="Shape 31"/>
          <p:cNvSpPr/>
          <p:nvPr/>
        </p:nvSpPr>
        <p:spPr>
          <a:xfrm>
            <a:off x="3227832" y="1664208"/>
            <a:ext cx="2505456" cy="621792"/>
          </a:xfrm>
          <a:prstGeom prst="roundRect">
            <a:avLst>
              <a:gd name="adj" fmla="val 7353"/>
            </a:avLst>
          </a:prstGeom>
          <a:solidFill>
            <a:srgbClr val="E8F5F0"/>
          </a:solidFill>
          <a:ln/>
        </p:spPr>
      </p:sp>
      <p:sp>
        <p:nvSpPr>
          <p:cNvPr id="34" name="Text 32"/>
          <p:cNvSpPr/>
          <p:nvPr/>
        </p:nvSpPr>
        <p:spPr>
          <a:xfrm>
            <a:off x="3291840" y="1700784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30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Рабочие практики есть снаружи, но перенести их напрямую нельзя — другие условия и ограничения внутри</a:t>
            </a:r>
            <a:endParaRPr lang="en-US" sz="830" dirty="0"/>
          </a:p>
        </p:txBody>
      </p:sp>
      <p:sp>
        <p:nvSpPr>
          <p:cNvPr id="35" name="Text 33"/>
          <p:cNvSpPr/>
          <p:nvPr/>
        </p:nvSpPr>
        <p:spPr>
          <a:xfrm>
            <a:off x="3227832" y="2359152"/>
            <a:ext cx="25054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A4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ОТКРЫТЫЕ ВОПРОСЫ</a:t>
            </a:r>
            <a:endParaRPr lang="en-US" sz="780" dirty="0"/>
          </a:p>
        </p:txBody>
      </p:sp>
      <p:sp>
        <p:nvSpPr>
          <p:cNvPr id="36" name="Shape 34"/>
          <p:cNvSpPr/>
          <p:nvPr/>
        </p:nvSpPr>
        <p:spPr>
          <a:xfrm>
            <a:off x="3227832" y="2560320"/>
            <a:ext cx="2505456" cy="448056"/>
          </a:xfrm>
          <a:prstGeom prst="roundRect">
            <a:avLst>
              <a:gd name="adj" fmla="val 8163"/>
            </a:avLst>
          </a:prstGeom>
          <a:solidFill>
            <a:srgbClr val="F7F7F7"/>
          </a:solidFill>
          <a:ln/>
        </p:spPr>
      </p:sp>
      <p:sp>
        <p:nvSpPr>
          <p:cNvPr id="37" name="Text 35"/>
          <p:cNvSpPr/>
          <p:nvPr/>
        </p:nvSpPr>
        <p:spPr>
          <a:xfrm>
            <a:off x="3282696" y="2587752"/>
            <a:ext cx="239572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  Что из внешнего опыта применимо к нашим данным и регуляторике?</a:t>
            </a:r>
            <a:endParaRPr lang="en-US" sz="790" dirty="0"/>
          </a:p>
        </p:txBody>
      </p:sp>
      <p:sp>
        <p:nvSpPr>
          <p:cNvPr id="38" name="Shape 36"/>
          <p:cNvSpPr/>
          <p:nvPr/>
        </p:nvSpPr>
        <p:spPr>
          <a:xfrm>
            <a:off x="3227832" y="3063240"/>
            <a:ext cx="2505456" cy="448056"/>
          </a:xfrm>
          <a:prstGeom prst="roundRect">
            <a:avLst>
              <a:gd name="adj" fmla="val 8163"/>
            </a:avLst>
          </a:prstGeom>
          <a:solidFill>
            <a:srgbClr val="F7F7F7"/>
          </a:solidFill>
          <a:ln/>
        </p:spPr>
      </p:sp>
      <p:sp>
        <p:nvSpPr>
          <p:cNvPr id="39" name="Text 37"/>
          <p:cNvSpPr/>
          <p:nvPr/>
        </p:nvSpPr>
        <p:spPr>
          <a:xfrm>
            <a:off x="3282696" y="3090672"/>
            <a:ext cx="239572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  Кто оценивает и адаптирует внешние практики — нужна отдельная роль?</a:t>
            </a:r>
            <a:endParaRPr lang="en-US" sz="790" dirty="0"/>
          </a:p>
        </p:txBody>
      </p:sp>
      <p:sp>
        <p:nvSpPr>
          <p:cNvPr id="40" name="Shape 38"/>
          <p:cNvSpPr/>
          <p:nvPr/>
        </p:nvSpPr>
        <p:spPr>
          <a:xfrm>
            <a:off x="3227832" y="3566160"/>
            <a:ext cx="2505456" cy="448056"/>
          </a:xfrm>
          <a:prstGeom prst="roundRect">
            <a:avLst>
              <a:gd name="adj" fmla="val 8163"/>
            </a:avLst>
          </a:prstGeom>
          <a:solidFill>
            <a:srgbClr val="F7F7F7"/>
          </a:solidFill>
          <a:ln/>
        </p:spPr>
      </p:sp>
      <p:sp>
        <p:nvSpPr>
          <p:cNvPr id="41" name="Text 39"/>
          <p:cNvSpPr/>
          <p:nvPr/>
        </p:nvSpPr>
        <p:spPr>
          <a:xfrm>
            <a:off x="3282696" y="3593592"/>
            <a:ext cx="239572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  Как тестировать перенесённое решение прежде чем на него полагаться?</a:t>
            </a:r>
            <a:endParaRPr lang="en-US" sz="790" dirty="0"/>
          </a:p>
        </p:txBody>
      </p:sp>
      <p:sp>
        <p:nvSpPr>
          <p:cNvPr id="42" name="Shape 40"/>
          <p:cNvSpPr/>
          <p:nvPr/>
        </p:nvSpPr>
        <p:spPr>
          <a:xfrm>
            <a:off x="3227832" y="4069080"/>
            <a:ext cx="2505456" cy="448056"/>
          </a:xfrm>
          <a:prstGeom prst="roundRect">
            <a:avLst>
              <a:gd name="adj" fmla="val 8163"/>
            </a:avLst>
          </a:prstGeom>
          <a:solidFill>
            <a:srgbClr val="F7F7F7"/>
          </a:solidFill>
          <a:ln/>
        </p:spPr>
      </p:sp>
      <p:sp>
        <p:nvSpPr>
          <p:cNvPr id="43" name="Text 41"/>
          <p:cNvSpPr/>
          <p:nvPr/>
        </p:nvSpPr>
        <p:spPr>
          <a:xfrm>
            <a:off x="3282696" y="4096512"/>
            <a:ext cx="239572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  Какой бюджет и срок закладывать на адаптацию, а не копирование?</a:t>
            </a:r>
            <a:endParaRPr lang="en-US" sz="790" dirty="0"/>
          </a:p>
        </p:txBody>
      </p:sp>
      <p:sp>
        <p:nvSpPr>
          <p:cNvPr id="44" name="Shape 42"/>
          <p:cNvSpPr/>
          <p:nvPr/>
        </p:nvSpPr>
        <p:spPr>
          <a:xfrm>
            <a:off x="5998464" y="786384"/>
            <a:ext cx="2761488" cy="3822192"/>
          </a:xfrm>
          <a:prstGeom prst="roundRect">
            <a:avLst>
              <a:gd name="adj" fmla="val 2649"/>
            </a:avLst>
          </a:prstGeom>
          <a:solidFill>
            <a:srgbClr val="FFFFFF"/>
          </a:solidFill>
          <a:ln w="13970">
            <a:solidFill>
              <a:srgbClr val="2E7D5E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998464" y="786384"/>
            <a:ext cx="2761488" cy="603504"/>
          </a:xfrm>
          <a:prstGeom prst="roundRect">
            <a:avLst>
              <a:gd name="adj" fmla="val 12121"/>
            </a:avLst>
          </a:prstGeom>
          <a:solidFill>
            <a:srgbClr val="1A4A3A"/>
          </a:solidFill>
          <a:ln/>
        </p:spPr>
      </p:sp>
      <p:sp>
        <p:nvSpPr>
          <p:cNvPr id="46" name="Shape 44"/>
          <p:cNvSpPr/>
          <p:nvPr/>
        </p:nvSpPr>
        <p:spPr>
          <a:xfrm>
            <a:off x="5998464" y="1152144"/>
            <a:ext cx="2761488" cy="237744"/>
          </a:xfrm>
          <a:prstGeom prst="rect">
            <a:avLst/>
          </a:prstGeom>
          <a:solidFill>
            <a:srgbClr val="1A4A3A"/>
          </a:solidFill>
          <a:ln/>
        </p:spPr>
      </p:sp>
      <p:sp>
        <p:nvSpPr>
          <p:cNvPr id="47" name="Text 45"/>
          <p:cNvSpPr/>
          <p:nvPr/>
        </p:nvSpPr>
        <p:spPr>
          <a:xfrm>
            <a:off x="6108192" y="84124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6108192" y="1060704"/>
            <a:ext cx="2542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Объединить</a:t>
            </a:r>
            <a:endParaRPr lang="en-US" sz="1250" dirty="0"/>
          </a:p>
        </p:txBody>
      </p:sp>
      <p:sp>
        <p:nvSpPr>
          <p:cNvPr id="49" name="Text 47"/>
          <p:cNvSpPr/>
          <p:nvPr/>
        </p:nvSpPr>
        <p:spPr>
          <a:xfrm>
            <a:off x="6108192" y="1243584"/>
            <a:ext cx="254203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C8E0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единым слоем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126480" y="1481328"/>
            <a:ext cx="25054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2E7D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ПРОБЛЕМА</a:t>
            </a:r>
            <a:endParaRPr lang="en-US" sz="780" dirty="0"/>
          </a:p>
        </p:txBody>
      </p:sp>
      <p:sp>
        <p:nvSpPr>
          <p:cNvPr id="51" name="Shape 49"/>
          <p:cNvSpPr/>
          <p:nvPr/>
        </p:nvSpPr>
        <p:spPr>
          <a:xfrm>
            <a:off x="6126480" y="1664208"/>
            <a:ext cx="2505456" cy="621792"/>
          </a:xfrm>
          <a:prstGeom prst="roundRect">
            <a:avLst>
              <a:gd name="adj" fmla="val 7353"/>
            </a:avLst>
          </a:prstGeom>
          <a:solidFill>
            <a:srgbClr val="E8F5F0"/>
          </a:solidFill>
          <a:ln/>
        </p:spPr>
      </p:sp>
      <p:sp>
        <p:nvSpPr>
          <p:cNvPr id="52" name="Text 50"/>
          <p:cNvSpPr/>
          <p:nvPr/>
        </p:nvSpPr>
        <p:spPr>
          <a:xfrm>
            <a:off x="6190488" y="1700784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30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Каждый инструмент работает изолированно — нет ни оркестрации, ни ответственного за результат всей цепочки</a:t>
            </a:r>
            <a:endParaRPr lang="en-US" sz="830" dirty="0"/>
          </a:p>
        </p:txBody>
      </p:sp>
      <p:sp>
        <p:nvSpPr>
          <p:cNvPr id="53" name="Text 51"/>
          <p:cNvSpPr/>
          <p:nvPr/>
        </p:nvSpPr>
        <p:spPr>
          <a:xfrm>
            <a:off x="6126480" y="2359152"/>
            <a:ext cx="25054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A4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ОТКРЫТЫЕ ВОПРОСЫ</a:t>
            </a:r>
            <a:endParaRPr lang="en-US" sz="780" dirty="0"/>
          </a:p>
        </p:txBody>
      </p:sp>
      <p:sp>
        <p:nvSpPr>
          <p:cNvPr id="54" name="Shape 52"/>
          <p:cNvSpPr/>
          <p:nvPr/>
        </p:nvSpPr>
        <p:spPr>
          <a:xfrm>
            <a:off x="6126480" y="2560320"/>
            <a:ext cx="2505456" cy="448056"/>
          </a:xfrm>
          <a:prstGeom prst="roundRect">
            <a:avLst>
              <a:gd name="adj" fmla="val 8163"/>
            </a:avLst>
          </a:prstGeom>
          <a:solidFill>
            <a:srgbClr val="F7F7F7"/>
          </a:solidFill>
          <a:ln/>
        </p:spPr>
      </p:sp>
      <p:sp>
        <p:nvSpPr>
          <p:cNvPr id="55" name="Text 53"/>
          <p:cNvSpPr/>
          <p:nvPr/>
        </p:nvSpPr>
        <p:spPr>
          <a:xfrm>
            <a:off x="6181344" y="2587752"/>
            <a:ext cx="239572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  Кто владеет всей цепочкой целиком, а не отдельным инструментом внутри неё?</a:t>
            </a:r>
            <a:endParaRPr lang="en-US" sz="790" dirty="0"/>
          </a:p>
        </p:txBody>
      </p:sp>
      <p:sp>
        <p:nvSpPr>
          <p:cNvPr id="56" name="Shape 54"/>
          <p:cNvSpPr/>
          <p:nvPr/>
        </p:nvSpPr>
        <p:spPr>
          <a:xfrm>
            <a:off x="6126480" y="3063240"/>
            <a:ext cx="2505456" cy="448056"/>
          </a:xfrm>
          <a:prstGeom prst="roundRect">
            <a:avLst>
              <a:gd name="adj" fmla="val 8163"/>
            </a:avLst>
          </a:prstGeom>
          <a:solidFill>
            <a:srgbClr val="F7F7F7"/>
          </a:solidFill>
          <a:ln/>
        </p:spPr>
      </p:sp>
      <p:sp>
        <p:nvSpPr>
          <p:cNvPr id="57" name="Text 55"/>
          <p:cNvSpPr/>
          <p:nvPr/>
        </p:nvSpPr>
        <p:spPr>
          <a:xfrm>
            <a:off x="6181344" y="3090672"/>
            <a:ext cx="239572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  Как не допустить чтобы этот слой сам стал точкой отказа?</a:t>
            </a:r>
            <a:endParaRPr lang="en-US" sz="790" dirty="0"/>
          </a:p>
        </p:txBody>
      </p:sp>
      <p:sp>
        <p:nvSpPr>
          <p:cNvPr id="58" name="Shape 56"/>
          <p:cNvSpPr/>
          <p:nvPr/>
        </p:nvSpPr>
        <p:spPr>
          <a:xfrm>
            <a:off x="6126480" y="3566160"/>
            <a:ext cx="2505456" cy="448056"/>
          </a:xfrm>
          <a:prstGeom prst="roundRect">
            <a:avLst>
              <a:gd name="adj" fmla="val 8163"/>
            </a:avLst>
          </a:prstGeom>
          <a:solidFill>
            <a:srgbClr val="F7F7F7"/>
          </a:solidFill>
          <a:ln/>
        </p:spPr>
      </p:sp>
      <p:sp>
        <p:nvSpPr>
          <p:cNvPr id="59" name="Text 57"/>
          <p:cNvSpPr/>
          <p:nvPr/>
        </p:nvSpPr>
        <p:spPr>
          <a:xfrm>
            <a:off x="6181344" y="3593592"/>
            <a:ext cx="239572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  Строим сами или берём готовую платформу?</a:t>
            </a:r>
            <a:endParaRPr lang="en-US" sz="790" dirty="0"/>
          </a:p>
        </p:txBody>
      </p:sp>
      <p:sp>
        <p:nvSpPr>
          <p:cNvPr id="60" name="Shape 58"/>
          <p:cNvSpPr/>
          <p:nvPr/>
        </p:nvSpPr>
        <p:spPr>
          <a:xfrm>
            <a:off x="6126480" y="4069080"/>
            <a:ext cx="2505456" cy="448056"/>
          </a:xfrm>
          <a:prstGeom prst="roundRect">
            <a:avLst>
              <a:gd name="adj" fmla="val 8163"/>
            </a:avLst>
          </a:prstGeom>
          <a:solidFill>
            <a:srgbClr val="F7F7F7"/>
          </a:solidFill>
          <a:ln/>
        </p:spPr>
      </p:sp>
      <p:sp>
        <p:nvSpPr>
          <p:cNvPr id="61" name="Text 59"/>
          <p:cNvSpPr/>
          <p:nvPr/>
        </p:nvSpPr>
        <p:spPr>
          <a:xfrm>
            <a:off x="6181344" y="4096512"/>
            <a:ext cx="239572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  Как внедрять поэтапно, не останавливая то что уже работает?</a:t>
            </a:r>
            <a:endParaRPr lang="en-US" sz="790" dirty="0"/>
          </a:p>
        </p:txBody>
      </p:sp>
      <p:sp>
        <p:nvSpPr>
          <p:cNvPr id="62" name="Shape 60"/>
          <p:cNvSpPr/>
          <p:nvPr/>
        </p:nvSpPr>
        <p:spPr>
          <a:xfrm>
            <a:off x="0" y="4937760"/>
            <a:ext cx="9144000" cy="210312"/>
          </a:xfrm>
          <a:prstGeom prst="rect">
            <a:avLst/>
          </a:prstGeom>
          <a:solidFill>
            <a:srgbClr val="0D0730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2026-08-31T08:04:37Z</dcterms:created>
  <dcterms:modified xsi:type="dcterms:W3CDTF">2026-08-31T08:04:37Z</dcterms:modified>
</cp:coreProperties>
</file>