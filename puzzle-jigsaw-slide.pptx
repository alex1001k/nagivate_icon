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4A3A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82296"/>
            <a:ext cx="8741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→ Отчётность → Аналитика → Управление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01168" y="338328"/>
            <a:ext cx="87416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Четыре элемента пока не состыкованы — вот какие агенты и CLI-инструменты нужно спроектировать чтобы они сложились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01168" y="548640"/>
            <a:ext cx="8741664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pic>
        <p:nvPicPr>
          <p:cNvPr id="7" name="Image 0" descr="/mnt/user-data/outputs/puzzle_bg_hir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749808"/>
            <a:ext cx="3520440" cy="35204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47472" y="877824"/>
            <a:ext cx="16504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107692" y="877824"/>
            <a:ext cx="16504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ОТЧЁТНОСТЬ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47472" y="2638044"/>
            <a:ext cx="16504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АНАЛИТИКА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107692" y="2638044"/>
            <a:ext cx="16504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92608" y="43434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 это 4 отдельных куска — цель: собрать их в одну картину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069080" y="749808"/>
            <a:ext cx="4873752" cy="969264"/>
          </a:xfrm>
          <a:prstGeom prst="roundRect">
            <a:avLst>
              <a:gd name="adj" fmla="val 4717"/>
            </a:avLst>
          </a:prstGeom>
          <a:solidFill>
            <a:srgbClr val="FAFAFA"/>
          </a:solidFill>
          <a:ln w="13970">
            <a:solidFill>
              <a:srgbClr val="0E3B2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069080" y="749808"/>
            <a:ext cx="82296" cy="969264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5" name="Text 12"/>
          <p:cNvSpPr/>
          <p:nvPr/>
        </p:nvSpPr>
        <p:spPr>
          <a:xfrm>
            <a:off x="4233672" y="786384"/>
            <a:ext cx="45994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233672" y="960120"/>
            <a:ext cx="459943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 к данным не только для дата-инженера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4233672" y="1133856"/>
            <a:ext cx="4599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660" b="1" dirty="0">
                <a:solidFill>
                  <a:srgbClr val="0E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66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Агент-каталогизатор</a:t>
            </a:r>
            <a:pPr indent="0" marL="0">
              <a:lnSpc>
                <a:spcPct val="115000"/>
              </a:lnSpc>
              <a:buNone/>
            </a:pPr>
            <a:r>
              <a:rPr lang="en-US" sz="6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сам описывает витрины на естественном языке</a:t>
            </a:r>
            <a:endParaRPr lang="en-US" sz="66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60" b="1" dirty="0">
                <a:solidFill>
                  <a:srgbClr val="0E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66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Агент поиска источника</a:t>
            </a:r>
            <a:pPr indent="0" marL="0">
              <a:lnSpc>
                <a:spcPct val="115000"/>
              </a:lnSpc>
              <a:buNone/>
            </a:pPr>
            <a:r>
              <a:rPr lang="en-US" sz="6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находит таблицу по смыслу вопроса</a:t>
            </a:r>
            <a:endParaRPr lang="en-US" sz="66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60" b="1" dirty="0">
                <a:solidFill>
                  <a:srgbClr val="0E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66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фаст-трек</a:t>
            </a:r>
            <a:pPr indent="0" marL="0">
              <a:lnSpc>
                <a:spcPct val="115000"/>
              </a:lnSpc>
              <a:buNone/>
            </a:pPr>
            <a:r>
              <a:rPr lang="en-US" sz="6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новая витрина без участия инженера</a:t>
            </a:r>
            <a:endParaRPr lang="en-US" sz="660" dirty="0"/>
          </a:p>
        </p:txBody>
      </p:sp>
      <p:sp>
        <p:nvSpPr>
          <p:cNvPr id="18" name="Shape 15"/>
          <p:cNvSpPr/>
          <p:nvPr/>
        </p:nvSpPr>
        <p:spPr>
          <a:xfrm>
            <a:off x="4069080" y="1801368"/>
            <a:ext cx="4873752" cy="969264"/>
          </a:xfrm>
          <a:prstGeom prst="roundRect">
            <a:avLst>
              <a:gd name="adj" fmla="val 4717"/>
            </a:avLst>
          </a:prstGeom>
          <a:solidFill>
            <a:srgbClr val="FAFAFA"/>
          </a:solidFill>
          <a:ln w="13970">
            <a:solidFill>
              <a:srgbClr val="1E6B4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069080" y="1801368"/>
            <a:ext cx="82296" cy="969264"/>
          </a:xfrm>
          <a:prstGeom prst="rect">
            <a:avLst/>
          </a:prstGeom>
          <a:solidFill>
            <a:srgbClr val="1E6B4F"/>
          </a:solidFill>
          <a:ln/>
        </p:spPr>
      </p:sp>
      <p:sp>
        <p:nvSpPr>
          <p:cNvPr id="20" name="Text 17"/>
          <p:cNvSpPr/>
          <p:nvPr/>
        </p:nvSpPr>
        <p:spPr>
          <a:xfrm>
            <a:off x="4233672" y="1837944"/>
            <a:ext cx="45994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Отчётность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233672" y="2011680"/>
            <a:ext cx="459943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 онлайн — не дольше минуты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4233672" y="2185416"/>
            <a:ext cx="4599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660" b="1" dirty="0">
                <a:solidFill>
                  <a:srgbClr val="1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66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Агент-генератор отчёта</a:t>
            </a:r>
            <a:pPr indent="0" marL="0">
              <a:lnSpc>
                <a:spcPct val="115000"/>
              </a:lnSpc>
              <a:buNone/>
            </a:pPr>
            <a:r>
              <a:rPr lang="en-US" sz="6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строит визуал на лету по запросу</a:t>
            </a:r>
            <a:endParaRPr lang="en-US" sz="66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60" b="1" dirty="0">
                <a:solidFill>
                  <a:srgbClr val="1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66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Библиотека агентных шаблонов</a:t>
            </a:r>
            <a:pPr indent="0" marL="0">
              <a:lnSpc>
                <a:spcPct val="115000"/>
              </a:lnSpc>
              <a:buNone/>
            </a:pPr>
            <a:r>
              <a:rPr lang="en-US" sz="6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под типовые сущности</a:t>
            </a:r>
            <a:endParaRPr lang="en-US" sz="66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60" b="1" dirty="0">
                <a:solidFill>
                  <a:srgbClr val="1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66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CLI-триггер</a:t>
            </a:r>
            <a:pPr indent="0" marL="0">
              <a:lnSpc>
                <a:spcPct val="115000"/>
              </a:lnSpc>
              <a:buNone/>
            </a:pPr>
            <a:r>
              <a:rPr lang="en-US" sz="6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автообновление без ручной команды</a:t>
            </a:r>
            <a:endParaRPr lang="en-US" sz="660" dirty="0"/>
          </a:p>
        </p:txBody>
      </p:sp>
      <p:sp>
        <p:nvSpPr>
          <p:cNvPr id="23" name="Shape 20"/>
          <p:cNvSpPr/>
          <p:nvPr/>
        </p:nvSpPr>
        <p:spPr>
          <a:xfrm>
            <a:off x="4069080" y="2852928"/>
            <a:ext cx="4873752" cy="969264"/>
          </a:xfrm>
          <a:prstGeom prst="roundRect">
            <a:avLst>
              <a:gd name="adj" fmla="val 4717"/>
            </a:avLst>
          </a:prstGeom>
          <a:solidFill>
            <a:srgbClr val="FAFAFA"/>
          </a:solidFill>
          <a:ln w="13970">
            <a:solidFill>
              <a:srgbClr val="2E8B6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069080" y="2852928"/>
            <a:ext cx="82296" cy="969264"/>
          </a:xfrm>
          <a:prstGeom prst="rect">
            <a:avLst/>
          </a:prstGeom>
          <a:solidFill>
            <a:srgbClr val="2E8B65"/>
          </a:solidFill>
          <a:ln/>
        </p:spPr>
      </p:sp>
      <p:sp>
        <p:nvSpPr>
          <p:cNvPr id="25" name="Text 22"/>
          <p:cNvSpPr/>
          <p:nvPr/>
        </p:nvSpPr>
        <p:spPr>
          <a:xfrm>
            <a:off x="4233672" y="2889504"/>
            <a:ext cx="45994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Аналитика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233672" y="3063240"/>
            <a:ext cx="459943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Self-service закрывает 50% вопросов без аналитика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4233672" y="3236976"/>
            <a:ext cx="4599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660" b="1" dirty="0">
                <a:solidFill>
                  <a:srgbClr val="2E8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66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Агент-подсказчик</a:t>
            </a:r>
            <a:pPr indent="0" marL="0">
              <a:lnSpc>
                <a:spcPct val="115000"/>
              </a:lnSpc>
              <a:buNone/>
            </a:pPr>
            <a:r>
              <a:rPr lang="en-US" sz="6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предлагает готовый сценарий анализа</a:t>
            </a:r>
            <a:endParaRPr lang="en-US" sz="66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60" b="1" dirty="0">
                <a:solidFill>
                  <a:srgbClr val="2E8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66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CLI-доступ</a:t>
            </a:r>
            <a:pPr indent="0" marL="0">
              <a:lnSpc>
                <a:spcPct val="115000"/>
              </a:lnSpc>
              <a:buNone/>
            </a:pPr>
            <a:r>
              <a:rPr lang="en-US" sz="6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для продвинутых пользователей напрямую</a:t>
            </a:r>
            <a:endParaRPr lang="en-US" sz="66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60" b="1" dirty="0">
                <a:solidFill>
                  <a:srgbClr val="2E8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66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Аналитик-эксперт</a:t>
            </a:r>
            <a:pPr indent="0" marL="0">
              <a:lnSpc>
                <a:spcPct val="115000"/>
              </a:lnSpc>
              <a:buNone/>
            </a:pPr>
            <a:r>
              <a:rPr lang="en-US" sz="6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подключается только к сложным 50%</a:t>
            </a:r>
            <a:endParaRPr lang="en-US" sz="660" dirty="0"/>
          </a:p>
        </p:txBody>
      </p:sp>
      <p:sp>
        <p:nvSpPr>
          <p:cNvPr id="28" name="Shape 25"/>
          <p:cNvSpPr/>
          <p:nvPr/>
        </p:nvSpPr>
        <p:spPr>
          <a:xfrm>
            <a:off x="4069080" y="3904488"/>
            <a:ext cx="4873752" cy="969264"/>
          </a:xfrm>
          <a:prstGeom prst="roundRect">
            <a:avLst>
              <a:gd name="adj" fmla="val 4717"/>
            </a:avLst>
          </a:prstGeom>
          <a:solidFill>
            <a:srgbClr val="FAFAFA"/>
          </a:solidFill>
          <a:ln w="13970">
            <a:solidFill>
              <a:srgbClr val="4CAA7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069080" y="3904488"/>
            <a:ext cx="82296" cy="969264"/>
          </a:xfrm>
          <a:prstGeom prst="rect">
            <a:avLst/>
          </a:prstGeom>
          <a:solidFill>
            <a:srgbClr val="4CAA7D"/>
          </a:solidFill>
          <a:ln/>
        </p:spPr>
      </p:sp>
      <p:sp>
        <p:nvSpPr>
          <p:cNvPr id="30" name="Text 27"/>
          <p:cNvSpPr/>
          <p:nvPr/>
        </p:nvSpPr>
        <p:spPr>
          <a:xfrm>
            <a:off x="4233672" y="3941064"/>
            <a:ext cx="45994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A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233672" y="4114800"/>
            <a:ext cx="459943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+ онтология — иначе рекомендации не обоснованы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4233672" y="4288536"/>
            <a:ext cx="4599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660" b="1" dirty="0">
                <a:solidFill>
                  <a:srgbClr val="4CA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66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Агент-рекомендатель</a:t>
            </a:r>
            <a:pPr indent="0" marL="0">
              <a:lnSpc>
                <a:spcPct val="115000"/>
              </a:lnSpc>
              <a:buNone/>
            </a:pPr>
            <a:r>
              <a:rPr lang="en-US" sz="6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формулирует варианты действия</a:t>
            </a:r>
            <a:endParaRPr lang="en-US" sz="66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60" b="1" dirty="0">
                <a:solidFill>
                  <a:srgbClr val="4CA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66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Агент связи с онтологией</a:t>
            </a:r>
            <a:pPr indent="0" marL="0">
              <a:lnSpc>
                <a:spcPct val="115000"/>
              </a:lnSpc>
              <a:buNone/>
            </a:pPr>
            <a:r>
              <a:rPr lang="en-US" sz="6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обосновывает вывод через граф</a:t>
            </a:r>
            <a:endParaRPr lang="en-US" sz="66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60" b="1" dirty="0">
                <a:solidFill>
                  <a:srgbClr val="4CA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66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 человека</a:t>
            </a:r>
            <a:pPr indent="0" marL="0">
              <a:lnSpc>
                <a:spcPct val="115000"/>
              </a:lnSpc>
              <a:buNone/>
            </a:pPr>
            <a:r>
              <a:rPr lang="en-US" sz="6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агент предлагает, человек утверждает</a:t>
            </a:r>
            <a:endParaRPr lang="en-US" sz="660" dirty="0"/>
          </a:p>
        </p:txBody>
      </p:sp>
      <p:sp>
        <p:nvSpPr>
          <p:cNvPr id="33" name="Shape 30"/>
          <p:cNvSpPr/>
          <p:nvPr/>
        </p:nvSpPr>
        <p:spPr>
          <a:xfrm>
            <a:off x="201168" y="5001768"/>
            <a:ext cx="8741664" cy="310896"/>
          </a:xfrm>
          <a:prstGeom prst="roundRect">
            <a:avLst>
              <a:gd name="adj" fmla="val 14706"/>
            </a:avLst>
          </a:prstGeom>
          <a:solidFill>
            <a:srgbClr val="1A4A3A"/>
          </a:solidFill>
          <a:ln/>
        </p:spPr>
      </p:sp>
      <p:sp>
        <p:nvSpPr>
          <p:cNvPr id="34" name="Text 31"/>
          <p:cNvSpPr/>
          <p:nvPr/>
        </p:nvSpPr>
        <p:spPr>
          <a:xfrm>
            <a:off x="329184" y="5001768"/>
            <a:ext cx="84856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Следующий шаг — спроектировать каждого агента отдельно: вход, источник данных, формат ответа, кто принимает результат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0" y="4937760"/>
            <a:ext cx="9144000" cy="210312"/>
          </a:xfrm>
          <a:prstGeom prst="rect">
            <a:avLst/>
          </a:prstGeom>
          <a:solidFill>
            <a:srgbClr val="0D073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2026-08-31T14:26:32Z</dcterms:created>
  <dcterms:modified xsi:type="dcterms:W3CDTF">2026-08-31T14:26:32Z</dcterms:modified>
</cp:coreProperties>
</file>