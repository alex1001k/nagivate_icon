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1c639c30-c120-5839-e39b-51d8777861a7}">
          <p14:sldIdLst>
            <p14:sldId id="256"/>
          </p14:sldIdLst>
        </p14:section>
        <p14:section name="Резюме" id="{1be2a1e0-a06a-b773-c15a-ca596a7a0c86}">
          <p14:sldIdLst>
            <p14:sldId id="257"/>
          </p14:sldIdLst>
        </p14:section>
        <p14:section name="Почему не подходит" id="{f95be52a-7165-0f08-2817-89dd01397380}">
          <p14:sldIdLst>
            <p14:sldId id="258"/>
          </p14:sldIdLst>
        </p14:section>
        <p14:section name="Что делать" id="{099bbec9-66dc-3daa-03da-b5506b6b22cb}">
          <p14:sldIdLst>
            <p14:sldId id="259"/>
            <p14:sldId id="260"/>
          </p14:sldIdLst>
        </p14:section>
        <p14:section name="Что получает топ" id="{202d6598-dcff-5294-f826-3e8788a5cea6}">
          <p14:sldIdLst>
            <p14:sldId id="261"/>
          </p14:sldIdLst>
        </p14:section>
        <p14:section name="Цель 2027" id="{34b78f94-14bb-fbf6-ca9d-641667d86c5f}">
          <p14:sldIdLst>
            <p14:sldId id="262"/>
            <p14:sldId id="263"/>
            <p14:sldId id="264"/>
          </p14:sldIdLst>
        </p14:section>
        <p14:section name="Решения" id="{925c0b33-d505-0bb0-9c2e-dec65fb9ea0a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От мастердэша к мастерданным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От мастердэша к мастерданным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Концепция развития BI для топ-менеджмента и целевая метрика на 2027 год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Главное</a:t>
            </a:r>
            <a:endParaRPr lang="en-US" sz="3200" dirty="0"/>
          </a:p>
        </p:txBody>
      </p:sp>
      <p:sp>
        <p:nvSpPr>
          <p:cNvPr id="3" name="num0"/>
          <p:cNvSpPr txBox="1"/>
          <p:nvPr/>
        </p:nvSpPr>
        <p:spPr>
          <a:xfrm>
            <a:off x="548640" y="1600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645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Мастердэш не используется — и это проблема формата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148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Он дублирует локальные отчёты блоков и измеряет посещение витрины, а не пользу для решений</a:t>
            </a:r>
            <a:endParaRPr lang="en-US" sz="1600" dirty="0"/>
          </a:p>
        </p:txBody>
      </p:sp>
      <p:sp>
        <p:nvSpPr>
          <p:cNvPr id="6" name="num1"/>
          <p:cNvSpPr txBox="1"/>
          <p:nvPr/>
        </p:nvSpPr>
        <p:spPr>
          <a:xfrm>
            <a:off x="548640" y="30632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02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3108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Ценность смещается в слой данных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Единые сертифицированные метрики, которые потребляют отчёты блоков, руководители и AI-агенты</a:t>
            </a:r>
            <a:endParaRPr lang="en-US" sz="1600" dirty="0"/>
          </a:p>
        </p:txBody>
      </p:sp>
      <p:sp>
        <p:nvSpPr>
          <p:cNvPr id="9" name="num2"/>
          <p:cNvSpPr txBox="1"/>
          <p:nvPr/>
        </p:nvSpPr>
        <p:spPr>
          <a:xfrm>
            <a:off x="548640" y="4526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03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4572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На 2027 год: MAU мастерданных вместо MAU мастердэша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5074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Считаем, сколько руководителей принимают решения на единых цифрах — через любой канал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Почему мастердэш нам не подходит</a:t>
            </a:r>
            <a:endParaRPr lang="en-US" sz="3200" dirty="0"/>
          </a:p>
        </p:txBody>
      </p:sp>
      <p:sp>
        <p:nvSpPr>
          <p:cNvPr id="3" name="card0"/>
          <p:cNvSpPr/>
          <p:nvPr/>
        </p:nvSpPr>
        <p:spPr>
          <a:xfrm>
            <a:off x="548640" y="1463040"/>
            <a:ext cx="3511296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Дублирует работающее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 блоков есть свои отчёты. Мастердэш конкурирует с ними: две версии цифр и двойная поддержка</a:t>
            </a:r>
            <a:endParaRPr lang="en-US" sz="1400" dirty="0"/>
          </a:p>
        </p:txBody>
      </p:sp>
      <p:sp>
        <p:nvSpPr>
          <p:cNvPr id="7" name="card1"/>
          <p:cNvSpPr/>
          <p:nvPr/>
        </p:nvSpPr>
        <p:spPr>
          <a:xfrm>
            <a:off x="4325112" y="1463040"/>
            <a:ext cx="3511296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9432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14884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Отвечает только на заданные вопросы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7889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Показывает «что», но не «почему» и «что будет». За ответом топ звонит подчинённому</a:t>
            </a:r>
            <a:endParaRPr lang="en-US" sz="1400" dirty="0"/>
          </a:p>
        </p:txBody>
      </p:sp>
      <p:sp>
        <p:nvSpPr>
          <p:cNvPr id="11" name="card2"/>
          <p:cNvSpPr/>
          <p:nvPr/>
        </p:nvSpPr>
        <p:spPr>
          <a:xfrm>
            <a:off x="8101584" y="1463040"/>
            <a:ext cx="3511296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75904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375904" y="214884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«Зайди и найди сам»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7889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Десятки вкладок и виджетов. У руководителя нет времени искать — информация должна приходить сама</a:t>
            </a:r>
            <a:endParaRPr lang="en-US" sz="1400" dirty="0"/>
          </a:p>
        </p:txBody>
      </p:sp>
      <p:sp>
        <p:nvSpPr>
          <p:cNvPr id="15" name="card3"/>
          <p:cNvSpPr/>
          <p:nvPr/>
        </p:nvSpPr>
        <p:spPr>
          <a:xfrm>
            <a:off x="548640" y="3977640"/>
            <a:ext cx="3511296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6344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Затраты без отдачи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035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ETL, сверки и доработки каждого виджета оплачиваются при почти нулевом использовании</a:t>
            </a:r>
            <a:endParaRPr lang="en-US" sz="1400" dirty="0"/>
          </a:p>
        </p:txBody>
      </p:sp>
      <p:sp>
        <p:nvSpPr>
          <p:cNvPr id="19" name="card4"/>
          <p:cNvSpPr/>
          <p:nvPr/>
        </p:nvSpPr>
        <p:spPr>
          <a:xfrm>
            <a:off x="4325112" y="3977640"/>
            <a:ext cx="3511296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99432" y="4206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4599432" y="466344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Вложения в устаревающий слой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530352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Агенту не нужен виджет. Ему нужны определение метрики, формула, срезы и права доступа</a:t>
            </a:r>
            <a:endParaRPr lang="en-US" sz="1400" dirty="0"/>
          </a:p>
        </p:txBody>
      </p:sp>
      <p:sp>
        <p:nvSpPr>
          <p:cNvPr id="23" name="conclusion"/>
          <p:cNvSpPr/>
          <p:nvPr/>
        </p:nvSpPr>
        <p:spPr>
          <a:xfrm>
            <a:off x="8101584" y="3977640"/>
            <a:ext cx="3511296" cy="22402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75904" y="425196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Вывод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4709160"/>
            <a:ext cx="2962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Неверен формат, а не дизайн. Нужна не общая витрина, а общий слой метрик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делать вместо: мастерданные</a:t>
            </a:r>
            <a:endParaRPr lang="en-US" sz="3200" dirty="0"/>
          </a:p>
        </p:txBody>
      </p:sp>
      <p:sp>
        <p:nvSpPr>
          <p:cNvPr id="3" name="layer4"/>
          <p:cNvSpPr/>
          <p:nvPr/>
        </p:nvSpPr>
        <p:spPr>
          <a:xfrm>
            <a:off x="548640" y="1463040"/>
            <a:ext cx="6035040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Потребители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84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Отчёты блоков · AI-ассистент · агенты · материалы правления</a:t>
            </a:r>
            <a:endParaRPr lang="en-US" sz="1400" dirty="0"/>
          </a:p>
        </p:txBody>
      </p:sp>
      <p:sp>
        <p:nvSpPr>
          <p:cNvPr id="7" name="layer3"/>
          <p:cNvSpPr/>
          <p:nvPr/>
        </p:nvSpPr>
        <p:spPr>
          <a:xfrm>
            <a:off x="548640" y="2606040"/>
            <a:ext cx="6035040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788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61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Доступ (API / MCP)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127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Единый интерфейс к метрикам для людей и агентов</a:t>
            </a:r>
            <a:endParaRPr lang="en-US" sz="1400" dirty="0"/>
          </a:p>
        </p:txBody>
      </p:sp>
      <p:sp>
        <p:nvSpPr>
          <p:cNvPr id="11" name="layer2"/>
          <p:cNvSpPr/>
          <p:nvPr/>
        </p:nvSpPr>
        <p:spPr>
          <a:xfrm>
            <a:off x="548640" y="3749040"/>
            <a:ext cx="6035040" cy="960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931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Мастерданные и слой метрик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270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Единая версия правды — главный актив</a:t>
            </a:r>
            <a:endParaRPr lang="en-US" sz="1400" dirty="0"/>
          </a:p>
        </p:txBody>
      </p:sp>
      <p:sp>
        <p:nvSpPr>
          <p:cNvPr id="15" name="layer1"/>
          <p:cNvSpPr/>
          <p:nvPr/>
        </p:nvSpPr>
        <p:spPr>
          <a:xfrm>
            <a:off x="548640" y="4892040"/>
            <a:ext cx="6035040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047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Источники и DWH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413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Уже есть, без изменений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1463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Каталог 50–100 метрик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У каждой: формула, владелец в бизнесе, разрезы, план и пороги, права доступа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Отчёты блоков сохраняются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429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Их постепенно переводят на общий слой — цифры сходятся у всех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Мастердэш — первый этап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937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Собранные показатели и расчёты становятся сырьём для каталога метрик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Агентам нужны мастерданные, а не дашборды</a:t>
            </a:r>
            <a:endParaRPr lang="en-US" sz="3200" dirty="0"/>
          </a:p>
        </p:txBody>
      </p:sp>
      <p:sp>
        <p:nvSpPr>
          <p:cNvPr id="3" name="bad"/>
          <p:cNvSpPr/>
          <p:nvPr/>
        </p:nvSpPr>
        <p:spPr>
          <a:xfrm>
            <a:off x="548640" y="1463040"/>
            <a:ext cx="5394960" cy="2926080"/>
          </a:xfrm>
          <a:prstGeom prst="rect">
            <a:avLst/>
          </a:prstGeom>
          <a:solidFill>
            <a:schemeClr val="bg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4" name="good"/>
          <p:cNvSpPr/>
          <p:nvPr/>
        </p:nvSpPr>
        <p:spPr>
          <a:xfrm>
            <a:off x="6245352" y="1463040"/>
            <a:ext cx="5394960" cy="29260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LLM напрямую к DWH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Каждый раз заново решает, как считать NII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Правдоподобные, но неверные цифры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У ответа нет владельца и аудита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611112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Агент через слой метрик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611112" y="24688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Вызывает сертифицированную метрику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Ответ воспроизводим и проверяем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Права наследуются, каждый запрос логируется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Условие: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модели работают внутри контура банка (on-prem), данные не покидают периметр — банковская тайна, 152-ФЗ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получает топ-менеджер</a:t>
            </a:r>
            <a:endParaRPr lang="en-US" sz="3200" dirty="0"/>
          </a:p>
        </p:txBody>
      </p:sp>
      <p:sp>
        <p:nvSpPr>
          <p:cNvPr id="3" name="iconbg0"/>
          <p:cNvSpPr/>
          <p:nvPr/>
        </p:nvSpPr>
        <p:spPr>
          <a:xfrm>
            <a:off x="548640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468880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Утренний брифинг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46120"/>
            <a:ext cx="2587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3–5 главных сигналов по своей зоне перед оперативкой — в мессенджер или почту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663440"/>
            <a:ext cx="2587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Вместо: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поиск по вкладкам</a:t>
            </a:r>
            <a:endParaRPr lang="en-US" sz="1400" dirty="0"/>
          </a:p>
        </p:txBody>
      </p:sp>
      <p:sp>
        <p:nvSpPr>
          <p:cNvPr id="8" name="iconbg1"/>
          <p:cNvSpPr/>
          <p:nvPr/>
        </p:nvSpPr>
        <p:spPr>
          <a:xfrm>
            <a:off x="3410712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6459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10712" y="2468880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Ассистент «вопрос — ответ»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410712" y="3246120"/>
            <a:ext cx="2587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«Почему комиссионный доход отстаёт от плана?» — факторный разбор за минуту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10712" y="4663440"/>
            <a:ext cx="2587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Вместо: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звонок подчинённому</a:t>
            </a:r>
            <a:endParaRPr lang="en-US" sz="1400" dirty="0"/>
          </a:p>
        </p:txBody>
      </p:sp>
      <p:sp>
        <p:nvSpPr>
          <p:cNvPr id="13" name="iconbg2"/>
          <p:cNvSpPr/>
          <p:nvPr/>
        </p:nvSpPr>
        <p:spPr>
          <a:xfrm>
            <a:off x="6272784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6459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72784" y="2468880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Мониторинг-агенты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272784" y="3246120"/>
            <a:ext cx="2587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Пробой порога — сразу с первичным анализом причин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72784" y="4663440"/>
            <a:ext cx="2587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Вместо: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узнать об отклонении на правлении</a:t>
            </a:r>
            <a:endParaRPr lang="en-US" sz="1400" dirty="0"/>
          </a:p>
        </p:txBody>
      </p:sp>
      <p:sp>
        <p:nvSpPr>
          <p:cNvPr id="18" name="iconbg3"/>
          <p:cNvSpPr/>
          <p:nvPr/>
        </p:nvSpPr>
        <p:spPr>
          <a:xfrm>
            <a:off x="9134856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16459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34856" y="2468880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Пакет к правлению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9134856" y="3246120"/>
            <a:ext cx="2587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Материалы по повестке собираются из сертифицированных метрик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9134856" y="4663440"/>
            <a:ext cx="2587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Вместо: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ручной сбор цифр аналитиками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Информация приходит к руководителю, а не руководитель ищет информацию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Цель на 2027 год: MAU мастерданных</a:t>
            </a:r>
            <a:endParaRPr lang="en-US" sz="3200" dirty="0"/>
          </a:p>
        </p:txBody>
      </p:sp>
      <p:sp>
        <p:nvSpPr>
          <p:cNvPr id="3" name="definition"/>
          <p:cNvSpPr/>
          <p:nvPr/>
        </p:nvSpPr>
        <p:spPr>
          <a:xfrm>
            <a:off x="548640" y="1417320"/>
            <a:ext cx="11094415" cy="1188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1732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Уникальные пользователи в месяц, получившие хотя бы одну сертифицированную метрику через любой канал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Засчитывается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Просмотр в мастердэше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Отчёт блока, переведённый на слой метрик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Открытие брифинга или алерта (не доставка)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Вопрос агенту с ответом на сертифицированной метрике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Использование в материалах правления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926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Правила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342900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Человек учитывается один раз за месяц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Обращения агента — конечному пользователю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Системные вызовы — отдельный показатель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Только метрики из каталога с владельцем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MAU мастердэша — составляющая: сравнимость с 2026 годом сохраняется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Система показателей на 2027 год</a:t>
            </a:r>
            <a:endParaRPr lang="en-US" sz="3200" dirty="0"/>
          </a:p>
        </p:txBody>
      </p:sp>
      <p:graphicFrame>
        <p:nvGraphicFramePr>
          <p:cNvPr id="9" name="kp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579089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Роль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показывает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MAU мастерданных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Основной KPI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Сколько руководителей работают на единых данных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Охват топ-менеджмента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Поддерживающий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Доля зампредов и руководителей блоков, активных за месяц — рост не «добивается» аналитиками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Покрытие слоем метрик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Поддерживающий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Доля отчётов блоков и материалов правления на сертифицированных метриках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Машинное потребление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Поддерживающий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Агенты и системы, подключённые к слою метрик, объём запросов через API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Расхождения цифр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Поддерживающий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Инциденты, когда блоки показывают разные значения одной метрики — должны снижаться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Формулировка для правления: мы измеряем не посещаемость витрины, а долю решений, принятых на единых данных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 ставим цели и что делаем в 2027 году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731520" y="2057400"/>
            <a:ext cx="10728655" cy="0"/>
          </a:xfrm>
          <a:prstGeom prst="line">
            <a:avLst/>
          </a:prstGeom>
          <a:noFill/>
          <a:ln w="25400">
            <a:solidFill>
              <a:srgbClr val="D5DDD8"/>
            </a:solidFill>
            <a:prstDash val="solid"/>
          </a:ln>
        </p:spPr>
      </p:sp>
      <p:sp>
        <p:nvSpPr>
          <p:cNvPr id="4" name="dot0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46888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Q4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Замер базы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2587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Пересчёт текущего года по новой методике. Инвентаризация, каталог 30–50 метрик, владельцы</a:t>
            </a:r>
            <a:endParaRPr lang="en-US" sz="1400" dirty="0"/>
          </a:p>
        </p:txBody>
      </p:sp>
      <p:sp>
        <p:nvSpPr>
          <p:cNvPr id="8" name="dot1"/>
          <p:cNvSpPr/>
          <p:nvPr/>
        </p:nvSpPr>
        <p:spPr>
          <a:xfrm>
            <a:off x="3410712" y="18745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10712" y="246888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Q1 2027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283464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Слой метрик и пилот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3291840"/>
            <a:ext cx="2587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Слой метрик и API над DWH. Утренний брифинг для одного руководителя</a:t>
            </a:r>
            <a:endParaRPr lang="en-US" sz="1400" dirty="0"/>
          </a:p>
        </p:txBody>
      </p:sp>
      <p:sp>
        <p:nvSpPr>
          <p:cNvPr id="12" name="dot2"/>
          <p:cNvSpPr/>
          <p:nvPr/>
        </p:nvSpPr>
        <p:spPr>
          <a:xfrm>
            <a:off x="6272784" y="18745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72784" y="246888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Q2 2027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283464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Ассистент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72784" y="3291840"/>
            <a:ext cx="2587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«Вопрос — ответ» для топ-менеджмента. Первые отчёты блоков на общем слое</a:t>
            </a:r>
            <a:endParaRPr lang="en-US" sz="1400" dirty="0"/>
          </a:p>
        </p:txBody>
      </p:sp>
      <p:sp>
        <p:nvSpPr>
          <p:cNvPr id="16" name="dot3"/>
          <p:cNvSpPr/>
          <p:nvPr/>
        </p:nvSpPr>
        <p:spPr>
          <a:xfrm>
            <a:off x="9134856" y="18745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34856" y="246888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H2 2027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283464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Масштабирование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34856" y="3291840"/>
            <a:ext cx="2587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Мониторинг-агенты, пакет к правлению, расширение каталога</a:t>
            </a:r>
            <a:endParaRPr lang="en-US" sz="1400" dirty="0"/>
          </a:p>
        </p:txBody>
      </p:sp>
      <p:sp>
        <p:nvSpPr>
          <p:cNvPr id="20" name="targetnote"/>
          <p:cNvSpPr/>
          <p:nvPr/>
        </p:nvSpPr>
        <p:spPr>
          <a:xfrm>
            <a:off x="548640" y="4983480"/>
            <a:ext cx="1109441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98348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Целевые значения — от базы Q4 2026, а не «с потолка».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База по новой методике будет кратно выше MAU мастердэша: отчёты блоков реально используются. Квартальные цели — под этапы дорожной карты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Предлагаем решить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01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208483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Заменить в KPI 2027 года MAU мастердэша на MAU мастерданных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02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309067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Провести замер базы по новой методике в Q4 2026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03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40965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Назначить бизнес-владельцев первых 30–50 метрик уровня правления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29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04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510235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Выбрать руководителя для пилота утреннего брифинга</a:t>
            </a:r>
            <a:endParaRPr lang="en-US" sz="22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548640" y="2103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12" name="Text 0"/>
          <p:cNvSpPr/>
          <p:nvPr>
            <p:ph idx="101" type="body" hasCustomPrompt="1"/>
          </p:nvPr>
        </p:nvSpPr>
        <p:spPr>
          <a:xfrm>
            <a:off x="548640" y="3749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 Green Minimal">
  <a:themeElements>
    <a:clrScheme name="BI Green Minimal">
      <a:dk1>
        <a:srgbClr val="111111"/>
      </a:dk1>
      <a:lt1>
        <a:srgbClr val="FFFFFF"/>
      </a:lt1>
      <a:dk2>
        <a:srgbClr val="0E4B36"/>
      </a:dk2>
      <a:lt2>
        <a:srgbClr val="F1F4F2"/>
      </a:lt2>
      <a:accent1>
        <a:srgbClr val="0E4B36"/>
      </a:accent1>
      <a:accent2>
        <a:srgbClr val="111111"/>
      </a:accent2>
      <a:accent3>
        <a:srgbClr val="6B6B6B"/>
      </a:accent3>
      <a:accent4>
        <a:srgbClr val="D5DDD8"/>
      </a:accent4>
      <a:accent5>
        <a:srgbClr val="3F7A63"/>
      </a:accent5>
      <a:accent6>
        <a:srgbClr val="A9BDB3"/>
      </a:accent6>
      <a:hlink>
        <a:srgbClr val="0E4B36"/>
      </a:hlink>
      <a:folHlink>
        <a:srgbClr val="6B6B6B"/>
      </a:folHlink>
    </a:clrScheme>
    <a:fontScheme name="BI Green Minim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 мастердэша к мастерданным</dc:title>
  <dc:subject>PptxGenJS Presentation</dc:subject>
  <dc:creator>PptxGenJS</dc:creator>
  <cp:lastModifiedBy>PptxGenJS</cp:lastModifiedBy>
  <cp:revision>1</cp:revision>
  <dcterms:created xsi:type="dcterms:W3CDTF">2026-10-06T10:39:45Z</dcterms:created>
  <dcterms:modified xsi:type="dcterms:W3CDTF">2026-10-06T10:39:45Z</dcterms:modified>
</cp:coreProperties>
</file>