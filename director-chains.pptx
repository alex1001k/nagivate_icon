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7315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Потребности директора → цепочки до ограничений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" y="384048"/>
            <a:ext cx="1920240" cy="347472"/>
          </a:xfrm>
          <a:prstGeom prst="roundRect">
            <a:avLst>
              <a:gd name="adj" fmla="val 10526"/>
            </a:avLst>
          </a:prstGeom>
          <a:solidFill>
            <a:srgbClr val="1B4F8A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38404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ДИРЕКТОР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хочет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377440" y="384048"/>
            <a:ext cx="1920240" cy="347472"/>
          </a:xfrm>
          <a:prstGeom prst="roundRect">
            <a:avLst>
              <a:gd name="adj" fmla="val 10526"/>
            </a:avLst>
          </a:prstGeom>
          <a:solidFill>
            <a:srgbClr val="1D7A4E"/>
          </a:solidFill>
          <a:ln/>
        </p:spPr>
      </p:sp>
      <p:sp>
        <p:nvSpPr>
          <p:cNvPr id="7" name="Text 5"/>
          <p:cNvSpPr/>
          <p:nvPr/>
        </p:nvSpPr>
        <p:spPr>
          <a:xfrm>
            <a:off x="2377440" y="38404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делает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0" y="384048"/>
            <a:ext cx="2103120" cy="347472"/>
          </a:xfrm>
          <a:prstGeom prst="roundRect">
            <a:avLst>
              <a:gd name="adj" fmla="val 10526"/>
            </a:avLst>
          </a:prstGeom>
          <a:solidFill>
            <a:srgbClr val="7B3FA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38404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должна дать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949440" y="384048"/>
            <a:ext cx="2011680" cy="347472"/>
          </a:xfrm>
          <a:prstGeom prst="roundRect">
            <a:avLst>
              <a:gd name="adj" fmla="val 10526"/>
            </a:avLst>
          </a:prstGeom>
          <a:solidFill>
            <a:srgbClr val="B94040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0" y="38404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ОГРАНИЧЕНИЕ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сейчас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121408" y="457200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15968" y="457200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93408" y="457200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2880" y="804672"/>
            <a:ext cx="1920240" cy="566928"/>
          </a:xfrm>
          <a:prstGeom prst="roundRect">
            <a:avLst>
              <a:gd name="adj" fmla="val 8065"/>
            </a:avLst>
          </a:prstGeom>
          <a:solidFill>
            <a:srgbClr val="E8F0F8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804672"/>
            <a:ext cx="54864" cy="566928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841248"/>
            <a:ext cx="17922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Видеть причины отклонений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«Почему упала маржа?»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121408" y="960120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377440" y="804672"/>
            <a:ext cx="1920240" cy="566928"/>
          </a:xfrm>
          <a:prstGeom prst="roundRect">
            <a:avLst>
              <a:gd name="adj" fmla="val 8065"/>
            </a:avLst>
          </a:prstGeom>
          <a:solidFill>
            <a:srgbClr val="E6F3EC"/>
          </a:solidFill>
          <a:ln w="12700">
            <a:solidFill>
              <a:srgbClr val="1D7A4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804672"/>
            <a:ext cx="54864" cy="566928"/>
          </a:xfrm>
          <a:prstGeom prst="rect">
            <a:avLst/>
          </a:prstGeom>
          <a:solidFill>
            <a:srgbClr val="1D7A4E"/>
          </a:solidFill>
          <a:ln w="12700">
            <a:solidFill>
              <a:srgbClr val="1D7A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68880" y="841248"/>
            <a:ext cx="17922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Строит факторный анализ: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разбивает на составляющие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315968" y="960120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0" y="804672"/>
            <a:ext cx="2103120" cy="566928"/>
          </a:xfrm>
          <a:prstGeom prst="roundRect">
            <a:avLst>
              <a:gd name="adj" fmla="val 8065"/>
            </a:avLst>
          </a:prstGeom>
          <a:solidFill>
            <a:srgbClr val="F0EAF7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804672"/>
            <a:ext cx="54864" cy="566928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841248"/>
            <a:ext cx="197510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Связи между показателями,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иерархия метрик, drill-down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693408" y="960120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949440" y="804672"/>
            <a:ext cx="2011680" cy="566928"/>
          </a:xfrm>
          <a:prstGeom prst="roundRect">
            <a:avLst>
              <a:gd name="adj" fmla="val 8065"/>
            </a:avLst>
          </a:prstGeom>
          <a:solidFill>
            <a:srgbClr val="FAEDEC"/>
          </a:solidFill>
          <a:ln w="12700">
            <a:solidFill>
              <a:srgbClr val="B940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49440" y="804672"/>
            <a:ext cx="54864" cy="566928"/>
          </a:xfrm>
          <a:prstGeom prst="rect">
            <a:avLst/>
          </a:prstGeom>
          <a:solidFill>
            <a:srgbClr val="B94040"/>
          </a:solidFill>
          <a:ln w="12700">
            <a:solidFill>
              <a:srgbClr val="B940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841248"/>
            <a:ext cx="188366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Вручную долго.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Онтологии нет.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Связи не описаны.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82880" y="1444752"/>
            <a:ext cx="1920240" cy="548640"/>
          </a:xfrm>
          <a:prstGeom prst="roundRect">
            <a:avLst>
              <a:gd name="adj" fmla="val 8333"/>
            </a:avLst>
          </a:prstGeom>
          <a:solidFill>
            <a:srgbClr val="E8F0F8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2880" y="1444752"/>
            <a:ext cx="54864" cy="54864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1481328"/>
            <a:ext cx="179222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Получать сигналы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инсайты проактивно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121408" y="1591056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377440" y="1444752"/>
            <a:ext cx="1920240" cy="548640"/>
          </a:xfrm>
          <a:prstGeom prst="roundRect">
            <a:avLst>
              <a:gd name="adj" fmla="val 8333"/>
            </a:avLst>
          </a:prstGeom>
          <a:solidFill>
            <a:srgbClr val="E6F3EC"/>
          </a:solidFill>
          <a:ln w="12700">
            <a:solidFill>
              <a:srgbClr val="1D7A4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77440" y="1444752"/>
            <a:ext cx="54864" cy="548640"/>
          </a:xfrm>
          <a:prstGeom prst="rect">
            <a:avLst/>
          </a:prstGeom>
          <a:solidFill>
            <a:srgbClr val="1D7A4E"/>
          </a:solidFill>
          <a:ln w="12700">
            <a:solidFill>
              <a:srgbClr val="1D7A4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68880" y="1481328"/>
            <a:ext cx="179222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Настраивает алерты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пороговые значения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315968" y="1591056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572000" y="1444752"/>
            <a:ext cx="2103120" cy="548640"/>
          </a:xfrm>
          <a:prstGeom prst="roundRect">
            <a:avLst>
              <a:gd name="adj" fmla="val 8333"/>
            </a:avLst>
          </a:prstGeom>
          <a:solidFill>
            <a:srgbClr val="F0EAF7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0" y="1444752"/>
            <a:ext cx="54864" cy="548640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1481328"/>
            <a:ext cx="197510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Семантический слой,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единые пороги, маршрутизация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693408" y="1591056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949440" y="1444752"/>
            <a:ext cx="2011680" cy="548640"/>
          </a:xfrm>
          <a:prstGeom prst="roundRect">
            <a:avLst>
              <a:gd name="adj" fmla="val 8333"/>
            </a:avLst>
          </a:prstGeom>
          <a:solidFill>
            <a:srgbClr val="FAEDEC"/>
          </a:solidFill>
          <a:ln w="12700">
            <a:solidFill>
              <a:srgbClr val="B9404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949440" y="1444752"/>
            <a:ext cx="54864" cy="548640"/>
          </a:xfrm>
          <a:prstGeom prst="rect">
            <a:avLst/>
          </a:prstGeom>
          <a:solidFill>
            <a:srgbClr val="B94040"/>
          </a:solidFill>
          <a:ln w="12700">
            <a:solidFill>
              <a:srgbClr val="B940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40880" y="1481328"/>
            <a:ext cx="188366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единых порогов.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Алерты ручные.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маршрутизации.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82880" y="2066544"/>
            <a:ext cx="1920240" cy="548640"/>
          </a:xfrm>
          <a:prstGeom prst="roundRect">
            <a:avLst>
              <a:gd name="adj" fmla="val 8333"/>
            </a:avLst>
          </a:prstGeom>
          <a:solidFill>
            <a:srgbClr val="E8F0F8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82880" y="2066544"/>
            <a:ext cx="54864" cy="54864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2103120"/>
            <a:ext cx="179222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экран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главным — без погружения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121408" y="2212848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2377440" y="2066544"/>
            <a:ext cx="1920240" cy="548640"/>
          </a:xfrm>
          <a:prstGeom prst="roundRect">
            <a:avLst>
              <a:gd name="adj" fmla="val 8333"/>
            </a:avLst>
          </a:prstGeom>
          <a:solidFill>
            <a:srgbClr val="E6F3EC"/>
          </a:solidFill>
          <a:ln w="12700">
            <a:solidFill>
              <a:srgbClr val="1D7A4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377440" y="2066544"/>
            <a:ext cx="54864" cy="548640"/>
          </a:xfrm>
          <a:prstGeom prst="rect">
            <a:avLst/>
          </a:prstGeom>
          <a:solidFill>
            <a:srgbClr val="1D7A4E"/>
          </a:solidFill>
          <a:ln w="12700">
            <a:solidFill>
              <a:srgbClr val="1D7A4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68880" y="2103120"/>
            <a:ext cx="179222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Собирает дашборд лидера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ключевыми метриками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315968" y="2212848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4572000" y="2066544"/>
            <a:ext cx="2103120" cy="548640"/>
          </a:xfrm>
          <a:prstGeom prst="roundRect">
            <a:avLst>
              <a:gd name="adj" fmla="val 8333"/>
            </a:avLst>
          </a:prstGeom>
          <a:solidFill>
            <a:srgbClr val="F0EAF7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72000" y="2066544"/>
            <a:ext cx="54864" cy="548640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63440" y="2103120"/>
            <a:ext cx="197510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Единое определение метрик,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семантический слой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693408" y="2212848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6949440" y="2066544"/>
            <a:ext cx="2011680" cy="548640"/>
          </a:xfrm>
          <a:prstGeom prst="roundRect">
            <a:avLst>
              <a:gd name="adj" fmla="val 8333"/>
            </a:avLst>
          </a:prstGeom>
          <a:solidFill>
            <a:srgbClr val="FAEDEC"/>
          </a:solidFill>
          <a:ln w="12700">
            <a:solidFill>
              <a:srgbClr val="B9404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949440" y="2066544"/>
            <a:ext cx="54864" cy="548640"/>
          </a:xfrm>
          <a:prstGeom prst="rect">
            <a:avLst/>
          </a:prstGeom>
          <a:solidFill>
            <a:srgbClr val="B94040"/>
          </a:solidFill>
          <a:ln w="12700">
            <a:solidFill>
              <a:srgbClr val="B9404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40880" y="2103120"/>
            <a:ext cx="188366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Разные цифры в разных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отчётах. Нет семантики.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182880" y="2688336"/>
            <a:ext cx="1920240" cy="548640"/>
          </a:xfrm>
          <a:prstGeom prst="roundRect">
            <a:avLst>
              <a:gd name="adj" fmla="val 8333"/>
            </a:avLst>
          </a:prstGeom>
          <a:solidFill>
            <a:srgbClr val="E8F0F8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82880" y="2688336"/>
            <a:ext cx="54864" cy="54864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2724912"/>
            <a:ext cx="179222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Уверенность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цифра верна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2121408" y="2834640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2377440" y="2688336"/>
            <a:ext cx="1920240" cy="548640"/>
          </a:xfrm>
          <a:prstGeom prst="roundRect">
            <a:avLst>
              <a:gd name="adj" fmla="val 8333"/>
            </a:avLst>
          </a:prstGeom>
          <a:solidFill>
            <a:srgbClr val="E6F3EC"/>
          </a:solidFill>
          <a:ln w="12700">
            <a:solidFill>
              <a:srgbClr val="1D7A4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77440" y="2688336"/>
            <a:ext cx="54864" cy="548640"/>
          </a:xfrm>
          <a:prstGeom prst="rect">
            <a:avLst/>
          </a:prstGeom>
          <a:solidFill>
            <a:srgbClr val="1D7A4E"/>
          </a:solidFill>
          <a:ln w="12700">
            <a:solidFill>
              <a:srgbClr val="1D7A4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468880" y="2724912"/>
            <a:ext cx="179222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Проверяет источник,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документирует lineage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4315968" y="2834640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4572000" y="2688336"/>
            <a:ext cx="2103120" cy="548640"/>
          </a:xfrm>
          <a:prstGeom prst="roundRect">
            <a:avLst>
              <a:gd name="adj" fmla="val 8333"/>
            </a:avLst>
          </a:prstGeom>
          <a:solidFill>
            <a:srgbClr val="F0EAF7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572000" y="2688336"/>
            <a:ext cx="54864" cy="548640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663440" y="2724912"/>
            <a:ext cx="197510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Каталог данных, lineage,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мониторинг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6693408" y="2834640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6949440" y="2688336"/>
            <a:ext cx="2011680" cy="548640"/>
          </a:xfrm>
          <a:prstGeom prst="roundRect">
            <a:avLst>
              <a:gd name="adj" fmla="val 8333"/>
            </a:avLst>
          </a:prstGeom>
          <a:solidFill>
            <a:srgbClr val="FAEDEC"/>
          </a:solidFill>
          <a:ln w="12700">
            <a:solidFill>
              <a:srgbClr val="B9404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949440" y="2688336"/>
            <a:ext cx="54864" cy="548640"/>
          </a:xfrm>
          <a:prstGeom prst="rect">
            <a:avLst/>
          </a:prstGeom>
          <a:solidFill>
            <a:srgbClr val="B94040"/>
          </a:solidFill>
          <a:ln w="12700">
            <a:solidFill>
              <a:srgbClr val="B9404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040880" y="2724912"/>
            <a:ext cx="188366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каталога.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 не ведётся.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не контролируется.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182880" y="3310128"/>
            <a:ext cx="1920240" cy="548640"/>
          </a:xfrm>
          <a:prstGeom prst="roundRect">
            <a:avLst>
              <a:gd name="adj" fmla="val 8333"/>
            </a:avLst>
          </a:prstGeom>
          <a:solidFill>
            <a:srgbClr val="E8F0F8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82880" y="3310128"/>
            <a:ext cx="54864" cy="54864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74320" y="3346704"/>
            <a:ext cx="179222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Быстрый ответ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новый вопрос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2121408" y="3456432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2377440" y="3310128"/>
            <a:ext cx="1920240" cy="548640"/>
          </a:xfrm>
          <a:prstGeom prst="roundRect">
            <a:avLst>
              <a:gd name="adj" fmla="val 8333"/>
            </a:avLst>
          </a:prstGeom>
          <a:solidFill>
            <a:srgbClr val="E6F3EC"/>
          </a:solidFill>
          <a:ln w="12700">
            <a:solidFill>
              <a:srgbClr val="1D7A4E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377440" y="3310128"/>
            <a:ext cx="54864" cy="548640"/>
          </a:xfrm>
          <a:prstGeom prst="rect">
            <a:avLst/>
          </a:prstGeom>
          <a:solidFill>
            <a:srgbClr val="1D7A4E"/>
          </a:solidFill>
          <a:ln w="12700">
            <a:solidFill>
              <a:srgbClr val="1D7A4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468880" y="3346704"/>
            <a:ext cx="179222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Делает ad-hoc анализ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IT-запроса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4315968" y="3456432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4572000" y="3310128"/>
            <a:ext cx="2103120" cy="548640"/>
          </a:xfrm>
          <a:prstGeom prst="roundRect">
            <a:avLst>
              <a:gd name="adj" fmla="val 8333"/>
            </a:avLst>
          </a:prstGeom>
          <a:solidFill>
            <a:srgbClr val="F0EAF7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572000" y="3310128"/>
            <a:ext cx="54864" cy="548640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663440" y="3346704"/>
            <a:ext cx="197510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 BI,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чистые данные в одном месте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6693408" y="3456432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87" name="Shape 85"/>
          <p:cNvSpPr/>
          <p:nvPr/>
        </p:nvSpPr>
        <p:spPr>
          <a:xfrm>
            <a:off x="6949440" y="3310128"/>
            <a:ext cx="2011680" cy="548640"/>
          </a:xfrm>
          <a:prstGeom prst="roundRect">
            <a:avLst>
              <a:gd name="adj" fmla="val 8333"/>
            </a:avLst>
          </a:prstGeom>
          <a:solidFill>
            <a:srgbClr val="FAEDEC"/>
          </a:solidFill>
          <a:ln w="12700">
            <a:solidFill>
              <a:srgbClr val="B9404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949440" y="3310128"/>
            <a:ext cx="54864" cy="548640"/>
          </a:xfrm>
          <a:prstGeom prst="rect">
            <a:avLst/>
          </a:prstGeom>
          <a:solidFill>
            <a:srgbClr val="B94040"/>
          </a:solidFill>
          <a:ln w="12700">
            <a:solidFill>
              <a:srgbClr val="B9404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040880" y="3346704"/>
            <a:ext cx="188366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в разных системах.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IT-запрос занимает дни.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182880" y="3931920"/>
            <a:ext cx="1920240" cy="512064"/>
          </a:xfrm>
          <a:prstGeom prst="roundRect">
            <a:avLst>
              <a:gd name="adj" fmla="val 8929"/>
            </a:avLst>
          </a:prstGeom>
          <a:solidFill>
            <a:srgbClr val="E8F0F8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82880" y="3931920"/>
            <a:ext cx="54864" cy="512064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74320" y="3968496"/>
            <a:ext cx="179222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Знать кто отвечает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что делают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2121408" y="4059936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94" name="Shape 92"/>
          <p:cNvSpPr/>
          <p:nvPr/>
        </p:nvSpPr>
        <p:spPr>
          <a:xfrm>
            <a:off x="2377440" y="3931920"/>
            <a:ext cx="1920240" cy="512064"/>
          </a:xfrm>
          <a:prstGeom prst="roundRect">
            <a:avLst>
              <a:gd name="adj" fmla="val 8929"/>
            </a:avLst>
          </a:prstGeom>
          <a:solidFill>
            <a:srgbClr val="E6F3EC"/>
          </a:solidFill>
          <a:ln w="12700">
            <a:solidFill>
              <a:srgbClr val="1D7A4E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377440" y="3931920"/>
            <a:ext cx="54864" cy="512064"/>
          </a:xfrm>
          <a:prstGeom prst="rect">
            <a:avLst/>
          </a:prstGeom>
          <a:solidFill>
            <a:srgbClr val="1D7A4E"/>
          </a:solidFill>
          <a:ln w="12700">
            <a:solidFill>
              <a:srgbClr val="1D7A4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468880" y="3968496"/>
            <a:ext cx="179222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Привязывает метрику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 owner-у, статус реакции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4315968" y="4059936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98" name="Shape 96"/>
          <p:cNvSpPr/>
          <p:nvPr/>
        </p:nvSpPr>
        <p:spPr>
          <a:xfrm>
            <a:off x="4572000" y="3931920"/>
            <a:ext cx="2103120" cy="512064"/>
          </a:xfrm>
          <a:prstGeom prst="roundRect">
            <a:avLst>
              <a:gd name="adj" fmla="val 8929"/>
            </a:avLst>
          </a:prstGeom>
          <a:solidFill>
            <a:srgbClr val="F0EAF7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572000" y="3931920"/>
            <a:ext cx="54864" cy="512064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663440" y="3968496"/>
            <a:ext cx="197510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Каталог метрик с owner,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регламент реакции на алерт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6693408" y="4059936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02" name="Shape 100"/>
          <p:cNvSpPr/>
          <p:nvPr/>
        </p:nvSpPr>
        <p:spPr>
          <a:xfrm>
            <a:off x="6949440" y="3931920"/>
            <a:ext cx="2011680" cy="512064"/>
          </a:xfrm>
          <a:prstGeom prst="roundRect">
            <a:avLst>
              <a:gd name="adj" fmla="val 8929"/>
            </a:avLst>
          </a:prstGeom>
          <a:solidFill>
            <a:srgbClr val="FAEDEC"/>
          </a:solidFill>
          <a:ln w="12700">
            <a:solidFill>
              <a:srgbClr val="B9404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949440" y="3931920"/>
            <a:ext cx="54864" cy="512064"/>
          </a:xfrm>
          <a:prstGeom prst="rect">
            <a:avLst/>
          </a:prstGeom>
          <a:solidFill>
            <a:srgbClr val="B94040"/>
          </a:solidFill>
          <a:ln w="12700">
            <a:solidFill>
              <a:srgbClr val="B9404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040880" y="3968496"/>
            <a:ext cx="188366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не назначен.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Регламента нет.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182880" y="1380744"/>
            <a:ext cx="877824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82880" y="2002536"/>
            <a:ext cx="877824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82880" y="2624328"/>
            <a:ext cx="877824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82880" y="3246120"/>
            <a:ext cx="877824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82880" y="3867912"/>
            <a:ext cx="877824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182880" y="4974336"/>
            <a:ext cx="8778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реализовано  ◑ частично  ○ потребность  ✗ ограничение  — добавь статус к каждой ячейке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2026-08-07T07:25:13Z</dcterms:created>
  <dcterms:modified xsi:type="dcterms:W3CDTF">2026-08-07T07:25:13Z</dcterms:modified>
</cp:coreProperties>
</file>