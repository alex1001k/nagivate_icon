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28016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управления бизнесом через данные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475488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9144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1A4A3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914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Наблюдать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35224" y="987552"/>
            <a:ext cx="576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66160" y="9144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2E7D5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914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32704" y="987552"/>
            <a:ext cx="576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63640" y="9144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C87A00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914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Управлять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74520" y="1993392"/>
            <a:ext cx="5394960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874520" y="1536192"/>
            <a:ext cx="0" cy="457200"/>
          </a:xfrm>
          <a:prstGeom prst="line">
            <a:avLst/>
          </a:prstGeom>
          <a:noFill/>
          <a:ln w="17780">
            <a:solidFill>
              <a:srgbClr val="66666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269480" y="1536192"/>
            <a:ext cx="0" cy="457200"/>
          </a:xfrm>
          <a:prstGeom prst="line">
            <a:avLst/>
          </a:prstGeom>
          <a:noFill/>
          <a:ln w="17780">
            <a:solidFill>
              <a:srgbClr val="66666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46504" y="146304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0208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повторяется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2304288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E8F5F0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3042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 управления бизнесом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2962656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EBF7F1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96265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алгоритмы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2304288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EBF7F1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3042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— запуск анализа по запросу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66160" y="2962656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EBF7F1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96265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знания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304288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FDF2E0"/>
          </a:solidFill>
          <a:ln w="12700">
            <a:solidFill>
              <a:srgbClr val="C87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3042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набор действий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2962656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FDF2E0"/>
          </a:solidFill>
          <a:ln w="12700">
            <a:solidFill>
              <a:srgbClr val="C87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96265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набор действий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74904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8F5F0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749040"/>
            <a:ext cx="7717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Наблюдение фиксирует отклонение → исследование находит причину и рождает новое знание → управление формирует действие → результат действия снова становится предметом наблюдения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для цикла управления: что умеют, чего не хватает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01168" y="420624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75488"/>
            <a:ext cx="8741664" cy="365760"/>
          </a:xfrm>
          <a:prstGeom prst="roundRect">
            <a:avLst>
              <a:gd name="adj" fmla="val 12500"/>
            </a:avLst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47548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Множество разрозненных отчётов и точечных инструментов — готового решения для полного цикла Наблюдать → Исследовать → Управлять на рынке нет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877824"/>
            <a:ext cx="1207008" cy="329184"/>
          </a:xfrm>
          <a:prstGeom prst="roundRect">
            <a:avLst>
              <a:gd name="adj" fmla="val 13889"/>
            </a:avLst>
          </a:prstGeom>
          <a:solidFill>
            <a:srgbClr val="1A4A3A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87782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81328" y="877824"/>
            <a:ext cx="3127248" cy="329184"/>
          </a:xfrm>
          <a:prstGeom prst="roundRect">
            <a:avLst>
              <a:gd name="adj" fmla="val 13889"/>
            </a:avLst>
          </a:prstGeom>
          <a:solidFill>
            <a:srgbClr val="1A4A3A"/>
          </a:solidFill>
          <a:ln/>
        </p:spPr>
      </p:sp>
      <p:sp>
        <p:nvSpPr>
          <p:cNvPr id="11" name="Text 9"/>
          <p:cNvSpPr/>
          <p:nvPr/>
        </p:nvSpPr>
        <p:spPr>
          <a:xfrm>
            <a:off x="1481328" y="877824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технологии (рынок, AI-агенты)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877824"/>
            <a:ext cx="3127248" cy="329184"/>
          </a:xfrm>
          <a:prstGeom prst="roundRect">
            <a:avLst>
              <a:gd name="adj" fmla="val 13889"/>
            </a:avLst>
          </a:prstGeom>
          <a:solidFill>
            <a:srgbClr val="1A4A3A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877824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технологии (наши разработки)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1243584"/>
            <a:ext cx="1207008" cy="1042416"/>
          </a:xfrm>
          <a:prstGeom prst="roundRect">
            <a:avLst>
              <a:gd name="adj" fmla="val 5263"/>
            </a:avLst>
          </a:prstGeom>
          <a:solidFill>
            <a:srgbClr val="1A4A3A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" y="1243584"/>
            <a:ext cx="113385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Наблюдать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81328" y="1243584"/>
            <a:ext cx="3127248" cy="1042416"/>
          </a:xfrm>
          <a:prstGeom prst="roundRect">
            <a:avLst>
              <a:gd name="adj" fmla="val 4386"/>
            </a:avLst>
          </a:prstGeom>
          <a:solidFill>
            <a:srgbClr val="F7F7F7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1298448"/>
            <a:ext cx="2944368" cy="50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Собирают преднастроенные дашборды, отвечают на вопросы по заранее размеченным метрикам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1572768" y="1785640"/>
            <a:ext cx="2944368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1827337"/>
            <a:ext cx="2944368" cy="437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 наблюдают за всем самостоятельно — нужна ручная разметка каждой метрики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4681728" y="1243584"/>
            <a:ext cx="3127248" cy="1042416"/>
          </a:xfrm>
          <a:prstGeom prst="roundRect">
            <a:avLst>
              <a:gd name="adj" fmla="val 4386"/>
            </a:avLst>
          </a:prstGeom>
          <a:solidFill>
            <a:srgbClr val="F7F7F7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298448"/>
            <a:ext cx="2944368" cy="50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Показывают цели и фокусные показатели в текущем BI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773168" y="1785640"/>
            <a:ext cx="2944368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827337"/>
            <a:ext cx="2944368" cy="437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 собирают данные разных источников в один экран, не строят дашборд под произвольный вопрос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01168" y="2359152"/>
            <a:ext cx="1207008" cy="1042416"/>
          </a:xfrm>
          <a:prstGeom prst="roundRect">
            <a:avLst>
              <a:gd name="adj" fmla="val 5263"/>
            </a:avLst>
          </a:prstGeom>
          <a:solidFill>
            <a:srgbClr val="2E7D5E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" y="2359152"/>
            <a:ext cx="113385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81328" y="2359152"/>
            <a:ext cx="3127248" cy="1042416"/>
          </a:xfrm>
          <a:prstGeom prst="roundRect">
            <a:avLst>
              <a:gd name="adj" fmla="val 4386"/>
            </a:avLst>
          </a:prstGeom>
          <a:solidFill>
            <a:srgbClr val="F7F7F7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72768" y="2414016"/>
            <a:ext cx="2944368" cy="50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Строят факторный разбор по заранее заданным связям, предлагают сценарии на исторических данных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572768" y="2901208"/>
            <a:ext cx="2944368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72768" y="2942905"/>
            <a:ext cx="2944368" cy="437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 находят причинно-следственные связи самостоятельно — нужна готовая онтология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681728" y="2359152"/>
            <a:ext cx="3127248" cy="1042416"/>
          </a:xfrm>
          <a:prstGeom prst="roundRect">
            <a:avLst>
              <a:gd name="adj" fmla="val 4386"/>
            </a:avLst>
          </a:prstGeom>
          <a:solidFill>
            <a:srgbClr val="F7F7F7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414016"/>
            <a:ext cx="2944368" cy="50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Практически ничего — автоматического анализа причин нет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773168" y="2901208"/>
            <a:ext cx="2944368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942905"/>
            <a:ext cx="2944368" cy="437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 факторного анализа, нет работы со связями метрик, нет объяснения отклонений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201168" y="3474720"/>
            <a:ext cx="1207008" cy="1042416"/>
          </a:xfrm>
          <a:prstGeom prst="roundRect">
            <a:avLst>
              <a:gd name="adj" fmla="val 5263"/>
            </a:avLst>
          </a:prstGeom>
          <a:solidFill>
            <a:srgbClr val="C87A00"/>
          </a:solidFill>
          <a:ln/>
        </p:spPr>
      </p:sp>
      <p:sp>
        <p:nvSpPr>
          <p:cNvPr id="35" name="Text 33"/>
          <p:cNvSpPr/>
          <p:nvPr/>
        </p:nvSpPr>
        <p:spPr>
          <a:xfrm>
            <a:off x="237744" y="3474720"/>
            <a:ext cx="113385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Управлять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481328" y="3474720"/>
            <a:ext cx="3127248" cy="1042416"/>
          </a:xfrm>
          <a:prstGeom prst="roundRect">
            <a:avLst>
              <a:gd name="adj" fmla="val 4386"/>
            </a:avLst>
          </a:prstGeom>
          <a:solidFill>
            <a:srgbClr val="F7F7F7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72768" y="3529584"/>
            <a:ext cx="2944368" cy="50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Предлагают варианты действий на основе LLM, интегрируются с трекерами задач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1572768" y="4016776"/>
            <a:ext cx="2944368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72768" y="4058473"/>
            <a:ext cx="2944368" cy="437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 умеют надёжно оценивать эффект сценария — нет полного контекста организации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4681728" y="3474720"/>
            <a:ext cx="3127248" cy="1042416"/>
          </a:xfrm>
          <a:prstGeom prst="roundRect">
            <a:avLst>
              <a:gd name="adj" fmla="val 4386"/>
            </a:avLst>
          </a:prstGeom>
          <a:solidFill>
            <a:srgbClr val="F7F7F7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529584"/>
            <a:ext cx="2944368" cy="50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Задачи фиксируются вручную после решения человека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773168" y="4016776"/>
            <a:ext cx="2944368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058473"/>
            <a:ext cx="2944368" cy="437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 автогенерации сценариев, нет автоматического назначения задач по анализу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201168" y="4636008"/>
            <a:ext cx="8741664" cy="310896"/>
          </a:xfrm>
          <a:prstGeom prst="roundRect">
            <a:avLst>
              <a:gd name="adj" fmla="val 14706"/>
            </a:avLst>
          </a:prstGeom>
          <a:solidFill>
            <a:srgbClr val="FEF9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463600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вывод: ни внешние, ни внутренние технологии не закрывают цикл целиком — нужен семантический слой и онтология связей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2026-08-24T09:49:08Z</dcterms:created>
  <dcterms:modified xsi:type="dcterms:W3CDTF">2026-08-24T09:49:08Z</dcterms:modified>
</cp:coreProperties>
</file>