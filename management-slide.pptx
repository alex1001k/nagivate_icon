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4A3A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73152"/>
            <a:ext cx="8741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Управление: от наблюдения к решению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01168" y="402336"/>
            <a:ext cx="8741664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457200"/>
            <a:ext cx="87416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Четыре уровня управленческой зрелости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01168" y="658368"/>
            <a:ext cx="2048256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524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731520"/>
            <a:ext cx="219456" cy="219456"/>
          </a:xfrm>
          <a:prstGeom prst="roundRect">
            <a:avLst>
              <a:gd name="adj" fmla="val 12500"/>
            </a:avLst>
          </a:prstGeom>
          <a:solidFill>
            <a:srgbClr val="D4A017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73152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713232"/>
            <a:ext cx="16276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Увидел отклонение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92608" y="969264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Конверсия упала на 15%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92608" y="1243584"/>
            <a:ext cx="100584" cy="10058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207008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Частично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253996" y="932688"/>
            <a:ext cx="1188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377440" y="658368"/>
            <a:ext cx="2048256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5240">
            <a:solidFill>
              <a:srgbClr val="D4A01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50592" y="731520"/>
            <a:ext cx="219456" cy="219456"/>
          </a:xfrm>
          <a:prstGeom prst="roundRect">
            <a:avLst>
              <a:gd name="adj" fmla="val 12500"/>
            </a:avLst>
          </a:prstGeom>
          <a:solidFill>
            <a:srgbClr val="D4A017"/>
          </a:solidFill>
          <a:ln/>
        </p:spPr>
      </p:sp>
      <p:sp>
        <p:nvSpPr>
          <p:cNvPr id="17" name="Text 15"/>
          <p:cNvSpPr/>
          <p:nvPr/>
        </p:nvSpPr>
        <p:spPr>
          <a:xfrm>
            <a:off x="2450592" y="73152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24912" y="713232"/>
            <a:ext cx="16276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Понял где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468880" y="969264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каком юните, продукте, канале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468880" y="1243584"/>
            <a:ext cx="100584" cy="10058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15184" y="1207008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Вручную, долго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430268" y="932688"/>
            <a:ext cx="1188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53712" y="658368"/>
            <a:ext cx="2048256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26864" y="731520"/>
            <a:ext cx="219456" cy="219456"/>
          </a:xfrm>
          <a:prstGeom prst="roundRect">
            <a:avLst>
              <a:gd name="adj" fmla="val 12500"/>
            </a:avLst>
          </a:prstGeom>
          <a:solidFill>
            <a:srgbClr val="C0392B"/>
          </a:solidFill>
          <a:ln/>
        </p:spPr>
      </p:sp>
      <p:sp>
        <p:nvSpPr>
          <p:cNvPr id="25" name="Text 23"/>
          <p:cNvSpPr/>
          <p:nvPr/>
        </p:nvSpPr>
        <p:spPr>
          <a:xfrm>
            <a:off x="4626864" y="73152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01184" y="713232"/>
            <a:ext cx="16276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Понял почему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645152" y="969264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Какие факторы и вклад каждого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645152" y="1243584"/>
            <a:ext cx="100584" cy="10058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91456" y="1207008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606540" y="932688"/>
            <a:ext cx="1188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729984" y="658368"/>
            <a:ext cx="2048256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03136" y="731520"/>
            <a:ext cx="219456" cy="219456"/>
          </a:xfrm>
          <a:prstGeom prst="roundRect">
            <a:avLst>
              <a:gd name="adj" fmla="val 12500"/>
            </a:avLst>
          </a:prstGeom>
          <a:solidFill>
            <a:srgbClr val="C0392B"/>
          </a:solidFill>
          <a:ln/>
        </p:spPr>
      </p:sp>
      <p:sp>
        <p:nvSpPr>
          <p:cNvPr id="33" name="Text 31"/>
          <p:cNvSpPr/>
          <p:nvPr/>
        </p:nvSpPr>
        <p:spPr>
          <a:xfrm>
            <a:off x="6803136" y="73152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077456" y="713232"/>
            <a:ext cx="16276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Знаю что делать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821424" y="969264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Сценарии и прогноз последствий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821424" y="1243584"/>
            <a:ext cx="100584" cy="10058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67728" y="1207008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01168" y="1536192"/>
            <a:ext cx="87416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Пример: падение конверсии по вкладам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01168" y="1737360"/>
            <a:ext cx="4297680" cy="1517904"/>
          </a:xfrm>
          <a:prstGeom prst="roundRect">
            <a:avLst>
              <a:gd name="adj" fmla="val 3012"/>
            </a:avLst>
          </a:prstGeom>
          <a:solidFill>
            <a:srgbClr val="F7F7F7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01168" y="1737360"/>
            <a:ext cx="4297680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/>
        </p:spPr>
      </p:sp>
      <p:sp>
        <p:nvSpPr>
          <p:cNvPr id="41" name="Shape 39"/>
          <p:cNvSpPr/>
          <p:nvPr/>
        </p:nvSpPr>
        <p:spPr>
          <a:xfrm>
            <a:off x="201168" y="1874520"/>
            <a:ext cx="4297680" cy="1188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2" name="Text 40"/>
          <p:cNvSpPr/>
          <p:nvPr/>
        </p:nvSpPr>
        <p:spPr>
          <a:xfrm>
            <a:off x="310896" y="1737360"/>
            <a:ext cx="4078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IS — неделя на один разбор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10896" y="2048256"/>
            <a:ext cx="40782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показала падение — дальше вручную: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Аналитик ищет в каких разрезах просело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Строит гипотезы о причинах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Выгружает данные по каждой гипотезе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Сводит воедино и пишет вывод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Сценарий по запросу — ещё несколько дней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535424" y="2377440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4901184" y="1737360"/>
            <a:ext cx="4041648" cy="1517904"/>
          </a:xfrm>
          <a:prstGeom prst="roundRect">
            <a:avLst>
              <a:gd name="adj" fmla="val 3012"/>
            </a:avLst>
          </a:prstGeom>
          <a:solidFill>
            <a:srgbClr val="E8F5F0"/>
          </a:solidFill>
          <a:ln w="15240">
            <a:solidFill>
              <a:srgbClr val="2E7D5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01184" y="1737360"/>
            <a:ext cx="4041648" cy="256032"/>
          </a:xfrm>
          <a:prstGeom prst="roundRect">
            <a:avLst>
              <a:gd name="adj" fmla="val 17857"/>
            </a:avLst>
          </a:prstGeom>
          <a:solidFill>
            <a:srgbClr val="1A4A3A"/>
          </a:solidFill>
          <a:ln/>
        </p:spPr>
      </p:sp>
      <p:sp>
        <p:nvSpPr>
          <p:cNvPr id="47" name="Shape 45"/>
          <p:cNvSpPr/>
          <p:nvPr/>
        </p:nvSpPr>
        <p:spPr>
          <a:xfrm>
            <a:off x="4901184" y="1874520"/>
            <a:ext cx="4041648" cy="118872"/>
          </a:xfrm>
          <a:prstGeom prst="rect">
            <a:avLst/>
          </a:prstGeom>
          <a:solidFill>
            <a:srgbClr val="1A4A3A"/>
          </a:solidFill>
          <a:ln/>
        </p:spPr>
      </p:sp>
      <p:sp>
        <p:nvSpPr>
          <p:cNvPr id="48" name="Text 46"/>
          <p:cNvSpPr/>
          <p:nvPr/>
        </p:nvSpPr>
        <p:spPr>
          <a:xfrm>
            <a:off x="5010912" y="1737360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BE — минуты, система ведёт по цепочке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010912" y="2066544"/>
            <a:ext cx="3822192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обнаружила отклонение и сама: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Прошла по связям метрик — показала декомпозицию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Назвала факторы с вкладом: ставка −8%, отток +4%, канал X −3%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Предложила сценарий: поднять ставку на 0.3% → портфель +2.1%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Руководитель выбирает вариант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01168" y="3364992"/>
            <a:ext cx="8741664" cy="0"/>
          </a:xfrm>
          <a:prstGeom prst="line">
            <a:avLst/>
          </a:prstGeom>
          <a:noFill/>
          <a:ln w="7620">
            <a:solidFill>
              <a:srgbClr val="DDDDD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01168" y="3438144"/>
            <a:ext cx="4297680" cy="1536192"/>
          </a:xfrm>
          <a:prstGeom prst="roundRect">
            <a:avLst>
              <a:gd name="adj" fmla="val 2976"/>
            </a:avLst>
          </a:prstGeom>
          <a:solidFill>
            <a:srgbClr val="E8F5F0"/>
          </a:solidFill>
          <a:ln w="15240">
            <a:solidFill>
              <a:srgbClr val="2E7D5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10896" y="3511296"/>
            <a:ext cx="40782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понятно как делать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310896" y="3730752"/>
            <a:ext cx="4078224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Семантический слой — единые формулы метрик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Онтология связей — какая метрика на какую влияет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Декомпозиция по разрезам — стандартная аналитика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Автообнаружение отклонений — правила алертов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AI-нарратив — объяснение результата на русском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645152" y="3438144"/>
            <a:ext cx="4297680" cy="1536192"/>
          </a:xfrm>
          <a:prstGeom prst="roundRect">
            <a:avLst>
              <a:gd name="adj" fmla="val 2976"/>
            </a:avLst>
          </a:prstGeom>
          <a:solidFill>
            <a:srgbClr val="FEF9E7"/>
          </a:solidFill>
          <a:ln w="15240">
            <a:solidFill>
              <a:srgbClr val="D4A01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54880" y="3511296"/>
            <a:ext cx="40782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Открытые вопросы реализации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4754880" y="3730752"/>
            <a:ext cx="4078224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Как определять силу влияния фактора — корреляция, регрессия, экспертная оценка?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Откуда брать коэффициенты для сценарного прогноза?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Как отличить корреляцию от причинности?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Кто валидирует что предложенный сценарий адекватен?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Как обучать модель на исторических данных банка?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2026-08-17T08:44:05Z</dcterms:created>
  <dcterms:modified xsi:type="dcterms:W3CDTF">2026-08-17T08:44:05Z</dcterms:modified>
</cp:coreProperties>
</file>