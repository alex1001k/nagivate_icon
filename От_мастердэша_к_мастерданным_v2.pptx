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f3e9db41-f08c-bc40-a502-a5456cb3664d}">
          <p14:sldIdLst>
            <p14:sldId id="256"/>
          </p14:sldIdLst>
        </p14:section>
        <p14:section name="Резюме" id="{e8c2ee07-a306-19c3-58b4-2de4e8964cef}">
          <p14:sldIdLst>
            <p14:sldId id="257"/>
          </p14:sldIdLst>
        </p14:section>
        <p14:section name="Почему не подходит" id="{66b26d20-38be-296e-5ea9-6cad9f689ac5}">
          <p14:sldIdLst>
            <p14:sldId id="258"/>
            <p14:sldId id="259"/>
          </p14:sldIdLst>
        </p14:section>
        <p14:section name="Что такое мастерданные" id="{3085d99f-6911-1ce4-8996-59f1aab7c09e}">
          <p14:sldIdLst>
            <p14:sldId id="260"/>
            <p14:sldId id="261"/>
            <p14:sldId id="262"/>
            <p14:sldId id="263"/>
          </p14:sldIdLst>
        </p14:section>
        <p14:section name="Контроль" id="{596b21f7-19ba-e542-2fb5-9dc59fe4f4c2}">
          <p14:sldIdLst>
            <p14:sldId id="264"/>
            <p14:sldId id="265"/>
          </p14:sldIdLst>
        </p14:section>
        <p14:section name="Что получает топ" id="{e707766e-ae38-b2e0-c12d-e46829cc9dc8}">
          <p14:sldIdLst>
            <p14:sldId id="266"/>
          </p14:sldIdLst>
        </p14:section>
        <p14:section name="Цель 2027" id="{28285d28-3990-36f5-09f6-0c9d0bd75ca4}">
          <p14:sldIdLst>
            <p14:sldId id="267"/>
            <p14:sldId id="268"/>
            <p14:sldId id="269"/>
          </p14:sldIdLst>
        </p14:section>
        <p14:section name="Решения" id="{c7202fb1-815c-7191-0db6-feba5bd0687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От мастердэша к мастерданным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От мастердэша к мастерданным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Концепция развития BI для топ-менеджмента и целевая метрика на 2027 год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Главное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645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Топы уже data-driven — через отчёты, а не через мастердэш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148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Данные они получают удобным способом. Мастердэшами пользуются единицы — проблема в формате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108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Ценность — в мастерданных, а не в витрине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Эталон для каждой ключевой цифры, который потребляют отчёты, руководители и AI-агенты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4572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На 2027 год: MAU мастерданных вместо MAU мастердэша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074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Считаем, сколько руководителей принимают решения на эталонных цифрах — через любой канал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Data-driven — это не «зайти в мастердэш»</a:t>
            </a:r>
            <a:endParaRPr lang="en-US" sz="3200" dirty="0"/>
          </a:p>
        </p:txBody>
      </p:sp>
      <p:sp>
        <p:nvSpPr>
          <p:cNvPr id="3" name="quote"/>
          <p:cNvSpPr/>
          <p:nvPr/>
        </p:nvSpPr>
        <p:spPr>
          <a:xfrm>
            <a:off x="548640" y="1463040"/>
            <a:ext cx="5120640" cy="3657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Data-driven — это получить нужные данные любым способом, а не обязательно из мастердэша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630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Что показывает активность топов</a:t>
            </a:r>
            <a:endParaRPr lang="en-US" sz="1800" dirty="0"/>
          </a:p>
        </p:txBody>
      </p:sp>
      <p:sp>
        <p:nvSpPr>
          <p:cNvPr id="6" name="fact0"/>
          <p:cNvSpPr/>
          <p:nvPr/>
        </p:nvSpPr>
        <p:spPr>
          <a:xfrm>
            <a:off x="6035040" y="2057400"/>
            <a:ext cx="560801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2212848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Отчёты блоков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78608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Используются регулярно — это рабочий инструмент руководителей</a:t>
            </a:r>
            <a:endParaRPr lang="en-US" sz="1400" dirty="0"/>
          </a:p>
        </p:txBody>
      </p:sp>
      <p:sp>
        <p:nvSpPr>
          <p:cNvPr id="9" name="fact1"/>
          <p:cNvSpPr/>
          <p:nvPr/>
        </p:nvSpPr>
        <p:spPr>
          <a:xfrm>
            <a:off x="6035040" y="3246120"/>
            <a:ext cx="560801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3401568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Мастердэши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767328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Открывают единицы — они дублируют то, что уже есть в отчётах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4480560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Вывод: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топы уже работают с данными. Мерить нужно использование данных, а не посещение витрины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Анализ активности нужно вести по всем отчётам BI, а не только по мастердэшам — тогда картина использования полная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мастердэш нам не подходит</a:t>
            </a:r>
            <a:endParaRPr lang="en-US" sz="3200" dirty="0"/>
          </a:p>
        </p:txBody>
      </p:sp>
      <p:sp>
        <p:nvSpPr>
          <p:cNvPr id="3" name="card0"/>
          <p:cNvSpPr/>
          <p:nvPr/>
        </p:nvSpPr>
        <p:spPr>
          <a:xfrm>
            <a:off x="548640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Дублирует работающее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 блоков есть свои отчёты. Мастердэш конкурирует с ними: две версии цифр и двойная поддержка</a:t>
            </a:r>
            <a:endParaRPr lang="en-US" sz="1400" dirty="0"/>
          </a:p>
        </p:txBody>
      </p:sp>
      <p:sp>
        <p:nvSpPr>
          <p:cNvPr id="7" name="card1"/>
          <p:cNvSpPr/>
          <p:nvPr/>
        </p:nvSpPr>
        <p:spPr>
          <a:xfrm>
            <a:off x="4325112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Отвечает только на заданные вопросы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Показывает «что», но не «почему» и «что будет». За ответом топ звонит подчинённому</a:t>
            </a:r>
            <a:endParaRPr lang="en-US" sz="1400" dirty="0"/>
          </a:p>
        </p:txBody>
      </p:sp>
      <p:sp>
        <p:nvSpPr>
          <p:cNvPr id="11" name="card2"/>
          <p:cNvSpPr/>
          <p:nvPr/>
        </p:nvSpPr>
        <p:spPr>
          <a:xfrm>
            <a:off x="8101584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5904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«Зайди и найди сам»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Десятки вкладок и виджетов. У руководителя нет времени искать — информация должна приходить сама</a:t>
            </a:r>
            <a:endParaRPr lang="en-US" sz="1400" dirty="0"/>
          </a:p>
        </p:txBody>
      </p:sp>
      <p:sp>
        <p:nvSpPr>
          <p:cNvPr id="15" name="card3"/>
          <p:cNvSpPr/>
          <p:nvPr/>
        </p:nvSpPr>
        <p:spPr>
          <a:xfrm>
            <a:off x="548640" y="39776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Затраты без отдачи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ETL, сверки и доработки каждого виджета оплачиваются при почти нулевом использовании</a:t>
            </a:r>
            <a:endParaRPr lang="en-US" sz="1400" dirty="0"/>
          </a:p>
        </p:txBody>
      </p:sp>
      <p:sp>
        <p:nvSpPr>
          <p:cNvPr id="19" name="card4"/>
          <p:cNvSpPr/>
          <p:nvPr/>
        </p:nvSpPr>
        <p:spPr>
          <a:xfrm>
            <a:off x="4325112" y="39776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99432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6634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Вложения в устаревающий слой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5303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Агенту не нужен виджет. Ему нужны определение метрики, формула, срезы и права доступа</a:t>
            </a:r>
            <a:endParaRPr lang="en-US" sz="1400" dirty="0"/>
          </a:p>
        </p:txBody>
      </p:sp>
      <p:sp>
        <p:nvSpPr>
          <p:cNvPr id="23" name="conclusion"/>
          <p:cNvSpPr/>
          <p:nvPr/>
        </p:nvSpPr>
        <p:spPr>
          <a:xfrm>
            <a:off x="8101584" y="3977640"/>
            <a:ext cx="3511296" cy="2240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75904" y="42519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709160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Неверен формат, а не дизайн. Нужна не общая витрина, а общий эталон данных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такое мастерданные — простыми словами</a:t>
            </a:r>
            <a:endParaRPr lang="en-US" sz="3200" dirty="0"/>
          </a:p>
        </p:txBody>
      </p:sp>
      <p:sp>
        <p:nvSpPr>
          <p:cNvPr id="3" name="definition"/>
          <p:cNvSpPr/>
          <p:nvPr/>
        </p:nvSpPr>
        <p:spPr>
          <a:xfrm>
            <a:off x="548640" y="1417320"/>
            <a:ext cx="11094415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Эталон для каждой ключевой цифры банка: как она считается, из чего и кто за неё отвечает. Где бы человек или агент ни взял цифру — значение одно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Аналогия: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палата мер и весов не делает линейки, а хранит эталон метра. Отчёты, Excel и агенты — линейки, которые сверяются с эталоном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Это</a:t>
            </a:r>
            <a:endParaRPr lang="en-US" sz="1800" dirty="0"/>
          </a:p>
        </p:txBody>
      </p:sp>
      <p:pic>
        <p:nvPicPr>
          <p:cNvPr id="7" name="mark0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965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Каталог ключевых метрик с понятным описанием</a:t>
            </a:r>
            <a:endParaRPr lang="en-US" sz="1500" dirty="0"/>
          </a:p>
        </p:txBody>
      </p:sp>
      <p:pic>
        <p:nvPicPr>
          <p:cNvPr id="9" name="mark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4599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Один утверждённый (эталонный) расчёт на каждую метрику</a:t>
            </a:r>
            <a:endParaRPr lang="en-US" sz="1500" dirty="0"/>
          </a:p>
        </p:txBody>
      </p:sp>
      <p:pic>
        <p:nvPicPr>
          <p:cNvPr id="11" name="mark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5721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4400" y="51297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Единые справочники: подразделения, продукты, сегменты</a:t>
            </a:r>
            <a:endParaRPr lang="en-US" sz="1500" dirty="0"/>
          </a:p>
        </p:txBody>
      </p:sp>
      <p:pic>
        <p:nvPicPr>
          <p:cNvPr id="13" name="mark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68756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" y="5660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Единая точка доступа для отчётов, людей и агентов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217920" y="3520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Это не</a:t>
            </a:r>
            <a:endParaRPr lang="en-US" sz="1800" dirty="0"/>
          </a:p>
        </p:txBody>
      </p:sp>
      <p:pic>
        <p:nvPicPr>
          <p:cNvPr id="16" name="mark1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Новая мастервитрина со всеми данными банка</a:t>
            </a:r>
            <a:endParaRPr lang="en-US" sz="1500" dirty="0"/>
          </a:p>
        </p:txBody>
      </p:sp>
      <p:pic>
        <p:nvPicPr>
          <p:cNvPr id="18" name="mark1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626864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583680" y="4599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Новое хранилище или перенос данных</a:t>
            </a:r>
            <a:endParaRPr lang="en-US" sz="1500" dirty="0"/>
          </a:p>
        </p:txBody>
      </p:sp>
      <p:pic>
        <p:nvPicPr>
          <p:cNvPr id="20" name="mark1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515721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583680" y="51297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Замена отчётов блоков</a:t>
            </a:r>
            <a:endParaRPr lang="en-US" sz="1500" dirty="0"/>
          </a:p>
        </p:txBody>
      </p:sp>
      <p:pic>
        <p:nvPicPr>
          <p:cNvPr id="22" name="mark1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5687568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583680" y="5660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ИТ-проект без участия бизнеса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делать вместо мастердэша</a:t>
            </a:r>
            <a:endParaRPr lang="en-US" sz="3200" dirty="0"/>
          </a:p>
        </p:txBody>
      </p:sp>
      <p:sp>
        <p:nvSpPr>
          <p:cNvPr id="3" name="layer4"/>
          <p:cNvSpPr/>
          <p:nvPr/>
        </p:nvSpPr>
        <p:spPr>
          <a:xfrm>
            <a:off x="548640" y="1463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Потребители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Отчёты блоков · self-service · AI-ассистент · агенты · материалы правления</a:t>
            </a:r>
            <a:endParaRPr lang="en-US" sz="1400" dirty="0"/>
          </a:p>
        </p:txBody>
      </p:sp>
      <p:sp>
        <p:nvSpPr>
          <p:cNvPr id="7" name="layer3"/>
          <p:cNvSpPr/>
          <p:nvPr/>
        </p:nvSpPr>
        <p:spPr>
          <a:xfrm>
            <a:off x="548640" y="2606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Точка доступа (API / MCP)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Единый интерфейс к эталонным метрикам для людей и агентов</a:t>
            </a:r>
            <a:endParaRPr lang="en-US" sz="1400" dirty="0"/>
          </a:p>
        </p:txBody>
      </p:sp>
      <p:sp>
        <p:nvSpPr>
          <p:cNvPr id="11" name="layer2"/>
          <p:cNvSpPr/>
          <p:nvPr/>
        </p:nvSpPr>
        <p:spPr>
          <a:xfrm>
            <a:off x="548640" y="3749040"/>
            <a:ext cx="60350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Мастерданные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Каталог метрик · эталонные расчёты · справочники</a:t>
            </a:r>
            <a:endParaRPr lang="en-US" sz="1400" dirty="0"/>
          </a:p>
        </p:txBody>
      </p:sp>
      <p:sp>
        <p:nvSpPr>
          <p:cNvPr id="15" name="layer1"/>
          <p:cNvSpPr/>
          <p:nvPr/>
        </p:nvSpPr>
        <p:spPr>
          <a:xfrm>
            <a:off x="548640" y="4892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47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Источники и DWH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13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Уже есть, без изменений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Каталог 50–100 метрик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 каждой: формула, владелец в бизнесе, разрезы, план и пороги, права доступа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Отчёты блоков сохраняются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Их постепенно переводят на эталонные расчёты — цифры сходятся у всех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Мастердэш — первый этап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Собранные показатели и расчёты становятся сырьём для каталога метрик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и где реализуем: без мастервитрины</a:t>
            </a:r>
            <a:endParaRPr lang="en-US" sz="3200" dirty="0"/>
          </a:p>
        </p:txBody>
      </p:sp>
      <p:graphicFrame>
        <p:nvGraphicFramePr>
          <p:cNvPr id="8" name="compone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3136392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это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живёт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отвечает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Каталог метрик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Определение, формула, источник, владелец, статус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Data-каталог банка или модуль нашей BI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Владелец метрики в бизнесе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Эталонные расчёты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утверждённый расчёт на метрику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Существующие витрины DWH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Команда DWH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Справочники (НСИ)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Подразделения, продукты, сегменты, регионы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Существующие справочники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Владельцы справочников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Точка доступа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Семантическая модель и API для агентов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Наша BI-система и API-шлюз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BI-команда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whynot"/>
          <p:cNvSpPr/>
          <p:nvPr/>
        </p:nvSpPr>
        <p:spPr>
          <a:xfrm>
            <a:off x="548640" y="4709160"/>
            <a:ext cx="11094415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4709160"/>
            <a:ext cx="10454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Почему не мастервитрина.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Собрать все данные банка в одну витрину долго и дорого, и она устареет раньше запуска. Мы оставляем расчёты там, где их уже делают: выбираем эталонный, описываем его и открываем к нему доступ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Агентам нужны мастерданные, а не дашборды</a:t>
            </a:r>
            <a:endParaRPr lang="en-US" sz="3200" dirty="0"/>
          </a:p>
        </p:txBody>
      </p:sp>
      <p:sp>
        <p:nvSpPr>
          <p:cNvPr id="3" name="bad"/>
          <p:cNvSpPr/>
          <p:nvPr/>
        </p:nvSpPr>
        <p:spPr>
          <a:xfrm>
            <a:off x="548640" y="1463040"/>
            <a:ext cx="539496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4" name="good"/>
          <p:cNvSpPr/>
          <p:nvPr/>
        </p:nvSpPr>
        <p:spPr>
          <a:xfrm>
            <a:off x="6245352" y="1463040"/>
            <a:ext cx="5394960" cy="2926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LLM напрямую к DWH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Каждый раз заново решает, как считать NII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Правдоподобные, но неверные цифры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 ответа нет владельца и аудита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Агент через мастерданные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4688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Вызывает эталонную метрику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Ответ воспроизводим и проверяем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Права наследуются, каждый запрос логируется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Условие: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модели работают внутри контура банка (on-prem), данные не покидают периметр — банковская тайна, 152-ФЗ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Влияем на всю отчётность, а не только на свою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Нужно влиять не только на свою отчётность, но и на ту, что пользователи и агенты делают самостоятельно</a:t>
            </a:r>
            <a:endParaRPr lang="en-US" sz="1700" dirty="0"/>
          </a:p>
        </p:txBody>
      </p:sp>
      <p:sp>
        <p:nvSpPr>
          <p:cNvPr id="4" name="zone0"/>
          <p:cNvSpPr/>
          <p:nvPr/>
        </p:nvSpPr>
        <p:spPr>
          <a:xfrm>
            <a:off x="548640" y="2057400"/>
            <a:ext cx="3511296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Наша отчётность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7063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BI-команда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Строится только на эталонных метриках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Знак «эталон» в каждом отчёте</a:t>
            </a:r>
            <a:endParaRPr lang="en-US" sz="1500" dirty="0"/>
          </a:p>
        </p:txBody>
      </p:sp>
      <p:sp>
        <p:nvSpPr>
          <p:cNvPr id="8" name="zone1"/>
          <p:cNvSpPr/>
          <p:nvPr/>
        </p:nvSpPr>
        <p:spPr>
          <a:xfrm>
            <a:off x="4325112" y="2057400"/>
            <a:ext cx="3511296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23317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Отчёты блоков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7063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Аналитики блоков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29184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Перевод на эталонные расчёты по плану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Автосверка ключевых цифр с эталоном</a:t>
            </a:r>
            <a:endParaRPr lang="en-US" sz="1500" dirty="0"/>
          </a:p>
        </p:txBody>
      </p:sp>
      <p:sp>
        <p:nvSpPr>
          <p:cNvPr id="12" name="zone2"/>
          <p:cNvSpPr/>
          <p:nvPr/>
        </p:nvSpPr>
        <p:spPr>
          <a:xfrm>
            <a:off x="8101584" y="2057400"/>
            <a:ext cx="3511296" cy="3291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23317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Self-service и агенты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7063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Сами пользователи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29184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Эталонные наборы данных — самый простой путь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Агенты — только через мастерданные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Поиск «теневых» расчётов по запросам к DWH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Самостоятельную аналитику не запрещаем — делаем эталон самым удобным путём к данным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контролируем мастерданные</a:t>
            </a:r>
            <a:endParaRPr lang="en-US" sz="3200" dirty="0"/>
          </a:p>
        </p:txBody>
      </p:sp>
      <p:sp>
        <p:nvSpPr>
          <p:cNvPr id="3" name="ctlbg0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tl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Реестр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71800"/>
            <a:ext cx="2587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 каждой метрики статус (черновик → эталон → выведена), владелец и дата пересмотра</a:t>
            </a:r>
            <a:endParaRPr lang="en-US" sz="1400" dirty="0"/>
          </a:p>
        </p:txBody>
      </p:sp>
      <p:sp>
        <p:nvSpPr>
          <p:cNvPr id="7" name="ctlbg1"/>
          <p:cNvSpPr/>
          <p:nvPr/>
        </p:nvSpPr>
        <p:spPr>
          <a:xfrm>
            <a:off x="3410712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tl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459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10712" y="246888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Качество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410712" y="2971800"/>
            <a:ext cx="2587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Автопроверки полноты и свежести источников. При сбое эталон не публикуется</a:t>
            </a:r>
            <a:endParaRPr lang="en-US" sz="1400" dirty="0"/>
          </a:p>
        </p:txBody>
      </p:sp>
      <p:sp>
        <p:nvSpPr>
          <p:cNvPr id="11" name="ctlbg2"/>
          <p:cNvSpPr/>
          <p:nvPr/>
        </p:nvSpPr>
        <p:spPr>
          <a:xfrm>
            <a:off x="6272784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tl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72784" y="246888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Сверка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272784" y="2971800"/>
            <a:ext cx="2587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Значения в отчётах и у агентов сравниваются с эталоном. Отклонение выше порога — инцидент владельцу</a:t>
            </a:r>
            <a:endParaRPr lang="en-US" sz="1400" dirty="0"/>
          </a:p>
        </p:txBody>
      </p:sp>
      <p:sp>
        <p:nvSpPr>
          <p:cNvPr id="15" name="ctlbg3"/>
          <p:cNvSpPr/>
          <p:nvPr/>
        </p:nvSpPr>
        <p:spPr>
          <a:xfrm>
            <a:off x="9134856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tl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6459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34856" y="246888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Потребление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134856" y="2971800"/>
            <a:ext cx="2587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Логи BI, API и агентов собираются в одном месте. Из них считается MAU мастерданных</a:t>
            </a:r>
            <a:endParaRPr lang="en-US" sz="1400" dirty="0"/>
          </a:p>
        </p:txBody>
      </p:sp>
      <p:sp>
        <p:nvSpPr>
          <p:cNvPr id="19" name="roles"/>
          <p:cNvSpPr/>
          <p:nvPr/>
        </p:nvSpPr>
        <p:spPr>
          <a:xfrm>
            <a:off x="548640" y="4754880"/>
            <a:ext cx="11094415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68680" y="4754880"/>
            <a:ext cx="104543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Роли.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Владелец метрики — бизнес. Эталонный расчёт — DWH. Доступ и мониторинг — BI-команда. Спорные вопросы и изменения эталонов — на комитет по данным раз в квартал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получает топ-менеджер</a:t>
            </a:r>
            <a:endParaRPr lang="en-US" sz="3200" dirty="0"/>
          </a:p>
        </p:txBody>
      </p:sp>
      <p:sp>
        <p:nvSpPr>
          <p:cNvPr id="3" name="iconbg0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Утренний брифинг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3–5 главных сигналов по своей зоне перед оперативкой — в мессенджер или почту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поиск по вкладкам</a:t>
            </a:r>
            <a:endParaRPr lang="en-US" sz="1400" dirty="0"/>
          </a:p>
        </p:txBody>
      </p:sp>
      <p:sp>
        <p:nvSpPr>
          <p:cNvPr id="8" name="iconbg1"/>
          <p:cNvSpPr/>
          <p:nvPr/>
        </p:nvSpPr>
        <p:spPr>
          <a:xfrm>
            <a:off x="3410712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45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10712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Ассистент «вопрос — ответ»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10712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«Почему комиссионный доход отстаёт от плана?» — факторный разбор за минуту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10712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звонок подчинённому</a:t>
            </a:r>
            <a:endParaRPr lang="en-US" sz="1400" dirty="0"/>
          </a:p>
        </p:txBody>
      </p:sp>
      <p:sp>
        <p:nvSpPr>
          <p:cNvPr id="13" name="iconbg2"/>
          <p:cNvSpPr/>
          <p:nvPr/>
        </p:nvSpPr>
        <p:spPr>
          <a:xfrm>
            <a:off x="6272784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72784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Мониторинг-агенты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272784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Пробой порога — сразу с первичным анализом причин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узнать об отклонении на правлении</a:t>
            </a:r>
            <a:endParaRPr lang="en-US" sz="1400" dirty="0"/>
          </a:p>
        </p:txBody>
      </p:sp>
      <p:sp>
        <p:nvSpPr>
          <p:cNvPr id="18" name="iconbg3"/>
          <p:cNvSpPr/>
          <p:nvPr/>
        </p:nvSpPr>
        <p:spPr>
          <a:xfrm>
            <a:off x="9134856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6459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34856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Пакет к правлению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134856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Материалы по повестке собираются из эталонных метрик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34856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ручной сбор цифр аналитиками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Информация приходит к руководителю, а не руководитель ищет информацию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Цель на 2027 год: MAU мастерданных</a:t>
            </a:r>
            <a:endParaRPr lang="en-US" sz="3200" dirty="0"/>
          </a:p>
        </p:txBody>
      </p:sp>
      <p:sp>
        <p:nvSpPr>
          <p:cNvPr id="3" name="definition"/>
          <p:cNvSpPr/>
          <p:nvPr/>
        </p:nvSpPr>
        <p:spPr>
          <a:xfrm>
            <a:off x="548640" y="1371600"/>
            <a:ext cx="11094415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MAU мастерданных = число уникальных пользователей за месяц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у которых было хотя бы одно обращение к эталонной метрике через любой канал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Засчитывается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Просмотр в мастердэше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Отчёт блока, построенный на эталонных расчётах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Открытие брифинга или алерта (не доставка)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Вопрос агенту с ответом на эталонной метрике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Использование в материалах правления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Правила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74904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Человек учитывается один раз за месяц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Обращения агента — конечному пользователю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Системные вызовы — отдельный показатель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Только метрики из реестра со статусом «эталон»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MAU мастердэша — составляющая: сравнимость с 2026 годом сохраняется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Система показателей и формулы расчёта</a:t>
            </a:r>
            <a:endParaRPr lang="en-US" sz="3200" dirty="0"/>
          </a:p>
        </p:txBody>
      </p:sp>
      <p:graphicFrame>
        <p:nvGraphicFramePr>
          <p:cNvPr id="14" name="kp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793992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MAU мастерданных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Уникальные пользователи с ≥1 обращением к эталонной метрике за 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основной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Охват топ-менеджмента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Активные за месяц из целевого списка ÷ все из целевого списка × 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Покрытие эталоном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Регулярные управленческие отчёты на эталонных расчётах ÷ все регулярные отчёты × 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Self-service на эталоне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Запросы пользователей и агентов к эталонным наборам ÷ все их запросы по ключевым метрикам × 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Машинное потребление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подключённых агентов и систем; запросы к API за 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Расхождения с эталоном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Сверки с отклонением выше порога ÷ все сверки за месяц × 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ставим цели и что делаем в 2027 году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731520" y="1874520"/>
            <a:ext cx="10728655" cy="0"/>
          </a:xfrm>
          <a:prstGeom prst="line">
            <a:avLst/>
          </a:prstGeom>
          <a:noFill/>
          <a:ln w="25400">
            <a:solidFill>
              <a:srgbClr val="D5DDD8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Q4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Замер базы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Анализ активности топов по всем отчётам. Пересчёт базы по новой методике. Каталог 30–50 метрик</a:t>
            </a:r>
            <a:endParaRPr lang="en-US" sz="1400" dirty="0"/>
          </a:p>
        </p:txBody>
      </p:sp>
      <p:sp>
        <p:nvSpPr>
          <p:cNvPr id="8" name="dot1"/>
          <p:cNvSpPr/>
          <p:nvPr/>
        </p:nvSpPr>
        <p:spPr>
          <a:xfrm>
            <a:off x="3410712" y="16916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10712" y="228600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6517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Эталоны и пилот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1089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Реестр, сверки, точка доступа. Утренний брифинг для одного руководителя</a:t>
            </a:r>
            <a:endParaRPr lang="en-US" sz="1400" dirty="0"/>
          </a:p>
        </p:txBody>
      </p:sp>
      <p:sp>
        <p:nvSpPr>
          <p:cNvPr id="12" name="dot2"/>
          <p:cNvSpPr/>
          <p:nvPr/>
        </p:nvSpPr>
        <p:spPr>
          <a:xfrm>
            <a:off x="6272784" y="16916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228600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Q2 2027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6517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Ассистент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31089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«Вопрос — ответ» для топ-менеджмента. Первые отчёты блоков на эталоне</a:t>
            </a:r>
            <a:endParaRPr lang="en-US" sz="1400" dirty="0"/>
          </a:p>
        </p:txBody>
      </p:sp>
      <p:sp>
        <p:nvSpPr>
          <p:cNvPr id="16" name="dot3"/>
          <p:cNvSpPr/>
          <p:nvPr/>
        </p:nvSpPr>
        <p:spPr>
          <a:xfrm>
            <a:off x="9134856" y="16916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4856" y="228600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H2 2027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6517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Масштабирование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31089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Мониторинг-агенты, пакет к правлению, эталонные наборы для self-service</a:t>
            </a:r>
            <a:endParaRPr lang="en-US" sz="1400" dirty="0"/>
          </a:p>
        </p:txBody>
      </p:sp>
      <p:sp>
        <p:nvSpPr>
          <p:cNvPr id="20" name="targetnote"/>
          <p:cNvSpPr/>
          <p:nvPr/>
        </p:nvSpPr>
        <p:spPr>
          <a:xfrm>
            <a:off x="548640" y="4892040"/>
            <a:ext cx="11094415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89204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Целевые значения — от базы Q4 2026, а не «с потолка».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База по новой методике будет кратно выше MAU мастердэша: отчёты блоков реально используются. Квартальные цели — под этапы дорожной карты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Предлагаем решить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08483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Заменить в KPI 2027 года MAU мастердэша на MAU мастерданных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0906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Провести анализ активности топов и замер базы в Q4 2026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0965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Назначить владельцев первых 30–50 метрик и утвердить регламент контроля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5102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Выбрать руководителя для пилота утреннего брифинга</a:t>
            </a:r>
            <a:endParaRPr lang="en-US" sz="22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мастердэша к мастерданным</dc:title>
  <dc:subject>PptxGenJS Presentation</dc:subject>
  <dc:creator>PptxGenJS</dc:creator>
  <cp:lastModifiedBy>PptxGenJS</cp:lastModifiedBy>
  <cp:revision>1</cp:revision>
  <dcterms:created xsi:type="dcterms:W3CDTF">2026-10-07T08:04:37Z</dcterms:created>
  <dcterms:modified xsi:type="dcterms:W3CDTF">2026-10-07T08:04:37Z</dcterms:modified>
</cp:coreProperties>
</file>